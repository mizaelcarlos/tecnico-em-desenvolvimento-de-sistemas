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3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8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40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7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openxmlformats.org/officeDocument/2006/relationships/slide" Target="slides/slide30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606040"/>
          </a:xfrm>
          <a:prstGeom prst="rect">
            <a:avLst/>
          </a:prstGeom>
          <a:solidFill>
            <a:srgbClr val="1A3E96"/>
          </a:solidFill>
          <a:ln w="12700">
            <a:solidFill>
              <a:srgbClr val="1A3E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26060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-457200"/>
            <a:ext cx="3200400" cy="3200400"/>
          </a:xfrm>
          <a:prstGeom prst="ellipse">
            <a:avLst/>
          </a:prstGeom>
          <a:solidFill>
            <a:srgbClr val="1A3E96">
              <a:alpha val="4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82880"/>
            <a:ext cx="2011680" cy="2011680"/>
          </a:xfrm>
          <a:prstGeom prst="ellipse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645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" y="50292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Orientação a Objetos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PHP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0" y="2651760"/>
            <a:ext cx="7132320" cy="141732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2743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Mizael Carlos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7472" y="3200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5C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· Objetos · Herança · Encapsulamento · Polimorfismo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O que é Orientação a Objetos?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103120" y="2029968"/>
            <a:ext cx="292608" cy="73152"/>
          </a:xfrm>
          <a:prstGeom prst="rect">
            <a:avLst/>
          </a:prstGeom>
          <a:solidFill>
            <a:srgbClr val="BBCDE5"/>
          </a:solidFill>
          <a:ln w="12700">
            <a:solidFill>
              <a:srgbClr val="BBCD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960120"/>
            <a:ext cx="1051560" cy="105156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960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2880" y="2103120"/>
            <a:ext cx="2057400" cy="242316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1671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Molde / Blueprint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2496312"/>
            <a:ext cx="1874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estrutura: quais dados e ações um objeto possui. Exemplo: a classe Carro define cor, marca e a ação acelerar().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15968" y="2029968"/>
            <a:ext cx="292608" cy="73152"/>
          </a:xfrm>
          <a:prstGeom prst="rect">
            <a:avLst/>
          </a:prstGeom>
          <a:solidFill>
            <a:srgbClr val="BBCDE5"/>
          </a:solidFill>
          <a:ln w="12700">
            <a:solidFill>
              <a:srgbClr val="BBCD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7208" y="960120"/>
            <a:ext cx="1051560" cy="105156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07208" y="960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395728" y="2103120"/>
            <a:ext cx="2057400" cy="2423160"/>
          </a:xfrm>
          <a:prstGeom prst="rect">
            <a:avLst/>
          </a:prstGeom>
          <a:solidFill>
            <a:srgbClr val="E8F0FE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87168" y="21671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 Real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87168" y="2496312"/>
            <a:ext cx="1874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exemplar concreto criado a partir da classe. $meuCarro = new Carro() cria um objeto real em memória.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528816" y="2029968"/>
            <a:ext cx="292608" cy="73152"/>
          </a:xfrm>
          <a:prstGeom prst="rect">
            <a:avLst/>
          </a:prstGeom>
          <a:solidFill>
            <a:srgbClr val="BBCDE5"/>
          </a:solidFill>
          <a:ln w="12700">
            <a:solidFill>
              <a:srgbClr val="BBCD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0056" y="960120"/>
            <a:ext cx="1051560" cy="105156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0056" y="960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08576" y="2103120"/>
            <a:ext cx="2057400" cy="2423160"/>
          </a:xfrm>
          <a:prstGeom prst="rect">
            <a:avLst/>
          </a:prstGeom>
          <a:solidFill>
            <a:srgbClr val="E8F0FE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0016" y="21671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Interno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00016" y="2496312"/>
            <a:ext cx="1874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 interna do objeto. Armazena seu estado: $cor = "vermelho", $velocidade = 0, $ligado = false.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232904" y="960120"/>
            <a:ext cx="1051560" cy="105156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2904" y="960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21424" y="2103120"/>
            <a:ext cx="2057400" cy="2423160"/>
          </a:xfrm>
          <a:prstGeom prst="rect">
            <a:avLst/>
          </a:prstGeom>
          <a:solidFill>
            <a:srgbClr val="E8F0FE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12864" y="21671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do Objeto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912864" y="2496312"/>
            <a:ext cx="1874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pertencente ao objeto. Define o comportamento: ligar(), acelerar($vel), frear(), getVelocidade().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Paradigma OOP vs Programação Procedural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960120"/>
            <a:ext cx="4114800" cy="361188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3327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Procedural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362456"/>
            <a:ext cx="38953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organizado em funções soltas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funções ficam separados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Fluxo: sequência de chamadas de funções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reutilizar sem copiar código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global: variáveis compartilhadas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para scripts simples e automações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960120"/>
            <a:ext cx="4343400" cy="3611880"/>
          </a:xfrm>
          <a:prstGeom prst="rect">
            <a:avLst/>
          </a:prstGeom>
          <a:solidFill>
            <a:srgbClr val="FFF8E1"/>
          </a:solidFill>
          <a:ln w="19050">
            <a:solidFill>
              <a:srgbClr val="E6510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81728" y="1033272"/>
            <a:ext cx="4123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Orientada a Objetos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81728" y="1362456"/>
            <a:ext cx="41239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organizado em Classes e Objetos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comportamento ficam juntos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 entidades do mundo real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reutilização via Herança e Interfaces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em projetos grandes e frameworks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5+ suporta OOP completa e madura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OOP na Prática — Exemplo Completo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27048" y="2267712"/>
            <a:ext cx="365760" cy="73152"/>
          </a:xfrm>
          <a:prstGeom prst="rect">
            <a:avLst/>
          </a:prstGeom>
          <a:solidFill>
            <a:srgbClr val="90A4AE"/>
          </a:solidFill>
          <a:ln w="12700">
            <a:solidFill>
              <a:srgbClr val="90A4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73936" y="2148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" y="1005840"/>
            <a:ext cx="777240" cy="77724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005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" y="1874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Carro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9728" y="2286000"/>
            <a:ext cx="1572768" cy="2286000"/>
          </a:xfrm>
          <a:prstGeom prst="rect">
            <a:avLst/>
          </a:prstGeom>
          <a:solidFill>
            <a:srgbClr val="E8F0FE"/>
          </a:solidFill>
          <a:ln w="1524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" y="2359152"/>
            <a:ext cx="14264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 o molde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string $cor;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$velocidade 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19272" y="2267712"/>
            <a:ext cx="365760" cy="73152"/>
          </a:xfrm>
          <a:prstGeom prst="rect">
            <a:avLst/>
          </a:prstGeom>
          <a:solidFill>
            <a:srgbClr val="90A4AE"/>
          </a:solidFill>
          <a:ln w="12700">
            <a:solidFill>
              <a:srgbClr val="90A4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2148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21992" y="1005840"/>
            <a:ext cx="777240" cy="77724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21992" y="1005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20240" y="1874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01952" y="2286000"/>
            <a:ext cx="1572768" cy="2286000"/>
          </a:xfrm>
          <a:prstGeom prst="rect">
            <a:avLst/>
          </a:prstGeom>
          <a:solidFill>
            <a:srgbClr val="E8F0FE"/>
          </a:solidFill>
          <a:ln w="1524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75104" y="2359152"/>
            <a:ext cx="14264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$cor, $marca,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$velocidade,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$ligado = false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111496" y="2267712"/>
            <a:ext cx="365760" cy="73152"/>
          </a:xfrm>
          <a:prstGeom prst="rect">
            <a:avLst/>
          </a:prstGeom>
          <a:solidFill>
            <a:srgbClr val="90A4AE"/>
          </a:solidFill>
          <a:ln w="12700">
            <a:solidFill>
              <a:srgbClr val="90A4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58384" y="2148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014216" y="1005840"/>
            <a:ext cx="777240" cy="77724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14216" y="1005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712464" y="1874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__construct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4176" y="2286000"/>
            <a:ext cx="1572768" cy="2286000"/>
          </a:xfrm>
          <a:prstGeom prst="rect">
            <a:avLst/>
          </a:prstGeom>
          <a:solidFill>
            <a:srgbClr val="E8F0FE"/>
          </a:solidFill>
          <a:ln w="15240">
            <a:solidFill>
              <a:srgbClr val="6A1B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67328" y="2359152"/>
            <a:ext cx="14264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Inicializa o objeto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recebendo $cor 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$marca no new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903720" y="2267712"/>
            <a:ext cx="365760" cy="73152"/>
          </a:xfrm>
          <a:prstGeom prst="rect">
            <a:avLst/>
          </a:prstGeom>
          <a:solidFill>
            <a:srgbClr val="90A4AE"/>
          </a:solidFill>
          <a:ln w="12700">
            <a:solidFill>
              <a:srgbClr val="90A4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50608" y="2148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806440" y="1005840"/>
            <a:ext cx="777240" cy="7772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06440" y="1005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504688" y="1874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0" y="2286000"/>
            <a:ext cx="1572768" cy="2286000"/>
          </a:xfrm>
          <a:prstGeom prst="rect">
            <a:avLst/>
          </a:prstGeom>
          <a:solidFill>
            <a:srgbClr val="E8F0FE"/>
          </a:solidFill>
          <a:ln w="15240">
            <a:solidFill>
              <a:srgbClr val="C628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59552" y="2359152"/>
            <a:ext cx="14264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ligar(), acelerar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($vel), frear(),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getVelocidade()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598664" y="1005840"/>
            <a:ext cx="777240" cy="77724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98664" y="1005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96912" y="1874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78624" y="2286000"/>
            <a:ext cx="1572768" cy="2286000"/>
          </a:xfrm>
          <a:prstGeom prst="rect">
            <a:avLst/>
          </a:prstGeom>
          <a:solidFill>
            <a:srgbClr val="E8F0FE"/>
          </a:solidFill>
          <a:ln w="15240">
            <a:solidFill>
              <a:srgbClr val="E651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51776" y="2359152"/>
            <a:ext cx="14264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$meu = new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Carro("azul",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"Toyota")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Vantagens da Orientação a Objetos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1168" y="987552"/>
            <a:ext cx="4251960" cy="1810512"/>
          </a:xfrm>
          <a:prstGeom prst="rect">
            <a:avLst/>
          </a:prstGeom>
          <a:solidFill>
            <a:srgbClr val="E8F0FE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" y="987552"/>
            <a:ext cx="64008" cy="18105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10424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31673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limpo e modular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38328" y="151790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classe tem responsabilidade única (SRP)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 dados e comportamentos relacionados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misturar lógicas diferentes no mesmo lugar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encontrar onde algo está implementado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 trabalham em classes separadas sem conflito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81728" y="987552"/>
            <a:ext cx="4251960" cy="1810512"/>
          </a:xfrm>
          <a:prstGeom prst="rect">
            <a:avLst/>
          </a:prstGeom>
          <a:solidFill>
            <a:srgbClr val="E8F0FE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81728" y="987552"/>
            <a:ext cx="64008" cy="181051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10424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Reutilização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18888" y="131673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Aproveita código existente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18888" y="151790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Herança: filha herda tudo da pai, só adiciona o novo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Composição: reutilizar classes como peças de um sistema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garantem contratos reutilizáveis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drasticamente duplicação de código (DRY)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PHP (Laravel, Symfony) são 100% OOP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01168" y="2953512"/>
            <a:ext cx="4251960" cy="1810512"/>
          </a:xfrm>
          <a:prstGeom prst="rect">
            <a:avLst/>
          </a:prstGeom>
          <a:solidFill>
            <a:srgbClr val="E8F5E9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" y="2953512"/>
            <a:ext cx="64008" cy="181051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" y="30083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" y="328269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 de mudança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38328" y="348386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Alterar uma classe não quebra o resto do sistema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Encapsulamento isola impacto de mudanças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por classe facilitam refatoração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via interface mantém compatibilidade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recursos = novas classes, sem tocar as antigas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81728" y="2953512"/>
            <a:ext cx="4251960" cy="1810512"/>
          </a:xfrm>
          <a:prstGeom prst="rect">
            <a:avLst/>
          </a:prstGeom>
          <a:solidFill>
            <a:srgbClr val="E8F5E9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81728" y="2953512"/>
            <a:ext cx="64008" cy="1810512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18888" y="30083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18888" y="328269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 sem reescrever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18888" y="348386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Adicionar funcionalidades = herdar e estender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tipos de produto? Crie subclasse nova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cresce organicamente sem refatorar tudo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 de projeto (Design Patterns) facilitam evolução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com OOP duram mais e escalam melhor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Como Declarar uma Classe em PHP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601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Básica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" y="1325880"/>
            <a:ext cx="4206240" cy="150876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" y="139903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Palavra-chave class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728216"/>
            <a:ext cx="3986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class seguido do nome em PascalCase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nome identifica a classe: Produto, Carro, Usuario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arquivo por classe, com o mesmo nome do arquivo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325880"/>
            <a:ext cx="4251960" cy="150876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73168" y="139903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da classe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73168" y="1728216"/>
            <a:ext cx="4032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(variáveis) e métodos (funções) ficam dentro de {     private float  $preco;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método usa function; todo atributo precisa de visibilidade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__construct() é chamado automaticamente ao usar new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2926080"/>
            <a:ext cx="8686800" cy="169164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1752" y="297180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752" y="29718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0040" y="3218688"/>
            <a:ext cx="8503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&lt;?php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declare(strict_types=1);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Produto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string $nome;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public function __construct(string $nome, float $preco)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$this-&gt;nome = $nome; $this-&gt;preco = $preco; } }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Sintaxe de uma Classe em PHP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01168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da Classe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Palavra-chave class seguida do NomeClasse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da classe em PascalCase: MinhaClasse, Produto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 entre chaves { } com atributos e métodos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classe por arquivo .php (PSR-1)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arquivo igual ao nome da classe: Produto.php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01168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e Convenções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declarados com visibilidade: public, protected, private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declarados com function dentro 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__construct() é o método especial de inicialização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namespace App\Models; para organizar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 com PHPDoc: /** @param string $nome */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108960"/>
            <a:ext cx="8686800" cy="150876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315468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315468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401568"/>
            <a:ext cx="8503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Produto {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string $nome;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public function __construct(string $nome, float $preco)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$this-&gt;nome = $nome; } }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 Visibilidade: public, protected, private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2743200" cy="274320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25237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Acessível de qualquer lugar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dentro 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subclasses (filhas)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qualquer arquivo externo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API pública 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com moderação — exponha o mínimo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72968" y="1005840"/>
            <a:ext cx="2743200" cy="274320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82696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82696" y="1408176"/>
            <a:ext cx="25237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Acessível na classe e em subclasses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acessível fora da hierarquia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atributos herdados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Subclasses leem e modificam o valor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protected float $salarioBase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quando a filha precisar do dado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17336" y="1005840"/>
            <a:ext cx="2743200" cy="274320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27064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27064" y="1408176"/>
            <a:ext cx="25237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Acessível SOMENTE dentro da própria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subclasses conseguem acessar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Encapsulamento máximo — use sempre que possível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regras de negócio internas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via getters e setters públicos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private float $preco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" y="3840480"/>
            <a:ext cx="8686800" cy="82296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1752" y="388620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38862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20040" y="41330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 = 10; $b = 3;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getCpf(): string { return $this-&gt;cpf; } }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 Exemplo: Classe Produto Completa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14884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e Construtor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$nome — nome do produto (private)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 $preco — preço unitário (private)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$estoque — quantidade disponível (private)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__construct(string $nome, float $preco, int $estoque)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 todos os atributos no construtor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14884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da Classe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getNome(): string — retorna o nome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getPreco(): float — retorna o preço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aplicarDesconto(float $pct): void — altera $preco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temEstoque(): bool — verifica se $estoque &gt; 0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__toString(): string — representação legível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246120"/>
            <a:ext cx="8686800" cy="141732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329184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32918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538728"/>
            <a:ext cx="8503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__construct(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string $nome,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float  $preco,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int    $estoque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{} // PHP 8 Constructor Promotion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Como Declarar Atributos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169164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Declaração Simples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é uma variável que pertence à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Sintaxe: visibilidade tipo $nomeAtributo;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Exemplos: private string $nome; public int $estoque;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ter valor padrão: private bool $ativo = true;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169164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sempre com visibilidade (public/private/protected)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private — protege o dado de acesso externo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tipos explícitos: string, int, float, bool, array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Inicialize no construtor ou defina valor padrão na declaração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2788920"/>
            <a:ext cx="8686800" cy="187452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283464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28346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081528"/>
            <a:ext cx="8503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Funcionario {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string $nome;       // obrigatório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float  $salario;    // decimal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bool   $ativo  = false;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public function __construct(string $nome, float $salario)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$this-&gt;nome    = $nome;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$this-&gt;salario = $salario; }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Atributos Estáticos e Constantes de Classe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192024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static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Compartilhado por TODAS as instâncias 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Acesso: NomeClasse::$atributo (sem instanciar)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para contadores, configurações, singletons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self::$contador++ dentro dos métodos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 via classe afeta todos os objetos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192024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Constantes de Classe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Definida com const NOME_MAIUSCULO = valor;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Acesso: NomeClasse::CONSTANTE (sem $)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Imutável — não pode ser alterada em runtime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prática para STATUS, TIPOS, LIMITES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Subclasses herdam as constantes do pai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017520"/>
            <a:ext cx="8686800" cy="164592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306324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3063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310128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Pedido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const STATUS_PENDENTE  = "pendente";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static int $totalPedidos = 0;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public function __construct() { self::$totalPedidos++;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public static function getTotal(): int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return self::$totalPedidos; }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Tipos de Atributos em PHP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182880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Primitivos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string: texto — private string $nome;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int: inteiro — private int $estoque;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float: decimal — private float $preco;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bool: verdadeiro/falso — private bool $ativo;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array: lista — private array $itens = [];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182880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Compostos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null: private ?string $apelido;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Objeto: private Endereco $endereco;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padrão null: private ?DateTime $nascimento = null;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detectado automaticamente ao atribuir valor errado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automática em IDEs como VSCode e PHPStorm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2926080"/>
            <a:ext cx="8686800" cy="173736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297180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29718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218688"/>
            <a:ext cx="8503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Produto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string  $nome;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int     $estoque;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float   $preco;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?string $descricao = null;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private array   $tags   = []; }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Métodos — Tipos e Modificadores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10312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Instância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Pertencem ao objeto — chamados via $obj-&gt;metodo()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Acessam $this (referência ao próprio objeto)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Têm visibilidade: public, protected, private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Podem ter parâmetros tipados e retorno tipado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Podem lançar exceções com throw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10312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Especiais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static: chamado sem instanciar — NomeClasse::metodo()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abstract: obriga subclasses a implementar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final: impede sobrescrita em subclasses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__construct: executado ao criar objeto com new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__destruct: executado quando objeto é destruído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200400"/>
            <a:ext cx="8686800" cy="146304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324612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32461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493008"/>
            <a:ext cx="8503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float $saldo = 0.0;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static int $totalContas = 0;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public function depositar(float $v): void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if ($v&lt;=0) throw new InvalidArgumentException("Valor inválido");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$this-&gt;saldo += $v; } }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O Construtor __construct()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2743200" cy="329184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do Construtor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252374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automaticamente ao chamar new Classe()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 atributos com os valores recebidos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os argumentos passados no new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executar lógica de validação inicial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 exceção se dados inválidos (throw)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743200" cy="3291840"/>
          </a:xfrm>
          <a:prstGeom prst="rect">
            <a:avLst/>
          </a:prstGeom>
          <a:solidFill>
            <a:srgbClr val="FFF8E1"/>
          </a:solidFill>
          <a:ln w="19050">
            <a:solidFill>
              <a:srgbClr val="E6510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55848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Construtor com Parâmetros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55848" y="1408176"/>
            <a:ext cx="252374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valores e os atribui aos atributos 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parâmetro corresponde a um atributo 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e nome do parâmetro devem bater com o atributo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parâmetros opcionais com valor padrão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construtor por classe — não há sobrecarga em PHP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72200" y="1005840"/>
            <a:ext cx="2743200" cy="329184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81928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81928" y="1408176"/>
            <a:ext cx="252374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opcionais com valor default são permitidos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chamar outros métodos internos no construtor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retorna valor (tipo de retorno é void implícito)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__clone() existe mas __construct NÃO roda ao clonar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prática: mínimo de lógica no construtor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Métodos Mágicos do PHP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01168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Métodos Mágicos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__construct($args) — inicialização do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__destruct() — limpeza ao destruir 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__toString(): string — objeto como string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__get($nome) — acesso a prop. não declarada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__set($nome, $val) — atribuição dinâmica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01168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 de Uso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__call($nome, $args) — método inexistente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__callStatic($nome, $args) — método estático inexist.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__invoke() — objeto chamado como função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 debug com __toString() no echo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ORM: __get/__set para mapear BD → objeto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108960"/>
            <a:ext cx="8686800" cy="155448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315468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315468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401568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 = new Produto(); $p-&gt;nome="Parafuso"; $p-&gt;preco=2.50;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$p; // chama __toString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$p(0.10); // 2.25 via __invoke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// __get: $p-&gt;nome lê de $dados["nome"]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__set: $p-&gt;cor = "vermelho" seta $dados["cor"]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🆕  Instanciando Objetos com new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601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operador new cria um objeto a partir de uma classe e aloca memória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1371600"/>
            <a:ext cx="4206240" cy="196596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" y="144475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operador new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773936"/>
            <a:ext cx="3986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$obj = new NomeClasse(args) cria 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 __construct() automaticamente com os args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objeto criado é independente em memória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Vários objetos da mesma classe coexistem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são passados por referência por padrão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251960" cy="196596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73168" y="144475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$this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73168" y="1773936"/>
            <a:ext cx="4032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da classe, $this é o próprio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$this-&gt;atributo lê/escreve atributos do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$this-&gt;metodo() chama métodos do mesmo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$this só existe dentro de métodos de instância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métodos static não existe $this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3429000"/>
            <a:ext cx="8686800" cy="123444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1752" y="347472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752" y="34747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0040" y="3721608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$p1 = new Produto("Parafuso M8",  2.50, 100);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$p2 = new Produto("Arruela 3/8",  0.80, 500);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$p1-&gt;getNome(); // "Parafuso M8" ($this = $p1)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Operadores de Objeto: -&gt;, ::, instanceof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28600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 -&gt; (acesso de instância)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$obj-&gt;atributo — lê/escreve atributo público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$obj-&gt;metodo() — chama método de instância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$obj-&gt;metodo()-&gt;outroMetodo() — encadeamento (fluent)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null-safe: $obj?-&gt;metodo() — PHP 8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o "Cannot call method on null" em chains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28600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 :: e instanceof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Classe::CONSTANTE — constante de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Classe::$atributo — atributo estático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Classe::metodo() — método estático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instanceof verifica se objeto é de determinada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Retorna true/false — útil em condicionais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383280"/>
            <a:ext cx="8686800" cy="132588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342900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34290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675888"/>
            <a:ext cx="8503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 = new Produto("Parafuso", 2.50, 100);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($p instanceof Produto) { echo "É um Produto!";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Pedido::getTotalPedidos(); // estático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Pedido::STATUS_PENDENTE;   // constante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Objetos por Referência e Comparação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19456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Passagem por Referência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PHP objetos são passados por referência por padrão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Atribuir $b = $a não copia — ambos apontam ao mesmo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Alterar $b afeta $a — eles são o mesmo objeto em memória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copiar: $copia = clone $original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__clone() é chamado após o clone para ajustes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19456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Objetos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compara atributos e valores (igual em conteúdo)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=== compara identidade — é exatamente o mesmo objeto?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new Produto() nunca são === mesmo com mesmos dados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== para verificar se têm os mesmos valores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=== para verificar se é literalmente o mesmo objeto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291840"/>
            <a:ext cx="8686800" cy="137160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333756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333756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584448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$p1 = new Produto("X", 2.50, 10);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$p2 = $p1; // mesma referência!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$p3 = clone $p1; // cópia independente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var_dump($p1 == $p2);  // true  (mesmo conteúdo)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var_dump($p1 === $p3); // false (instâncias diferentes)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Encapsulamento — Conceito e Importância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28600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Encapsulamento?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Ocultar detalhes internos, expor só o necessário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dados de modificações externas indevidas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 que regras de negócio sejam respeitadas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acoplamento entre classes do sistema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a manutenção e evolução do sistema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28600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encapsular?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encap.: qualquer código altera $produto-&gt;preco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encap.: apenas setPrecoCom() valida e altera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Previne estados inconsistentes (preço negativo, etc.)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 o código autodocumentado e previsível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Design Patterns como Facade e Repository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383280"/>
            <a:ext cx="8686800" cy="128016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342900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34290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675888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SEM encapsulamento — perigoso!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 = new stdClass();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$p-&gt;preco = -50; // inválido!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 encapsulamento — seguro!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Produto { private float $preco;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setPreco(float $p): void { if($p&lt;0) throw ...; } }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Getters e Setters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2743200" cy="324612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Getters (leitura)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2523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getNome(): string — retorna o nome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getPreco(): float — retorna preço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getEstoque(): int — retorna estoque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isAtivo(): bool — getter para booleano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formatar/transformar antes de retornar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72968" y="1005840"/>
            <a:ext cx="2743200" cy="324612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82696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Setters (escrita)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82696" y="1408176"/>
            <a:ext cx="2523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setNome(string $v): void — valida e seta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setPreco(float $v): void — rejeita negativos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setEstoque(int $v): void — rejeita valores &lt; 0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setAtivo(bool $v): void — simples atribuição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Getter: prefixo get (ou is para bool)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17336" y="1005840"/>
            <a:ext cx="2743200" cy="3246120"/>
          </a:xfrm>
          <a:prstGeom prst="rect">
            <a:avLst/>
          </a:prstGeom>
          <a:solidFill>
            <a:srgbClr val="FFF8E1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27064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Convenções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27064" y="1408176"/>
            <a:ext cx="2523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Setter: prefixo set + mesmo nome do atributo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do setter: void (ou $this para fluent)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interface: return $this — permite encadear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$p-&gt;setNome("X")-&gt;setPreco(9.9)-&gt;setQtd(100)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 pode retornar $this para encadear chamadas (fluent)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Encapsulamento na Prática — Exemplo Completo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19456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Classe ContaBancaria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inicial deve ser &gt;= 0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se pode sacar mais do que o saldo disponível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Depósitos devem ser de valor positivo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transações é interno — não exposto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saldo nunca pode ficar negativo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19456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 Protegidas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Exceções lançadas quando regras são violadas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da classe não precisa saber como funciona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vê: depositar(), sacar(), getSaldo()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Encapsulamento = interface simples + proteção interna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internas não afetam quem usa a classe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291840"/>
            <a:ext cx="8686800" cy="137160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333756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333756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584448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 = new ContaBancaria(100.0);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$c-&gt;depositar(50.0);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$c-&gt;sacar(30.0);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$c-&gt;getSaldo(); // 120.0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👨‍👩‍👦  Herança — Conceito e Sintaxe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05740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Herança?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filha HERDA todos os membros da classe pai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Palavra-chave extends: class Cachorro extends Animal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suporta herança SIMPLES — apenas um pai direto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múltipla herança use Interfaces ou Traits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Filha pode adicionar novos atributos e métodos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05740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Importantes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Filha pode SOBRESCREVER métodos do pai (override)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Construtor da filha pode chamar parent::__construct()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private do pai NÃO são acessíveis na filha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protected para atributos herdáveis pela filha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class impede qualquer herança da classe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154680"/>
            <a:ext cx="8686800" cy="150876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320040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32004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447288"/>
            <a:ext cx="8503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Animal { public function __construct(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protected string $nome, protected int $idade) {}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public function falar(): string { return "..."; }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Cachorro extends Animal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public function falar(): string { return "Au au!";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 = new Cachorro("Rex", 3); $c-&gt;falar(); // "Au au!"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parent:: e Hierarquia de Classes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19456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palavra-chave parent::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parent:: acessa métodos e construtor do pai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Essencial no __construct() da filha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reescrever a lógica de inicialização do pai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parent::metodo() chama versão original antes de estender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Encadeamento: A → B → C (C herda B que herda A)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19456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em Múltiplos Níveis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herda todos os membros de A e B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nível pode sobrescrever ou estender comportamentos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PHP: sem limite de profundidade na hierarquia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instanceof: $c instanceof A é true mesmo sendo C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hierarquias rasas — máx. 3 a 4 níveis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291840"/>
            <a:ext cx="8686800" cy="137160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" y="333756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333756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584448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 = new CarroEletrico("Tesla", 4, 500);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$e-&gt;descrever();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"Veículo: Tesla | Portas: 4 | Autonomia: 500km"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Cada nível chamou parent::__construct()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 parent::descrever() acumulando o texto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 Herança na Prática — Visibilidade e Uso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2743200" cy="324612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Visibilidade na Herança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2523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public: herdado e acessível de qualquer lugar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protected: herdado, acessível só na hierarquia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private: NÃO herdado — só a classe pai acessa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Subclasse pode redeclarer private com mesmo nome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72968" y="1005840"/>
            <a:ext cx="2743200" cy="324612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82696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Usar Herança?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82696" y="1408176"/>
            <a:ext cx="2523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"é um": Cachorro É UM Animal ✅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Compartilham comportamento base com variações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duplicação em múltiplas classes similares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"tem um": Carro TEM UM Motor — use composição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17336" y="1005840"/>
            <a:ext cx="2743200" cy="324612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27064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NÃO usar Herança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27064" y="1408176"/>
            <a:ext cx="2523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Herança apenas por reutilização de código — evite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Hierarquias profundas (4+ níveis) — evite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quiser múltiplos pais — use Interface + Trait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composição à herança quando em dúvida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" y="437083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"Prefira composição à herança." — Gang of Four, Design Patterns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Sobrescrita de Métodos — Override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601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Sobrescrita permite que a filha redefina um método herdado com nova lógica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1371600"/>
            <a:ext cx="4206240" cy="210312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" y="144475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fazer Override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773936"/>
            <a:ext cx="3986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o método na filha com a MESMA assinatura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de retorno deve ser compatível com o pai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não exige anotação — redeclarar já é override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podem ter tipos mais amplos (covariância)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pode ser mais específico (PHP 7.4+ covariância)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251960" cy="210312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73168" y="144475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e Restrições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73168" y="1773936"/>
            <a:ext cx="40325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marcados com final NÃO podem ser sobrescritos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pai tem final function area() a filha não pode reescrever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Visibilidade só pode ser AMPLIADA: private → protected → public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se pode restritar visibilidade no override (protected → private ❌)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parent::metodo() pode ser chamado dentro do override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3566160"/>
            <a:ext cx="8686800" cy="109728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1752" y="361188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752" y="361188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0040" y="3858768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$formas = [new Circulo(5), new Retangulo(4, 6)];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 ($formas as $f)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echo $f-&gt;descrever() . "\n"; // polimorfismo!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Polimorfismo e Revisão Final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601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Polimorfismo: mesmo método, comportamentos diferentes por objeto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1371600"/>
            <a:ext cx="4206240" cy="210312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" y="144475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Polimorfismo na Prática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773936"/>
            <a:ext cx="3986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método, respostas diferentes por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 substituição de objetos sem alterar o cliente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hint com classe pai aceita qualquer subclasse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de Liskov: filha sempre substitui o pai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class força que as filhas implementem métodos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251960" cy="210312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73168" y="144475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Revisão: O que Aprendemos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73168" y="1773936"/>
            <a:ext cx="40325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OOP: classe, objeto, atributo, método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4 Pilares: Encapsulamento, Herança, Polimorfismo, Abstração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Criando classes: visibilidade, PascalCase, construtor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Encapsulamento: private + getters/setters com validação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Herança: extends, parent::, protected, override, final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3566160"/>
            <a:ext cx="8686800" cy="109728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1752" y="361188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752" y="361188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0040" y="3858768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$ns = [new NotificacaoEmail(), new NotificacaoSMS()];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 ($ns as $n) { $n-&gt;notificar("Pedido OK!");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echo $f-&gt;descrever() . "\n"; // polimorfismo!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Programação de Aplicativos — PHP</dc:title>
  <dc:subject>PptxGenJS Presentation</dc:subject>
  <dc:creator>PptxGenJS</dc:creator>
  <cp:lastModifiedBy>PptxGenJS</cp:lastModifiedBy>
  <cp:revision>1</cp:revision>
  <dcterms:created xsi:type="dcterms:W3CDTF">2026-03-10T11:08:12Z</dcterms:created>
  <dcterms:modified xsi:type="dcterms:W3CDTF">2026-03-10T11:08:12Z</dcterms:modified>
</cp:coreProperties>
</file>