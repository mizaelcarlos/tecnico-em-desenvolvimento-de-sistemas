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139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9184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2296" cy="3291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92240" y="-548640"/>
            <a:ext cx="2926080" cy="292608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903720" y="91440"/>
            <a:ext cx="2011680" cy="20116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903720" y="6583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91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594360"/>
            <a:ext cx="6217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de Páginas Web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0" y="3291840"/>
            <a:ext cx="7772400" cy="128016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20040" y="34015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Mizael Carlos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" y="38221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B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· Formulários · Tabelas · Links · Semântica · Multimídia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2296" cy="29260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(HyperText Markup Language) é a linguagem padrão para criação de páginas web. Ela define a estrutura e o significado do conteúdo usando elementos chamados tags. Todo navegador — Chrome, Firefox, Edge — interpreta HTML e exibe a página ao usuário. HTML não é uma linguagem de programação: é uma linguagem de marcação.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Estrutura Básica de um Documento HTML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429768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29768" y="896112"/>
            <a:ext cx="4078224" cy="3694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lang="pt-BR"&gt;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charset="UTF-8"&gt;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&lt;meta name="viewport" content="width=device-width, initial-scale=1.0"&gt;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&lt;title&gt;Minha Primeira Página&lt;/title&gt;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&lt;body&gt;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&lt;h1&gt;Olá, Mundo!&lt;/h1&gt;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&lt;p&gt;Esta é minha primeira página web.&lt;/p&gt;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&lt;/body&gt;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841248"/>
            <a:ext cx="4023360" cy="475488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910328" y="8961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55080" y="89611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 ao navegador que é HTML5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408176"/>
            <a:ext cx="4023360" cy="475488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910328" y="1463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1463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raiz: engloba todo o documento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1975104"/>
            <a:ext cx="4023360" cy="475488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910328" y="20299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20299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Metadados: título, charset, links a CSS/JS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542032"/>
            <a:ext cx="4023360" cy="475488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910328" y="25968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charset&gt;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55080" y="25968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codificação de caracteres (UTF-8)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3108960"/>
            <a:ext cx="4023360" cy="475488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910328" y="316382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31638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exibido na aba do navegador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675888"/>
            <a:ext cx="4023360" cy="475488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910328" y="37307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37307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visível ao usuário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Tags de Cabeçalho — H1 a H6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5029200" cy="548640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84124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68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Título Principal</a:t>
            </a:r>
            <a:endParaRPr lang="en-US" sz="2368" dirty="0"/>
          </a:p>
        </p:txBody>
      </p:sp>
      <p:sp>
        <p:nvSpPr>
          <p:cNvPr id="9" name="Shape 7"/>
          <p:cNvSpPr/>
          <p:nvPr/>
        </p:nvSpPr>
        <p:spPr>
          <a:xfrm>
            <a:off x="320040" y="1408176"/>
            <a:ext cx="5029200" cy="451104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475488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64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Seção</a:t>
            </a:r>
            <a:endParaRPr lang="en-US" sz="2064" dirty="0"/>
          </a:p>
        </p:txBody>
      </p:sp>
      <p:sp>
        <p:nvSpPr>
          <p:cNvPr id="11" name="Shape 9"/>
          <p:cNvSpPr/>
          <p:nvPr/>
        </p:nvSpPr>
        <p:spPr>
          <a:xfrm>
            <a:off x="320040" y="1914144"/>
            <a:ext cx="5029200" cy="377952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1950720"/>
            <a:ext cx="475488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36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Subseção</a:t>
            </a:r>
            <a:endParaRPr lang="en-US" sz="1836" dirty="0"/>
          </a:p>
        </p:txBody>
      </p:sp>
      <p:sp>
        <p:nvSpPr>
          <p:cNvPr id="13" name="Shape 11"/>
          <p:cNvSpPr/>
          <p:nvPr/>
        </p:nvSpPr>
        <p:spPr>
          <a:xfrm>
            <a:off x="320040" y="2346960"/>
            <a:ext cx="5029200" cy="329184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2383536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84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— Sub-subseção</a:t>
            </a:r>
            <a:endParaRPr lang="en-US" sz="1684" dirty="0"/>
          </a:p>
        </p:txBody>
      </p:sp>
      <p:sp>
        <p:nvSpPr>
          <p:cNvPr id="15" name="Shape 13"/>
          <p:cNvSpPr/>
          <p:nvPr/>
        </p:nvSpPr>
        <p:spPr>
          <a:xfrm>
            <a:off x="320040" y="2731008"/>
            <a:ext cx="5029200" cy="280416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57200" y="2767584"/>
            <a:ext cx="4754880" cy="170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32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 — Minor</a:t>
            </a:r>
            <a:endParaRPr lang="en-US" sz="1532" dirty="0"/>
          </a:p>
        </p:txBody>
      </p:sp>
      <p:sp>
        <p:nvSpPr>
          <p:cNvPr id="17" name="Shape 15"/>
          <p:cNvSpPr/>
          <p:nvPr/>
        </p:nvSpPr>
        <p:spPr>
          <a:xfrm>
            <a:off x="320040" y="3066288"/>
            <a:ext cx="5029200" cy="256032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7200" y="3102864"/>
            <a:ext cx="47548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6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— Menor</a:t>
            </a:r>
            <a:endParaRPr lang="en-US" sz="1456" dirty="0"/>
          </a:p>
        </p:txBody>
      </p:sp>
      <p:sp>
        <p:nvSpPr>
          <p:cNvPr id="19" name="Shape 17"/>
          <p:cNvSpPr/>
          <p:nvPr/>
        </p:nvSpPr>
        <p:spPr>
          <a:xfrm>
            <a:off x="5577840" y="804672"/>
            <a:ext cx="3246120" cy="2377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687568" y="877824"/>
            <a:ext cx="3026664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&lt;h1&gt;Título Principal&lt;/h1&gt;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&lt;h2&gt;Seção da Página&lt;/h2&gt;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&lt;h3&gt;Subseção de Conteúdo&lt;/h3&gt;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&lt;h4&gt;Sub-subseção&lt;/h4&gt;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&lt;h5&gt;Cabeçalho menor&lt;/h5&gt;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&lt;h6&gt;O menor cabeçalho&lt;/h6&gt;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0" y="3291840"/>
            <a:ext cx="3246120" cy="1371600"/>
          </a:xfrm>
          <a:prstGeom prst="rect">
            <a:avLst/>
          </a:prstGeom>
          <a:solidFill>
            <a:srgbClr val="FFF8E7"/>
          </a:solidFill>
          <a:ln w="1905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687568" y="3364992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Use apenas um &lt;h1&gt; por página!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hierarquia (H1 &gt; H2 &gt; H3…)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na acessibilidade e SEO.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Parágrafo, Quebra de Linha e Linha Horizontal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51560" y="777240"/>
            <a:ext cx="1188720" cy="118872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51560" y="11155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2743200" cy="2560320"/>
          </a:xfrm>
          <a:prstGeom prst="rect">
            <a:avLst/>
          </a:prstGeom>
          <a:solidFill>
            <a:srgbClr val="EAF2FB"/>
          </a:solidFill>
          <a:ln w="254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74320" y="2057400"/>
            <a:ext cx="2743200" cy="73152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84048" y="219456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Parágrafo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256032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um bloco de texto. O navegador adiciona espaçamento automático antes e depois.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&lt;p&gt;Meu texto aqui.&lt;/p&gt;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50208" y="777240"/>
            <a:ext cx="1188720" cy="11887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950208" y="11155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&lt;br&gt;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72968" y="2057400"/>
            <a:ext cx="2743200" cy="2560320"/>
          </a:xfrm>
          <a:prstGeom prst="rect">
            <a:avLst/>
          </a:prstGeom>
          <a:solidFill>
            <a:srgbClr val="EAF2FB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3172968" y="2057400"/>
            <a:ext cx="27432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282696" y="219456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Quebra de Linha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82696" y="256032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uma quebra dentro do mesmo bloco. Tag vazia — não tem fechamento.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1&lt;br&gt;Linha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48856" y="777240"/>
            <a:ext cx="1188720" cy="1188720"/>
          </a:xfrm>
          <a:prstGeom prst="ellipse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848856" y="111556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&lt;hr&gt;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71616" y="2057400"/>
            <a:ext cx="2743200" cy="2560320"/>
          </a:xfrm>
          <a:prstGeom prst="rect">
            <a:avLst/>
          </a:prstGeom>
          <a:solidFill>
            <a:srgbClr val="EAF2FB"/>
          </a:solidFill>
          <a:ln w="2540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6071616" y="2057400"/>
            <a:ext cx="2743200" cy="73152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181344" y="2194560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Horizontal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81344" y="2560320"/>
            <a:ext cx="25237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 uma linha separadora temática entre seções de conteúdo.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&lt;p&gt;Seção A&lt;/p&gt;&lt;hr&gt;&lt;p&gt;Seção B&lt;/p&gt;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Formatação de Texto Inline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475488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54864" cy="475488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87782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&lt;strong&gt;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87782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Negrito semântico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69080" y="87782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importância. Use para termos relevantes.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353312"/>
            <a:ext cx="8595360" cy="475488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74320" y="1353312"/>
            <a:ext cx="54864" cy="4754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142646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&lt;em&gt;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14264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Itálico semântico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69080" y="142646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Ênfase ou estrangeirismos. Afeta pronúncia por leitores de tela.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901952"/>
            <a:ext cx="8595360" cy="475488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74320" y="1901952"/>
            <a:ext cx="54864" cy="475488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57200" y="197510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&lt;u&gt;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197510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Sublinhado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69080" y="197510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texto com anotação (use com cuidado — parece link).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450592"/>
            <a:ext cx="8595360" cy="475488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274320" y="2450592"/>
            <a:ext cx="54864" cy="47548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57200" y="252374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&lt;s&gt;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252374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Tachado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69080" y="252374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que foi removido ou já não é válido.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2999232"/>
            <a:ext cx="8595360" cy="475488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274320" y="2999232"/>
            <a:ext cx="54864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57200" y="307238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&lt;mark&gt;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11680" y="307238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69080" y="307238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Realça texto como marcador amarelo.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547872"/>
            <a:ext cx="8595360" cy="475488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274320" y="3547872"/>
            <a:ext cx="54864" cy="475488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57200" y="362102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&lt;code&gt;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011680" y="362102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inline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069080" y="362102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trecho de código com fonte monoespaçada.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4096512"/>
            <a:ext cx="8595360" cy="475488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274320" y="4096512"/>
            <a:ext cx="54864" cy="475488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57200" y="416966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&lt;sup&gt;/&lt;sub&gt;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011680" y="4169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Sobrescrito/Subscrito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069080" y="4169664"/>
            <a:ext cx="4663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Expoentes matemáticos ou fórmulas químicas.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Listas — ul, ol e dl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8346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84048" y="877824"/>
            <a:ext cx="261518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Lista não-ordenada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&lt;li&gt;HTML&lt;/li&gt;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&lt;li&gt;CSS&lt;/li&gt;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&lt;li&gt;JavaScript&lt;/li&gt;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&lt;/ul&gt;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804672"/>
            <a:ext cx="28346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55848" y="877824"/>
            <a:ext cx="261518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Lista ordenada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&lt;li&gt;Planejamento&lt;/li&gt;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&lt;li&gt;Design&lt;/li&gt;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&lt;li&gt;Desenvolvimento&lt;/li&gt;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&lt;/ol&gt;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804672"/>
            <a:ext cx="26060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327648" y="877824"/>
            <a:ext cx="2386584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Lista de definição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&lt;dt&gt;HTML&lt;/dt&gt;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&lt;dd&gt;Linguagem de marcação&lt;/dd&gt;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&lt;dt&gt;CSS&lt;/dt&gt;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&lt;dd&gt;Estilo visual&lt;/dd&gt;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&lt;/dl&gt;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487168"/>
            <a:ext cx="2834640" cy="2011680"/>
          </a:xfrm>
          <a:prstGeom prst="rect">
            <a:avLst/>
          </a:prstGeom>
          <a:solidFill>
            <a:srgbClr val="EAF2FB"/>
          </a:solidFill>
          <a:ln w="1905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84048" y="25786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&lt;ul&gt;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" y="2944368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List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com marcadores (•). Uso: menus, listas de itens sem ordem específica.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27832" y="2487168"/>
            <a:ext cx="2834640" cy="2011680"/>
          </a:xfrm>
          <a:prstGeom prst="rect">
            <a:avLst/>
          </a:prstGeom>
          <a:solidFill>
            <a:srgbClr val="EAF2FB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337560" y="25786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2944368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List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numerados automaticamente. Uso: passos, rankings, instruções sequenciais.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81344" y="2487168"/>
            <a:ext cx="2834640" cy="2011680"/>
          </a:xfrm>
          <a:prstGeom prst="rect">
            <a:avLst/>
          </a:prstGeom>
          <a:solidFill>
            <a:srgbClr val="EAF2FB"/>
          </a:solidFill>
          <a:ln w="1905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291072" y="25786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&lt;dl&gt;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91072" y="2944368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List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termo (&lt;dt&gt;) + definição (&lt;dd&gt;). Uso: glossários e dicionários.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Links — Tag &lt;a&gt; (âncora)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38912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84048" y="877824"/>
            <a:ext cx="4169664" cy="3145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Link externo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href="https://www.google.com" target="_blank"&gt;Google&lt;/a&gt;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Link interno (mesma página)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href="#secao2"&gt;Ir para Seção 2&lt;/a&gt;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Link para e-mail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href="mailto:prof@escola.edu"&gt;Contato&lt;/a&gt;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Link para telefone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href="tel:+5599999999"&gt;Ligar agora&lt;/a&gt;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92040" y="804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importantes do &lt;a&gt;: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92040" y="1188720"/>
            <a:ext cx="3931920" cy="566928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29200" y="12435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89320" y="12435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 destino (obrigatório)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1847088"/>
            <a:ext cx="3931920" cy="566928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0" y="1901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190195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_blank = nova aba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_self = mesma aba (padrão)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505456"/>
            <a:ext cx="3931920" cy="566928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2920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ao passar o mouse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3163824"/>
            <a:ext cx="3931920" cy="566928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029200" y="32186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32186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 download do arquivo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3822192"/>
            <a:ext cx="3931920" cy="566928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029200" y="387705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38770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com o destino (SEO/segurança)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Imagens — Tag &lt;img&gt;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38912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84048" y="877824"/>
            <a:ext cx="4169664" cy="3694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Sintaxe básica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src="foto.jpg" alt="Descrição da foto"&gt;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Com tamanho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src="logo.png" alt="Logo" width="200" height="100"&gt;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Imagem com link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href="pagina.html"&gt;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src="banner.jpg" alt="Banner"&gt;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Formatos recomendados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JPG/JPEG → fotos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PNG → transparência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SVG → ícones/vetores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WebP → alta compressão --&gt;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92040" y="804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essenciais: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92040" y="1188720"/>
            <a:ext cx="3931920" cy="548640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29200" y="12435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Caminho/URL da imagem (obrigatório)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1828800"/>
            <a:ext cx="3931920" cy="548640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0" y="18836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0" y="210312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alternativo — acessibilidade e SEO (obrigatório)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92040" y="2468880"/>
            <a:ext cx="3931920" cy="548640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29200" y="25237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 / height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27432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em pixels ou % (sem unidade → px)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3108960"/>
            <a:ext cx="3931920" cy="548640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029200" y="31638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33832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"lazy" → carregamento tardio (performance)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3749040"/>
            <a:ext cx="3931920" cy="548640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029200" y="38039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0" y="402336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ao passar o mouse sobre a imagem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4315968"/>
            <a:ext cx="3931920" cy="347472"/>
          </a:xfrm>
          <a:prstGeom prst="rect">
            <a:avLst/>
          </a:prstGeom>
          <a:solidFill>
            <a:srgbClr val="FFF8E7"/>
          </a:solidFill>
          <a:ln w="1270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001768" y="4370832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Nunca omita o atributo alt — é essencial para acessibilidade!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Tabelas HTML — Estrutura Base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365760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84048" y="877824"/>
            <a:ext cx="3438144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&lt;th&gt;Nome&lt;/th&gt;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&lt;th&gt;Nota&lt;/th&gt;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&lt;tbody&gt;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&lt;td&gt;Ana&lt;/td&gt;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&lt;td&gt;9.5&lt;/td&gt;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&lt;td&gt;Carlos&lt;/td&gt;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&lt;td&gt;8.0&lt;/td&gt;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&lt;/tbody&gt;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&lt;tfoot&gt;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&lt;td&gt;Média&lt;/td&gt;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&lt;td&gt;8.75&lt;/td&gt;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&lt;/tfoot&gt;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60520" y="8046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de tabela: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60520" y="1188720"/>
            <a:ext cx="4663440" cy="438912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279392" y="125272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87568" y="12527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Contêiner principal da tabela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60520" y="1700784"/>
            <a:ext cx="4663440" cy="438912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279392" y="17647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&lt;thead&gt;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87568" y="176479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— agrupa as linhas de título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60520" y="2212848"/>
            <a:ext cx="4663440" cy="438912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279392" y="227685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&lt;tbody&gt;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87568" y="22768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— agrupa os dados principais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60520" y="2724912"/>
            <a:ext cx="4663440" cy="438912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279392" y="27889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&lt;tfoot&gt;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87568" y="27889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Rodapé — totais e resumos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60520" y="3236976"/>
            <a:ext cx="4663440" cy="438912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279392" y="33009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87568" y="330098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Row — define uma linha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60520" y="3749040"/>
            <a:ext cx="4663440" cy="438912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279392" y="38130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&lt;th&gt;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687568" y="38130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Header — célula cabeçalho (negrito + centralizado)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60520" y="4261104"/>
            <a:ext cx="4663440" cy="438912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279392" y="43251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&lt;td&gt;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87568" y="432511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Data — célula de dado comum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Tabelas — colspan e rowspan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38912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84048" y="877824"/>
            <a:ext cx="4169664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colspan: une colunas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&lt;th colspan="2"&gt;Informações Pessoais&lt;/th&gt;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&lt;td&gt;Nome&lt;/td&gt;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&lt;td&gt;Email&lt;/td&gt;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&lt;/tr&gt;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rowspan: une linhas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 rowspan="2"&gt;Brasil&lt;/td&gt;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&lt;td&gt;São Paulo&lt;/td&gt;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&lt;td&gt;Rio de Janeiro&lt;/td&gt;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&lt;/tr&gt;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92040" y="841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colspan — Mesclar Colunas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234440"/>
          <a:ext cx="3931920" cy="100584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Informações Pessoais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Nome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Email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Ana Silva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ana@email.com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89204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rowspan — Mesclar Linhas</a:t>
            </a:r>
            <a:endParaRPr lang="en-US" sz="14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2761488"/>
          <a:ext cx="3931920" cy="9144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País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Cidade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Brasil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São Paulo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Rio de Janeiro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Formulários HTML — Introdução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530352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8778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 permitem que o usuário envie dados ao servidor: login, cadastro, pesquisa, pedidos, etc.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444752"/>
            <a:ext cx="438912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84048" y="1517904"/>
            <a:ext cx="4169664" cy="2871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action="/processar.php" method="POST"&gt;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for="nome"&gt;Nome:&lt;/label&gt;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 id="nome" name="nome" required&gt;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for="email"&gt;Email:&lt;/label&gt;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type="email" id="email" name="email"&gt;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type="submit"&gt;Enviar&lt;/button&gt;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92040" y="14447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do &lt;form&gt;: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1828800"/>
            <a:ext cx="3931920" cy="512064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029200" y="18745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0" y="20848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que receberá os dados do formulário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2432304"/>
            <a:ext cx="3931920" cy="512064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029200" y="247802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0" y="268833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→ dados na URL  |  POST → dados no corpo (mais seguro)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3035808"/>
            <a:ext cx="3931920" cy="512064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029200" y="3081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enctype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32918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"multipart/form-data" → necessário para upload de arquivos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3639312"/>
            <a:ext cx="3931920" cy="512064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029200" y="368503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novalidate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0" y="38953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Desativa validação nativa do navegador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4242816"/>
            <a:ext cx="3931920" cy="512064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029200" y="428853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autocomplete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0" y="44988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"on" / "off" → controla autopreenchimento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Tipos de Input — Parte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502920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54864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8961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type="text"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8961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simples de uma linha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896112"/>
            <a:ext cx="3108960" cy="29260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type="text"&gt;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380744"/>
            <a:ext cx="8595360" cy="502920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74320" y="1380744"/>
            <a:ext cx="54864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14721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type="email"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14721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formato de e-mail automaticamente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1472184"/>
            <a:ext cx="3108960" cy="29260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type="email"&gt;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956816"/>
            <a:ext cx="8595360" cy="502920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74320" y="1956816"/>
            <a:ext cx="54864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57200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type="password"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20482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 os caracteres digitados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2048256"/>
            <a:ext cx="3108960" cy="29260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type="password"&gt;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532888"/>
            <a:ext cx="8595360" cy="502920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274320" y="2532888"/>
            <a:ext cx="54864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57200" y="2624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type="number"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26243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apenas números; suporta min/max/step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2624328"/>
            <a:ext cx="3108960" cy="29260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type="number" min="0" max="100"&gt;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108960"/>
            <a:ext cx="8595360" cy="502920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274320" y="3108960"/>
            <a:ext cx="54864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57200" y="32004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type="tel"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77440" y="3200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para telefone (sem validação nativa)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3200400"/>
            <a:ext cx="3108960" cy="29260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type="tel"&gt;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685032"/>
            <a:ext cx="8595360" cy="502920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274320" y="3685032"/>
            <a:ext cx="54864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57200" y="37764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type="url"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377440" y="37764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formato de URL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0" y="3776472"/>
            <a:ext cx="3108960" cy="29260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type="url"&gt;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261104"/>
            <a:ext cx="8595360" cy="502920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274320" y="4261104"/>
            <a:ext cx="54864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57200" y="435254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type="search"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377440" y="43525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busca — exibe ícone de lupa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0" y="4352544"/>
            <a:ext cx="3108960" cy="29260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type="search"&gt;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  Tipos de Input — Parte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502920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54864" cy="502920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8961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type="checkbox"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8961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Caixa de seleção múltipla (marcar vários)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89611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type="checkbox"&gt;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380744"/>
            <a:ext cx="8595360" cy="502920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74320" y="1380744"/>
            <a:ext cx="54864" cy="502920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14721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type="radio"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14721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única dentro de um grupo (name igual)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147218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type="radio" name="genero"&gt;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956816"/>
            <a:ext cx="8595360" cy="502920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74320" y="1956816"/>
            <a:ext cx="54864" cy="502920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57200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type="range"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204825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deslizante (slider) numérico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204825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type="range" min="0" max="10"&gt;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532888"/>
            <a:ext cx="8595360" cy="502920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274320" y="2532888"/>
            <a:ext cx="54864" cy="502920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57200" y="26243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type="date"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26243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Seletor de data com calendário nativo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2624328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type="date"&gt;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108960"/>
            <a:ext cx="8595360" cy="502920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274320" y="3108960"/>
            <a:ext cx="54864" cy="502920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57200" y="32004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type="time"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77440" y="32004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Seletor de horário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0" y="32004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type="time"&gt;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685032"/>
            <a:ext cx="8595360" cy="502920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274320" y="3685032"/>
            <a:ext cx="54864" cy="502920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57200" y="37764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type="color"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377440" y="37764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Seletor de cor com painel nativo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0" y="377647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type="color"&gt;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261104"/>
            <a:ext cx="8595360" cy="502920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274320" y="4261104"/>
            <a:ext cx="54864" cy="502920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57200" y="435254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type="file"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377440" y="43525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arquivo; use accept para filtrar tipos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669280" y="435254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type="file" accept=".pdf"&gt;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Atributos de Input — Validação e UX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384048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84048" y="841248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Nativa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4114800" cy="658368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84048" y="1316736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1581912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obrigatório — bloqueia envio se vazio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4114800" cy="658368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84048" y="2066544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/ max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4048" y="2331720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mínimo/máximo (number, date)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761488"/>
            <a:ext cx="4114800" cy="658368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84048" y="2816352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minlength / maxlength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048" y="3081528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Comprimento mínimo/máximo do texto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511296"/>
            <a:ext cx="4114800" cy="658368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84048" y="3566160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4048" y="3831336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via expressão regular (regex)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09160" y="804672"/>
            <a:ext cx="4114800" cy="3840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818888" y="841248"/>
            <a:ext cx="38953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do Usuário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09160" y="1261872"/>
            <a:ext cx="4114800" cy="658368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818888" y="1316736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18888" y="1581912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 dica exibido quando vazio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2011680"/>
            <a:ext cx="4114800" cy="658368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818888" y="2066544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autofocus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18888" y="2331720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automático ao carregar a página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2761488"/>
            <a:ext cx="4114800" cy="658368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818888" y="2816352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autocomplete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18888" y="3081528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 preenchimento automático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511296"/>
            <a:ext cx="4114800" cy="658368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818888" y="3566160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disabled / readonly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18888" y="3831336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Desabilita ou somente leitura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textarea, select e datalist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48056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84048" y="877824"/>
            <a:ext cx="4261104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Área de texto multi-linha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&lt;textarea name="msg" rows="4" cols="40"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placeholder="Digite sua mensagem..."&gt;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&lt;/textarea&gt;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Lista suspensa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 name="estado"&gt;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value=""&gt;Selecione...&lt;/option&gt;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value="MA"&gt;Maranhão&lt;/option&gt;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value="SP"&gt;São Paulo&lt;/option&gt;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&lt;optgroup label="Sul"&gt;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&lt;option value="RS"&gt;Rio Grande do Sul&lt;/option&gt;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&lt;/optgroup&gt;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&lt;/select&gt;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Autocomplete com sugestões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list="frutas" name="fruta"&gt;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&lt;datalist id="frutas"&gt;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value="Maçã"&gt;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value="Banana"&gt;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&lt;/datalist&gt;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56048" y="804672"/>
            <a:ext cx="3867912" cy="1234440"/>
          </a:xfrm>
          <a:prstGeom prst="rect">
            <a:avLst/>
          </a:prstGeom>
          <a:solidFill>
            <a:srgbClr val="EAF2FB"/>
          </a:solidFill>
          <a:ln w="1905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74920" y="8778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&lt;textarea&gt;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4920" y="115214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Texto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139903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multi-linha. Use rows e cols para definir tamanho inicial. Redimensionável por padrão.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956048" y="2157984"/>
            <a:ext cx="3867912" cy="1234440"/>
          </a:xfrm>
          <a:prstGeom prst="rect">
            <a:avLst/>
          </a:prstGeom>
          <a:solidFill>
            <a:srgbClr val="EAF2FB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74920" y="22311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&lt;select&gt;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250545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Suspensa (dropdown)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275234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 opções em menu. Use &lt;optgroup&gt; para agrupar. Atributo multiple → seleção múltipla.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56048" y="3511296"/>
            <a:ext cx="3867912" cy="1234440"/>
          </a:xfrm>
          <a:prstGeom prst="rect">
            <a:avLst/>
          </a:prstGeom>
          <a:solidFill>
            <a:srgbClr val="EAF2FB"/>
          </a:solidFill>
          <a:ln w="1905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074920" y="3584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&lt;datalist&gt;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38587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Sugestões (autocomplete)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410565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input livre com lista de sugestões via list= e id=. Não restringe a digitação.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🖱️  Botões — button e input[type=button]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38912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84048" y="877824"/>
            <a:ext cx="4169664" cy="3236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Botão de envio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type="submit"&gt;Enviar Formulário&lt;/button&gt;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Botão de reset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type="reset"&gt;Limpar Campos&lt;/button&gt;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Botão genérico (JS)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type="button" onclick="acao()"&gt;Clique aqui&lt;/button&gt;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Input button (legado)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type="submit" value="Enviar"&gt;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type="reset" value="Limpar"&gt;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type="button" value="Clique"&gt;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92040" y="84124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botão: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92040" y="1234440"/>
            <a:ext cx="3931920" cy="1005840"/>
          </a:xfrm>
          <a:prstGeom prst="rect">
            <a:avLst/>
          </a:prstGeom>
          <a:solidFill>
            <a:srgbClr val="EAF2FB"/>
          </a:solidFill>
          <a:ln w="1905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10912" y="1307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type="submit"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10912" y="160020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os dados do formulário para o servidor (action do form). Comportamento padrão se type não for especificado.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92040" y="2331720"/>
            <a:ext cx="3931920" cy="1005840"/>
          </a:xfrm>
          <a:prstGeom prst="rect">
            <a:avLst/>
          </a:prstGeom>
          <a:solidFill>
            <a:srgbClr val="EAF2FB"/>
          </a:solidFill>
          <a:ln w="1905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10912" y="2404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type="reset"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10912" y="26974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 todos os campos do formulário, restaurando valores padrão. Use com cautela — pode frustrar o usuário.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2040" y="3429000"/>
            <a:ext cx="3931920" cy="1005840"/>
          </a:xfrm>
          <a:prstGeom prst="rect">
            <a:avLst/>
          </a:prstGeom>
          <a:solidFill>
            <a:srgbClr val="EAF2FB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10912" y="35021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type="button"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10912" y="37947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faz nada sozinho. Precisa de JavaScript (onclick, addEventListener). Usado para interações dinâmicas.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315968"/>
            <a:ext cx="4389120" cy="347472"/>
          </a:xfrm>
          <a:prstGeom prst="rect">
            <a:avLst/>
          </a:prstGeom>
          <a:solidFill>
            <a:srgbClr val="E8F8E8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84048" y="4370832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Prefira &lt;button&gt; a &lt;input type=button&gt; — permite conteúdo rico como ícones e spans.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HTML Semântico — Estrutura com Significado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8595360" cy="438912"/>
          </a:xfrm>
          <a:prstGeom prst="rect">
            <a:avLst/>
          </a:prstGeom>
          <a:solidFill>
            <a:srgbClr val="EAF2FB"/>
          </a:solidFill>
          <a:ln w="1905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47472" y="859536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078992"/>
            <a:ext cx="844905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da página ou seção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298448"/>
            <a:ext cx="2286000" cy="1188720"/>
          </a:xfrm>
          <a:prstGeom prst="rect">
            <a:avLst/>
          </a:prstGeom>
          <a:solidFill>
            <a:srgbClr val="EAF2FB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47472" y="1335024"/>
            <a:ext cx="2139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1554480"/>
            <a:ext cx="213969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de navegação principal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06040" y="1298448"/>
            <a:ext cx="4754880" cy="1188720"/>
          </a:xfrm>
          <a:prstGeom prst="rect">
            <a:avLst/>
          </a:prstGeom>
          <a:solidFill>
            <a:srgbClr val="EAF2FB"/>
          </a:solidFill>
          <a:ln w="1905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679192" y="1335024"/>
            <a:ext cx="46085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79192" y="1554480"/>
            <a:ext cx="460857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principal único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406640" y="1298448"/>
            <a:ext cx="1463040" cy="1188720"/>
          </a:xfrm>
          <a:prstGeom prst="rect">
            <a:avLst/>
          </a:prstGeom>
          <a:solidFill>
            <a:srgbClr val="EAF2FB"/>
          </a:solidFill>
          <a:ln w="1905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479792" y="1335024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6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&lt;aside&gt;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79792" y="1554480"/>
            <a:ext cx="131673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lateral relacionado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06040" y="2523744"/>
            <a:ext cx="2331720" cy="960120"/>
          </a:xfrm>
          <a:prstGeom prst="rect">
            <a:avLst/>
          </a:prstGeom>
          <a:solidFill>
            <a:srgbClr val="EAF2FB"/>
          </a:solidFill>
          <a:ln w="1905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2679192" y="2560320"/>
            <a:ext cx="2185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79192" y="2779776"/>
            <a:ext cx="218541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independente (post, notícia)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83480" y="2523744"/>
            <a:ext cx="2377440" cy="960120"/>
          </a:xfrm>
          <a:prstGeom prst="rect">
            <a:avLst/>
          </a:prstGeom>
          <a:solidFill>
            <a:srgbClr val="EAF2FB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056632" y="256032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56632" y="2779776"/>
            <a:ext cx="2231136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temática de conteúdo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520440"/>
            <a:ext cx="8595360" cy="438912"/>
          </a:xfrm>
          <a:prstGeom prst="rect">
            <a:avLst/>
          </a:prstGeom>
          <a:solidFill>
            <a:srgbClr val="EAF2FB"/>
          </a:solidFill>
          <a:ln w="1905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47472" y="3557016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3776472"/>
            <a:ext cx="8449056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Rodapé da página ou seção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041648"/>
            <a:ext cx="8595360" cy="621792"/>
          </a:xfrm>
          <a:prstGeom prst="rect">
            <a:avLst/>
          </a:prstGeom>
          <a:solidFill>
            <a:srgbClr val="E8F0FE"/>
          </a:solidFill>
          <a:ln w="127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11480" y="408736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usar semântica?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Navegadores, leitores de tela e motores de busca entendem melhor a estrutura. Melhora acessibilidade, SEO e manutenção do código.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Elementos Genéricos — div e span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1005840"/>
            <a:ext cx="1417320" cy="141732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71600" y="14173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1005840"/>
            <a:ext cx="1417320" cy="14173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355080" y="141732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560320"/>
            <a:ext cx="4023360" cy="2560320"/>
          </a:xfrm>
          <a:prstGeom prst="rect">
            <a:avLst/>
          </a:prstGeom>
          <a:solidFill>
            <a:srgbClr val="EAF2FB"/>
          </a:solidFill>
          <a:ln w="254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74320" y="2560320"/>
            <a:ext cx="4023360" cy="73152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84048" y="2697480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 — Bloco Genérico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3063240"/>
            <a:ext cx="38039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de nível bloco. Ocupa toda a largura disponível e inicia nova linha.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Usado para agrupar elementos e aplicar CSS ou JavaScript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Não tem significado semântico próprio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Prefira elementos semânticos quando possível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&lt;div class="container"&gt;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&lt;h2&gt;Título&lt;/h2&gt;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&lt;p&gt;Texto...&lt;/p&gt;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&lt;/div&gt;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560320"/>
            <a:ext cx="4023360" cy="2560320"/>
          </a:xfrm>
          <a:prstGeom prst="rect">
            <a:avLst/>
          </a:prstGeom>
          <a:solidFill>
            <a:srgbClr val="EAF2FB"/>
          </a:solidFill>
          <a:ln w="254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846320" y="2560320"/>
            <a:ext cx="402336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956048" y="2697480"/>
            <a:ext cx="3803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— Inline Genérico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56048" y="3063240"/>
            <a:ext cx="380390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inline. Não causa quebra de linha — fica dentro do texto.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Usado para estilizar partes de um texto via CSS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significado semântico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Ideal para aplicar classes a palavras específicas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&lt;p&gt;Texto com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&lt;span class="destaque"&gt;palavra&lt;/span&gt; marcada.&lt;/p&gt;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487168"/>
            <a:ext cx="8595360" cy="36576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Multimídia — Áudio e Vídeo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48056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84048" y="877824"/>
            <a:ext cx="4261104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Áudio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&lt;audio controls&gt;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&lt;source src="musica.mp3" type="audio/mpeg"&gt;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&lt;source src="musica.ogg" type="audio/ogg"&gt;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Seu navegador não suporta áudio HTML5.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&lt;/audio&gt;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Vídeo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&lt;video width="640" height="360" controls poster="capa.jpg"&gt;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&lt;source src="video.mp4" type="video/mp4"&gt;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&lt;source src="video.webm" type="video/webm"&gt;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Seu navegador não suporta vídeo HTML5.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&lt;/video&gt;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Vídeo do YouTube (embed)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&lt;iframe width="560" height="315"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src="https://www.youtube.com/embed/ID"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allowfullscreen&gt;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&lt;/iframe&gt;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56048" y="804672"/>
            <a:ext cx="3867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comuns (audio/video):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56048" y="1188720"/>
            <a:ext cx="3867912" cy="493776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84064" y="124358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84064" y="14447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controles nativos (play, pause, volume)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56048" y="1755648"/>
            <a:ext cx="3867912" cy="493776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84064" y="181051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autoplay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84064" y="20116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automaticamente (bloqueado por padrão em mobile)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56048" y="2322576"/>
            <a:ext cx="3867912" cy="493776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84064" y="23774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84064" y="25786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continuamente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56048" y="2889504"/>
            <a:ext cx="3867912" cy="493776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084064" y="29443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84064" y="314553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sem som (necessário para autoplay funcionar)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56048" y="3456432"/>
            <a:ext cx="3867912" cy="493776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084064" y="351129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84064" y="37124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de capa do vídeo antes de iniciar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56048" y="4023360"/>
            <a:ext cx="3867912" cy="493776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084064" y="407822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preload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84064" y="42793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"auto" / "metadata" / "none" — controla pré-carregamento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iframe — Incorporar Conteúdo Externo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48056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84048" y="877824"/>
            <a:ext cx="4261104" cy="3694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Google Maps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&lt;iframe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src="https://maps.google.com/maps?q=São+Luís&amp;output=embed"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width="600" height="450"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loading="lazy"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allowfullscreen&gt;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&lt;/iframe&gt;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Página externa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&lt;iframe src="outra-pagina.html"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width="100%" height="300"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title="Conteúdo incorporado"&gt;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&lt;/iframe&gt;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PDF inline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&lt;iframe src="documento.pdf"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width="100%" height="500"&gt;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&lt;/iframe&gt;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56048" y="804672"/>
            <a:ext cx="3867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do &lt;iframe&gt;: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56048" y="1188720"/>
            <a:ext cx="3867912" cy="493776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84064" y="12435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84064" y="14630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do conteúdo a incorporar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56048" y="1755648"/>
            <a:ext cx="3867912" cy="493776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84064" y="18105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 / height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84064" y="20299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 do frame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56048" y="2322576"/>
            <a:ext cx="3867912" cy="493776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84064" y="23774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84064" y="25968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acessível — obrigatório para ARIA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56048" y="2889504"/>
            <a:ext cx="3867912" cy="493776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084064" y="29443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84064" y="316382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"lazy" → carregamento tardio (performance)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56048" y="3456432"/>
            <a:ext cx="3867912" cy="493776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084064" y="35112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allowfullscreen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84064" y="37307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que o conteúdo use tela cheia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56048" y="4023360"/>
            <a:ext cx="3867912" cy="493776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084064" y="40782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sandbox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84064" y="42976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Restringe o que o iframe pode fazer (segurança)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56048" y="4617720"/>
            <a:ext cx="3867912" cy="164592"/>
          </a:xfrm>
          <a:prstGeom prst="rect">
            <a:avLst/>
          </a:prstGeom>
          <a:solidFill>
            <a:srgbClr val="FFF0F0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084064" y="4636008"/>
            <a:ext cx="3611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Muitos sites bloqueiam iframe via X-Frame-Options.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Meta Tags — SEO e Configuração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48056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84048" y="877824"/>
            <a:ext cx="4261104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Charset e viewport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content="width=device-width, initial-scale=1.0"&gt;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SEO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name="description"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content="Aprenda HTML do zero."&gt;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name="keywords"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content="html, web, programação"&gt;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name="author" content="Prof. Mizael"&gt;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Open Graph (redes sociais)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property="og:title" content="Curso HTML"&gt;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property="og:image" content="capa.jpg"&gt;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property="og:url" content="https://..."&gt;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Ícone da aba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rel="icon" href="favicon.ico"&gt;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56048" y="804672"/>
            <a:ext cx="3867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meta tags: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56048" y="1188720"/>
            <a:ext cx="3867912" cy="438912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84064" y="123444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charset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84064" y="140817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Codificação do texto — sempre UTF-8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56048" y="1700784"/>
            <a:ext cx="3867912" cy="438912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84064" y="174650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viewport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84064" y="19202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Responsividade mobile — essencial para sites modernos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56048" y="2212848"/>
            <a:ext cx="3867912" cy="438912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084064" y="22585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84064" y="243230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página exibido no Google (150-160 chars)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56048" y="2724912"/>
            <a:ext cx="3867912" cy="438912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084064" y="277063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keywords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84064" y="29443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 (baixo impacto SEO hoje em dia)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56048" y="3236976"/>
            <a:ext cx="3867912" cy="438912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084064" y="328269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og:title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84064" y="34564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ao compartilhar no WhatsApp/Facebook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56048" y="3749040"/>
            <a:ext cx="3867912" cy="438912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084064" y="37947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og:image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84064" y="39684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de pré-visualização ao compartilhar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56048" y="4261104"/>
            <a:ext cx="3867912" cy="438912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084064" y="430682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favicon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84064" y="44805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Ícone exibido na aba do navegador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Comentários e Boas Práticas de Código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297680" cy="2834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84048" y="877824"/>
            <a:ext cx="4078224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Isso é um comentário HTML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Comentários não aparecem na tela --&gt;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Bloco de cabeçalho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&lt;nav&gt;...&lt;/nav&gt;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TODO: adicionar imagem aqui --&gt;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Temporariamente desativado: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class="promo"&gt;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&lt;p&gt;Promoção encerrada&lt;/p&gt;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73168" y="8046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73168" y="1188720"/>
            <a:ext cx="4023360" cy="502920"/>
          </a:xfrm>
          <a:prstGeom prst="rect">
            <a:avLst/>
          </a:prstGeom>
          <a:solidFill>
            <a:srgbClr val="F0FFF4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846320" y="128016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230368" y="1225296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Indentação consistente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30368" y="146304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ou 4 espaços — nunca misture tabs e espaços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73168" y="1773936"/>
            <a:ext cx="4023360" cy="502920"/>
          </a:xfrm>
          <a:prstGeom prst="rect">
            <a:avLst/>
          </a:prstGeom>
          <a:solidFill>
            <a:srgbClr val="F0FFF4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846320" y="186537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30368" y="1810512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em minúsculas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30368" y="2048256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e atributos sempre em letras minúsculas: &lt;div class=""&gt;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73168" y="2359152"/>
            <a:ext cx="4023360" cy="502920"/>
          </a:xfrm>
          <a:prstGeom prst="rect">
            <a:avLst/>
          </a:prstGeom>
          <a:solidFill>
            <a:srgbClr val="F0FFF4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46320" y="2450592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30368" y="2395728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todas as tags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30368" y="2633472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as opcionais — melhora legibilidade e compatibilidade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73168" y="2944368"/>
            <a:ext cx="4023360" cy="502920"/>
          </a:xfrm>
          <a:prstGeom prst="rect">
            <a:avLst/>
          </a:prstGeom>
          <a:solidFill>
            <a:srgbClr val="F0FFF4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46320" y="3035808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30368" y="2980944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 alt nas imagens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30368" y="3218688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descreva imagens — acessibilidade e SEO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73168" y="3529584"/>
            <a:ext cx="4023360" cy="502920"/>
          </a:xfrm>
          <a:prstGeom prst="rect">
            <a:avLst/>
          </a:prstGeom>
          <a:solidFill>
            <a:srgbClr val="F0FFF4"/>
          </a:solidFill>
          <a:ln w="1016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846320" y="3621024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30368" y="3566160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Aspas nos atributos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30368" y="3803904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aspas duplas: class="nome" — nunca omita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73168" y="4114800"/>
            <a:ext cx="4023360" cy="502920"/>
          </a:xfrm>
          <a:prstGeom prst="rect">
            <a:avLst/>
          </a:prstGeom>
          <a:solidFill>
            <a:srgbClr val="FFF5F5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846320" y="4206240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</a:rPr>
              <a:t>🚫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30368" y="4151376"/>
            <a:ext cx="3429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estilos inline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0368" y="4389120"/>
            <a:ext cx="3429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CSS externo a style="color:red" no HTML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Atributos Globais — Aplicáveis a Qualquer Tag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438912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54864" cy="43891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8778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8778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único na página. Usado por CSS (#id) e JS (getElementById).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09360" y="8778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id="menu"&gt;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316736"/>
            <a:ext cx="8595360" cy="438912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74320" y="1316736"/>
            <a:ext cx="54864" cy="43891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138988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13898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Classe(s) reutilizáveis. CSS (.class) pode aplicar estilo a múltiplos elementos.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1389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class="destaque azul"&gt;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828800"/>
            <a:ext cx="8595360" cy="438912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274320" y="1828800"/>
            <a:ext cx="54864" cy="43891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57200" y="1901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1901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inline direto no elemento. Evitar — prefira arquivo .css externo.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09360" y="1901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&lt;span style="color:red"&gt;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340864"/>
            <a:ext cx="8595360" cy="438912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274320" y="2340864"/>
            <a:ext cx="54864" cy="43891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57200" y="24140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91640" y="24140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 que aparece ao passar o mouse. Melhora usabilidade.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9360" y="241401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 title="Abrir página"&gt;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2852928"/>
            <a:ext cx="8595360" cy="438912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274320" y="2852928"/>
            <a:ext cx="54864" cy="43891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57200" y="2926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9164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 o elemento da página (equivale a display:none).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09360" y="2926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hidden&gt;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364992"/>
            <a:ext cx="8595360" cy="438912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274320" y="3364992"/>
            <a:ext cx="54864" cy="43891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57200" y="343814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tabindex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691640" y="34381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ordem de navegação por teclado (Tab). 0 = ordem natural.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09360" y="34381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tabindex="1"&gt;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3877056"/>
            <a:ext cx="8595360" cy="438912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274320" y="3877056"/>
            <a:ext cx="54864" cy="43891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457200" y="39502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data-*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691640" y="39502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personalizados para armazenar dados. Acessados via JS.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09360" y="3950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data-id="42"&gt;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389120"/>
            <a:ext cx="8595360" cy="438912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274320" y="4389120"/>
            <a:ext cx="54864" cy="43891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457200" y="44622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691640" y="44622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 do conteúdo. Afeta leitores de tela e corretores ortográficos.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09360" y="44622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lang="en"&gt;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  Acessibilidade — ARIA e Boas Práticas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475488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87782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(Accessible Rich Internet Applications) adiciona semântica extra para leitores de tela e tecnologias assistivas.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42976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4078224" cy="3054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Rótulo acessível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aria-label="Fechar modal"&gt;✕&lt;/button&gt;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Região nomeada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 aria-label="Menu principal"&gt;...&lt;/nav&gt;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Estado dinâmico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role="alert" aria-live="polite"&gt;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Formulário enviado com sucesso!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Campo com descrição --&gt;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aria-describedby="dica"&gt;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&lt;span id="dica"&gt;Mínimo 8 caracteres&lt;/span&gt;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73168" y="1371600"/>
            <a:ext cx="4041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ARIA principais: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73168" y="1755648"/>
            <a:ext cx="4041648" cy="429768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892040" y="180136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aria-label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99339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 invisível para leitores de tela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73168" y="2258568"/>
            <a:ext cx="4041648" cy="429768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892040" y="230428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aria-labelledby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49631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para elemento que serve de rótulo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73168" y="2761488"/>
            <a:ext cx="4041648" cy="429768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92040" y="280720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aria-describedby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99923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para elemento com descrição detalhada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73168" y="3264408"/>
            <a:ext cx="4041648" cy="429768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4892040" y="331012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aria-hidden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50215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"true" → ignora elemento no leitor de tela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73168" y="3767328"/>
            <a:ext cx="4041648" cy="429768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892040" y="381304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aria-live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400507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Anuncia mudanças dinâmicas (polite / assertive)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3168" y="4270248"/>
            <a:ext cx="4041648" cy="429768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892040" y="4315968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450799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papel semântico: "button", "dialog", "alert"…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🔺  As Três Camadas da Web: HTML · CSS · JavaScript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42416" y="804672"/>
            <a:ext cx="1417320" cy="1417320"/>
          </a:xfrm>
          <a:prstGeom prst="ellipse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42416" y="11430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2816352" cy="2340864"/>
          </a:xfrm>
          <a:prstGeom prst="rect">
            <a:avLst/>
          </a:prstGeom>
          <a:solidFill>
            <a:srgbClr val="EAF2FB"/>
          </a:solidFill>
          <a:ln w="1905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65760" y="2395728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 Conteúdo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743200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que existe na página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072384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textos, imagens, formulários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401568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marcação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3730752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Arquivo: index.html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059936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HTML não há página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995928" y="804672"/>
            <a:ext cx="1417320" cy="1417320"/>
          </a:xfrm>
          <a:prstGeom prst="ellipse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3995928" y="11430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27832" y="2331720"/>
            <a:ext cx="2816352" cy="2340864"/>
          </a:xfrm>
          <a:prstGeom prst="rect">
            <a:avLst/>
          </a:prstGeom>
          <a:solidFill>
            <a:srgbClr val="EAF2FB"/>
          </a:solidFill>
          <a:ln w="1905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319272" y="2395728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e Aparência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19272" y="2743200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como os elementos se parecem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19272" y="3072384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Cores, fontes, espaçamentos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19272" y="3401568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 responsivos (Flexbox/Grid)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19272" y="3730752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Arquivo: style.css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9272" y="4059936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CSS a página é sem estilo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49440" y="804672"/>
            <a:ext cx="1417320" cy="14173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949440" y="114300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181344" y="2331720"/>
            <a:ext cx="2816352" cy="2340864"/>
          </a:xfrm>
          <a:prstGeom prst="rect">
            <a:avLst/>
          </a:prstGeom>
          <a:solidFill>
            <a:srgbClr val="EAF2FB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272784" y="2395728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e Interação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72784" y="2743200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que a página faz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72784" y="3072384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Eventos, animações, dados dinâmicos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72784" y="3401568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APIs e AJAX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272784" y="3730752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Arquivo: script.js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72784" y="4059936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JS a página é estática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Projeto Prático — Página Completa em HTML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754880" cy="3977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84048" y="877824"/>
            <a:ext cx="4535424" cy="3831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lang="pt-BR"&gt;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 content="width=device-width"&gt;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&lt;title&gt;Meu Portfólio&lt;/title&gt;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&lt;header&gt;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&lt;h1&gt;João Silva&lt;/h1&gt;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 href="#sobre"&gt;Sobre&lt;/a&gt;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 href="#projetos"&gt;Projetos&lt;/a&gt;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 href="#contato"&gt;Contato&lt;/a&gt;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&lt;/nav&gt;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&lt;/header&gt;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&lt;section id="sobre"&gt;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&lt;h2&gt;Sobre Mim&lt;/h2&gt;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&lt;img src="foto.jpg" alt="Foto de João"&gt;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&lt;p&gt;Desenvolvedor Web apaixonado...&lt;/p&gt;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&lt;/section&gt;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&lt;section id="contato"&gt;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&lt;h2&gt;Contato&lt;/h2&gt;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&lt;form action="/enviar" method="POST"&gt;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&lt;input type="text" name="nome" required&gt;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&lt;input type="email" name="email" required&gt;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&lt;textarea name="mensagem"&gt;&lt;/textarea&gt;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&lt;button type="submit"&gt;Enviar&lt;/button&gt;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&lt;/form&gt;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&lt;/section&gt;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&lt;/main&gt;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&lt;footer&gt;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&lt;p&gt;&amp;copy; 2025 João Silva&lt;/p&gt;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&lt;/footer&gt;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30368" y="804672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Checklist da página: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30368" y="1188720"/>
            <a:ext cx="3584448" cy="237744"/>
          </a:xfrm>
          <a:prstGeom prst="rect">
            <a:avLst/>
          </a:prstGeom>
          <a:solidFill>
            <a:srgbClr val="F0FFF4"/>
          </a:solidFill>
          <a:ln w="508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349240" y="121615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DOCTYPE declarado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30368" y="1463040"/>
            <a:ext cx="3584448" cy="237744"/>
          </a:xfrm>
          <a:prstGeom prst="rect">
            <a:avLst/>
          </a:prstGeom>
          <a:solidFill>
            <a:srgbClr val="EAF2FB"/>
          </a:solidFill>
          <a:ln w="508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349240" y="14904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Tag &lt;html lang='pt-BR'&gt;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30368" y="1737360"/>
            <a:ext cx="3584448" cy="237744"/>
          </a:xfrm>
          <a:prstGeom prst="rect">
            <a:avLst/>
          </a:prstGeom>
          <a:solidFill>
            <a:srgbClr val="F0FFF4"/>
          </a:solidFill>
          <a:ln w="508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349240" y="176479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Charset UTF-8 no &lt;head&gt;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30368" y="2011680"/>
            <a:ext cx="3584448" cy="237744"/>
          </a:xfrm>
          <a:prstGeom prst="rect">
            <a:avLst/>
          </a:prstGeom>
          <a:solidFill>
            <a:srgbClr val="EAF2FB"/>
          </a:solidFill>
          <a:ln w="508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349240" y="203911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Viewport para responsividade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30368" y="2286000"/>
            <a:ext cx="3584448" cy="237744"/>
          </a:xfrm>
          <a:prstGeom prst="rect">
            <a:avLst/>
          </a:prstGeom>
          <a:solidFill>
            <a:srgbClr val="F0FFF4"/>
          </a:solidFill>
          <a:ln w="508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349240" y="231343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&lt;title&gt; descritivo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30368" y="2560320"/>
            <a:ext cx="3584448" cy="237744"/>
          </a:xfrm>
          <a:prstGeom prst="rect">
            <a:avLst/>
          </a:prstGeom>
          <a:solidFill>
            <a:srgbClr val="EAF2FB"/>
          </a:solidFill>
          <a:ln w="508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349240" y="258775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&lt;header&gt; com logo e &lt;nav&gt;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30368" y="2834640"/>
            <a:ext cx="3584448" cy="237744"/>
          </a:xfrm>
          <a:prstGeom prst="rect">
            <a:avLst/>
          </a:prstGeom>
          <a:solidFill>
            <a:srgbClr val="F0FFF4"/>
          </a:solidFill>
          <a:ln w="508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349240" y="28620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&lt;main&gt; com conteúdo principal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30368" y="3108960"/>
            <a:ext cx="3584448" cy="237744"/>
          </a:xfrm>
          <a:prstGeom prst="rect">
            <a:avLst/>
          </a:prstGeom>
          <a:solidFill>
            <a:srgbClr val="EAF2FB"/>
          </a:solidFill>
          <a:ln w="508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349240" y="313639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&lt;section&gt; para cada bloco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30368" y="3383280"/>
            <a:ext cx="3584448" cy="237744"/>
          </a:xfrm>
          <a:prstGeom prst="rect">
            <a:avLst/>
          </a:prstGeom>
          <a:solidFill>
            <a:srgbClr val="F0FFF4"/>
          </a:solidFill>
          <a:ln w="508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349240" y="341071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Formulário de contato completo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30368" y="3657600"/>
            <a:ext cx="3584448" cy="237744"/>
          </a:xfrm>
          <a:prstGeom prst="rect">
            <a:avLst/>
          </a:prstGeom>
          <a:solidFill>
            <a:srgbClr val="EAF2FB"/>
          </a:solidFill>
          <a:ln w="508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5349240" y="368503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&lt;footer&gt; com copyright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30368" y="3931920"/>
            <a:ext cx="3584448" cy="237744"/>
          </a:xfrm>
          <a:prstGeom prst="rect">
            <a:avLst/>
          </a:prstGeom>
          <a:solidFill>
            <a:srgbClr val="F0FFF4"/>
          </a:solidFill>
          <a:ln w="508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349240" y="395935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Alt em todas as imagens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30368" y="4206240"/>
            <a:ext cx="3584448" cy="237744"/>
          </a:xfrm>
          <a:prstGeom prst="rect">
            <a:avLst/>
          </a:prstGeom>
          <a:solidFill>
            <a:srgbClr val="EAF2FB"/>
          </a:solidFill>
          <a:ln w="508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5349240" y="4233672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IDs para navegação interna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🔣  Entidades HTML — Caracteres Especiais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457200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87782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Alguns caracteres têm significado especial em HTML e precisam ser escritos como entidades para aparecerem corretamente.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4114800" cy="402336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65760" y="14356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&amp;lt;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0200" y="14356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3120" y="143560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que / abre tag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847088"/>
            <a:ext cx="4114800" cy="402336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19110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&amp;gt;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00200" y="191109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03120" y="191109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que / fecha tag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322576"/>
            <a:ext cx="4114800" cy="402336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365760" y="23865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&amp;amp;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238658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03120" y="238658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comercial (ampersand)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798064"/>
            <a:ext cx="4114800" cy="402336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65760" y="28620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&amp;quot;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00200" y="28620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103120" y="286207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Aspas duplas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273552"/>
            <a:ext cx="4114800" cy="402336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65760" y="3337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&amp;apos;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00200" y="33375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103120" y="333756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Apóstrofo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749040"/>
            <a:ext cx="4114800" cy="402336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365760" y="38130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&amp;nbsp;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00200" y="381304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103120" y="381304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não quebrável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17720" y="1371600"/>
            <a:ext cx="4114800" cy="402336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4709160" y="14356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&amp;copy;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0" y="143560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46520" y="143560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Símbolo de copyright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17720" y="1847088"/>
            <a:ext cx="4114800" cy="402336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709160" y="191109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&amp;reg;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943600" y="191109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®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46520" y="1911096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registrada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17720" y="2322576"/>
            <a:ext cx="4114800" cy="402336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709160" y="238658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&amp;trade;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0" y="238658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™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46520" y="238658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Trademark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17720" y="2798064"/>
            <a:ext cx="4114800" cy="402336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4709160" y="28620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&amp;deg;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43600" y="28620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46520" y="2862072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Grau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617720" y="3273552"/>
            <a:ext cx="4114800" cy="402336"/>
          </a:xfrm>
          <a:prstGeom prst="rect">
            <a:avLst/>
          </a:prstGeom>
          <a:solidFill>
            <a:srgbClr val="EAF2FB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4709160" y="3337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&amp;euro;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943600" y="3337560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46520" y="333756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617720" y="3749040"/>
            <a:ext cx="4114800" cy="402336"/>
          </a:xfrm>
          <a:prstGeom prst="rect">
            <a:avLst/>
          </a:prstGeom>
          <a:solidFill>
            <a:srgbClr val="D6EAF8"/>
          </a:solidFill>
          <a:ln w="6350">
            <a:solidFill>
              <a:srgbClr val="B0C4D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4709160" y="381304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&amp;larr;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943600" y="381304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46520" y="3813048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Seta para esquerda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6858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457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Ferramentas do Desenvolvedor Web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60520" cy="1261872"/>
          </a:xfrm>
          <a:prstGeom prst="rect">
            <a:avLst/>
          </a:prstGeom>
          <a:solidFill>
            <a:srgbClr val="EAF2FB"/>
          </a:solidFill>
          <a:ln w="1905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73152" cy="1261872"/>
          </a:xfrm>
          <a:prstGeom prst="rect">
            <a:avLst/>
          </a:prstGeom>
          <a:solidFill>
            <a:srgbClr val="1B3A8C"/>
          </a:solidFill>
          <a:ln w="127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75488" y="914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1243584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código gratuito da Microsoft. Extensões: Live Server, HTML Snippets, Prettier, Auto Rename Tag.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4160520" cy="1261872"/>
          </a:xfrm>
          <a:prstGeom prst="rect">
            <a:avLst/>
          </a:prstGeom>
          <a:solidFill>
            <a:srgbClr val="EAF2FB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73152" cy="12618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75488" y="23042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 (F12)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" y="2633472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nativas do navegador: inspecionar HTML/CSS, debugar JS, ver requisições de rede, testar responsividade.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602736"/>
            <a:ext cx="4160520" cy="1261872"/>
          </a:xfrm>
          <a:prstGeom prst="rect">
            <a:avLst/>
          </a:prstGeom>
          <a:solidFill>
            <a:srgbClr val="EAF2FB"/>
          </a:solidFill>
          <a:ln w="1905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274320" y="3602736"/>
            <a:ext cx="73152" cy="1261872"/>
          </a:xfrm>
          <a:prstGeom prst="rect">
            <a:avLst/>
          </a:prstGeom>
          <a:solidFill>
            <a:srgbClr val="E76F00"/>
          </a:solidFill>
          <a:ln w="12700">
            <a:solidFill>
              <a:srgbClr val="E76F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75488" y="36941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7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Server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" y="4023360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do VS Code que recarrega a página automaticamente ao salvar o arquivo. Agiliza o desenvolvimento.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160520" cy="1261872"/>
          </a:xfrm>
          <a:prstGeom prst="rect">
            <a:avLst/>
          </a:prstGeom>
          <a:solidFill>
            <a:srgbClr val="EAF2FB"/>
          </a:solidFill>
          <a:ln w="1905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73152" cy="126187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956048" y="914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Validator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56048" y="1243584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se o HTML está correto e em conformidade com o padrão W3C. Acesse: validator.w3.org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212848"/>
            <a:ext cx="4160520" cy="1261872"/>
          </a:xfrm>
          <a:prstGeom prst="rect">
            <a:avLst/>
          </a:prstGeom>
          <a:solidFill>
            <a:srgbClr val="EAF2FB"/>
          </a:solidFill>
          <a:ln w="1905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4754880" y="2212848"/>
            <a:ext cx="73152" cy="12618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956048" y="23042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Use?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56048" y="2633472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compatibilidade de recursos HTML/CSS entre navegadores. Acesse: caniuse.com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602736"/>
            <a:ext cx="4160520" cy="1261872"/>
          </a:xfrm>
          <a:prstGeom prst="rect">
            <a:avLst/>
          </a:prstGeom>
          <a:solidFill>
            <a:srgbClr val="EAF2FB"/>
          </a:solidFill>
          <a:ln w="1905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4754880" y="3602736"/>
            <a:ext cx="73152" cy="1261872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956048" y="36941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/ Excalidraw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56048" y="4023360"/>
            <a:ext cx="384048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prototipagem para esboçar o layout da página antes de codificar.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400800" y="-457200"/>
            <a:ext cx="3200400" cy="32004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0" y="91440"/>
            <a:ext cx="2011680" cy="20116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0" y="5029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🏁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201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vimos nesta aula: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Estrutura básica HTML5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09160" y="658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Tags de texto e formatação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06070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Listas (ul, ol, dl)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06070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Links e âncoras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1463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Imagens e multimídia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4630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Tabelas completas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" y="18653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Formulários e inputs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18653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Botões e validação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22677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HTML semântico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22677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Meta tags e SEO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26700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Acessibilidade ARIA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6700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HTML · CSS · JavaScript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127248"/>
            <a:ext cx="8503920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20040" y="32461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0040" y="365760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CSS — Estilizar e criar layouts responsivos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9319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Flexbox &amp; Grid — Posicionamento moderno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42062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JavaScript — Tornar páginas interativas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44805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Projeto Final — Criar portfólio completo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D2057"/>
          </a:solidFill>
          <a:ln w="12700">
            <a:solidFill>
              <a:srgbClr val="0D205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82880" y="4873752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4680</Words>
  <Application>Microsoft Office PowerPoint</Application>
  <PresentationFormat>Apresentação na tela (16:9)</PresentationFormat>
  <Paragraphs>822</Paragraphs>
  <Slides>30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— Construção de Páginas Web</dc:title>
  <dc:subject>PptxGenJS Presentation</dc:subject>
  <dc:creator>Prof. Mizael Carlos</dc:creator>
  <cp:lastModifiedBy>Mizael Carlos</cp:lastModifiedBy>
  <cp:revision>2</cp:revision>
  <dcterms:created xsi:type="dcterms:W3CDTF">2026-03-25T21:42:22Z</dcterms:created>
  <dcterms:modified xsi:type="dcterms:W3CDTF">2026-03-26T13:47:19Z</dcterms:modified>
</cp:coreProperties>
</file>