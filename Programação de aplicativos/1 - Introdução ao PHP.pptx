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606040"/>
          </a:xfrm>
          <a:prstGeom prst="rect">
            <a:avLst/>
          </a:prstGeom>
          <a:solidFill>
            <a:srgbClr val="1A3E96"/>
          </a:solidFill>
          <a:ln w="12700">
            <a:solidFill>
              <a:srgbClr val="1A3E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26060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-457200"/>
            <a:ext cx="3200400" cy="3200400"/>
          </a:xfrm>
          <a:prstGeom prst="ellipse">
            <a:avLst/>
          </a:prstGeom>
          <a:solidFill>
            <a:srgbClr val="1A3E96">
              <a:alpha val="40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182880"/>
            <a:ext cx="2011680" cy="2011680"/>
          </a:xfrm>
          <a:prstGeom prst="ellipse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45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" y="50292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ao PHP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Lógica de Programação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0" y="2651760"/>
            <a:ext cx="7132320" cy="141732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2743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Mizael Carlos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" y="320040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5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Básicos, Variáveis, Funções e Aplicações Industriais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A História do PHP — Como Tudo Começou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03120" y="2029968"/>
            <a:ext cx="292608" cy="73152"/>
          </a:xfrm>
          <a:prstGeom prst="rect">
            <a:avLst/>
          </a:prstGeom>
          <a:solidFill>
            <a:srgbClr val="BBCDE5"/>
          </a:solidFill>
          <a:ln w="12700">
            <a:solidFill>
              <a:srgbClr val="BBCD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960120"/>
            <a:ext cx="1051560" cy="10515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9601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1994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2880" y="2103120"/>
            <a:ext cx="2057400" cy="242316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1671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PHP/FI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2496312"/>
            <a:ext cx="1874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Rasmus Lerdorf cria scripts Perl para rastrear visitas ao seu CV pessoal. Batiza de 'Personal Home Page Tools'.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15968" y="2029968"/>
            <a:ext cx="292608" cy="73152"/>
          </a:xfrm>
          <a:prstGeom prst="rect">
            <a:avLst/>
          </a:prstGeom>
          <a:solidFill>
            <a:srgbClr val="BBCDE5"/>
          </a:solidFill>
          <a:ln w="12700">
            <a:solidFill>
              <a:srgbClr val="BBCD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07208" y="960120"/>
            <a:ext cx="1051560" cy="105156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07208" y="9601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1997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395728" y="2103120"/>
            <a:ext cx="2057400" cy="2423160"/>
          </a:xfrm>
          <a:prstGeom prst="rect">
            <a:avLst/>
          </a:prstGeom>
          <a:solidFill>
            <a:srgbClr val="E8F0FE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87168" y="21671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87168" y="2496312"/>
            <a:ext cx="1874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Zeev Suraski e Andi Gutmans reescrevem o núcleo. Nasce o acrônimo recursivo: PHP: Hypertext Preprocessor.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528816" y="2029968"/>
            <a:ext cx="292608" cy="73152"/>
          </a:xfrm>
          <a:prstGeom prst="rect">
            <a:avLst/>
          </a:prstGeom>
          <a:solidFill>
            <a:srgbClr val="BBCDE5"/>
          </a:solidFill>
          <a:ln w="12700">
            <a:solidFill>
              <a:srgbClr val="BBCD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0056" y="960120"/>
            <a:ext cx="1051560" cy="105156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0056" y="9601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08576" y="2103120"/>
            <a:ext cx="2057400" cy="2423160"/>
          </a:xfrm>
          <a:prstGeom prst="rect">
            <a:avLst/>
          </a:prstGeom>
          <a:solidFill>
            <a:srgbClr val="E8F0FE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0016" y="21671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4 &amp; 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00016" y="2496312"/>
            <a:ext cx="1874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Zend Engine. PHP 5 traz OOP completa, PDO e tratamento de exceções. Adoção massiva na web.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232904" y="960120"/>
            <a:ext cx="1051560" cy="105156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32904" y="9601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2015+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821424" y="2103120"/>
            <a:ext cx="2057400" cy="2423160"/>
          </a:xfrm>
          <a:prstGeom prst="rect">
            <a:avLst/>
          </a:prstGeom>
          <a:solidFill>
            <a:srgbClr val="E8F0FE"/>
          </a:solidFill>
          <a:ln w="19050">
            <a:solidFill>
              <a:srgbClr val="6A1B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12864" y="21671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7/8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12864" y="2496312"/>
            <a:ext cx="1874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 2x maior, tipos escalares, JIT compiler, fibers, enums e tipagem estrita moderna.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O que é Processamento Server-Side?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4114800" cy="361188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" y="1033272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(lado do servidor)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362456"/>
            <a:ext cx="38953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executado no SERVIDOR, não no navegador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usuário nunca vê o código PHP — só o resultado HTML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acessar banco de dados, arquivos, APIs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páginas dinâmicas personalizadas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lógica de negócios e senhas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Exemplos: PHP, Python, Node.js, Java, Ruby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960120"/>
            <a:ext cx="4343400" cy="3611880"/>
          </a:xfrm>
          <a:prstGeom prst="rect">
            <a:avLst/>
          </a:prstGeom>
          <a:solidFill>
            <a:srgbClr val="FFF8E1"/>
          </a:solidFill>
          <a:ln w="19050">
            <a:solidFill>
              <a:srgbClr val="E6510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81728" y="1033272"/>
            <a:ext cx="4123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(lado do cliente)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81728" y="1362456"/>
            <a:ext cx="41239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executado NO NAVEGADOR do usuário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código-fonte fica visível (F12 no browser)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acesso direto a banco de dados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 pela interface e interatividade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Exemplos: HTML, CSS, JavaScript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e JavaScript se complementam na web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Como o PHP Funciona — Fluxo de Requisição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27048" y="2267712"/>
            <a:ext cx="365760" cy="73152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73936" y="21488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9768" y="1005840"/>
            <a:ext cx="777240" cy="7772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005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" y="18745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9728" y="2286000"/>
            <a:ext cx="1572768" cy="2286000"/>
          </a:xfrm>
          <a:prstGeom prst="rect">
            <a:avLst/>
          </a:prstGeom>
          <a:solidFill>
            <a:srgbClr val="E8F0FE"/>
          </a:solidFill>
          <a:ln w="1524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2359152"/>
            <a:ext cx="142646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Usuário acessa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www.fabrica.com/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produtos.php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19272" y="2267712"/>
            <a:ext cx="365760" cy="73152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21488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21992" y="1005840"/>
            <a:ext cx="777240" cy="777240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21992" y="1005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920240" y="18745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Requisição HTTP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901952" y="2286000"/>
            <a:ext cx="1572768" cy="2286000"/>
          </a:xfrm>
          <a:prstGeom prst="rect">
            <a:avLst/>
          </a:prstGeom>
          <a:solidFill>
            <a:srgbClr val="E8F0FE"/>
          </a:solidFill>
          <a:ln w="15240">
            <a:solidFill>
              <a:srgbClr val="0069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75104" y="2359152"/>
            <a:ext cx="142646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/produtos.php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Host: fabrica.com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111496" y="2267712"/>
            <a:ext cx="365760" cy="73152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58384" y="21488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014216" y="1005840"/>
            <a:ext cx="777240" cy="77724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14216" y="1005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712464" y="18745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PHP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94176" y="2286000"/>
            <a:ext cx="1572768" cy="2286000"/>
          </a:xfrm>
          <a:prstGeom prst="rect">
            <a:avLst/>
          </a:prstGeom>
          <a:solidFill>
            <a:srgbClr val="E8F0FE"/>
          </a:solidFill>
          <a:ln w="15240">
            <a:solidFill>
              <a:srgbClr val="6A1B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67328" y="2359152"/>
            <a:ext cx="142646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Interpreta o código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.php, consulta BD,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monta o HTML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903720" y="2267712"/>
            <a:ext cx="365760" cy="73152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50608" y="21488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806440" y="1005840"/>
            <a:ext cx="777240" cy="77724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06440" y="1005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504688" y="18745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HTML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0" y="2286000"/>
            <a:ext cx="1572768" cy="2286000"/>
          </a:xfrm>
          <a:prstGeom prst="rect">
            <a:avLst/>
          </a:prstGeom>
          <a:solidFill>
            <a:srgbClr val="E8F0FE"/>
          </a:solidFill>
          <a:ln w="15240">
            <a:solidFill>
              <a:srgbClr val="C628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59552" y="2359152"/>
            <a:ext cx="142646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Envia HTML puro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ao navegador.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fica oculto!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598664" y="1005840"/>
            <a:ext cx="777240" cy="77724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98664" y="1005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296912" y="18745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do Usuário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278624" y="2286000"/>
            <a:ext cx="1572768" cy="2286000"/>
          </a:xfrm>
          <a:prstGeom prst="rect">
            <a:avLst/>
          </a:prstGeom>
          <a:solidFill>
            <a:srgbClr val="E8F0FE"/>
          </a:solidFill>
          <a:ln w="15240">
            <a:solidFill>
              <a:srgbClr val="E651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51776" y="2359152"/>
            <a:ext cx="142646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Navegador renderiza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página pronta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 os dados reais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Servidores Web que Rodam PHP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" y="987552"/>
            <a:ext cx="4251960" cy="1810512"/>
          </a:xfrm>
          <a:prstGeom prst="rect">
            <a:avLst/>
          </a:prstGeom>
          <a:solidFill>
            <a:srgbClr val="E8F0FE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987552"/>
            <a:ext cx="64008" cy="181051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10424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HTTP Server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" y="131673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popular do mundo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38328" y="1517904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open-source criado em 1995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mod_php integrado nativamente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arquivo .htaccess para configuração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em Linux, Windows, macOS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no XAMPP, LAMP, WAMP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81728" y="987552"/>
            <a:ext cx="4251960" cy="1810512"/>
          </a:xfrm>
          <a:prstGeom prst="rect">
            <a:avLst/>
          </a:prstGeom>
          <a:solidFill>
            <a:srgbClr val="E8F0FE"/>
          </a:solidFill>
          <a:ln w="19050">
            <a:solidFill>
              <a:srgbClr val="1B5E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81728" y="987552"/>
            <a:ext cx="64008" cy="181051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10424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18888" y="131673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performance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18888" y="1517904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Lançado em 2004, foco em performance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roda via PHP-FPM (FastCGI)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Suporta milhares de conexões simultâneas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 usado em nuvem (AWS, GCP, Azure)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no stack LEMP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01168" y="2953512"/>
            <a:ext cx="4251960" cy="1810512"/>
          </a:xfrm>
          <a:prstGeom prst="rect">
            <a:avLst/>
          </a:prstGeom>
          <a:solidFill>
            <a:srgbClr val="E8F5E9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" y="2953512"/>
            <a:ext cx="64008" cy="18105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3008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IIS (Microsoft)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" y="328269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8328" y="3483864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Information Services (Microsoft)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via FastCGI no Windows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nativa com Azure e .NET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em ambientes corporativos Windows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Suporta PHP 8.x em produção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81728" y="2953512"/>
            <a:ext cx="4251960" cy="1810512"/>
          </a:xfrm>
          <a:prstGeom prst="rect">
            <a:avLst/>
          </a:prstGeom>
          <a:solidFill>
            <a:srgbClr val="E8F5E9"/>
          </a:solidFill>
          <a:ln w="19050">
            <a:solidFill>
              <a:srgbClr val="6A1B9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1728" y="2953512"/>
            <a:ext cx="64008" cy="181051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8888" y="3008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XAMPP / Laragon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18888" y="328269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local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18888" y="3483864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Pacotes para desenvolvimento local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 Apache + PHP + MySQL + phpMyAdmin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XAMPP: multiplataforma (Apache Friends)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Laragon: leve e moderno para Windows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estudar e testar código PHP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🐘  O que é PHP?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4114800" cy="356616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" y="1078992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 e Definição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408176"/>
            <a:ext cx="389534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PHP: Hypertext Preprocessor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Criado por Rasmus Lerdorf em 1994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de script server-side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e multiplataforma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Amplamente usada no desenvolvimento web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Suporta bancos de dados (MySQL, PostgreSQL)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005840"/>
            <a:ext cx="4343400" cy="356616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81728" y="1078992"/>
            <a:ext cx="4123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Principais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81728" y="1408176"/>
            <a:ext cx="412394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 inspirada em C, Java e Perl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Fortemente tipada (PHP 7+)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Interpretada (não compilada)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Integra-se com HTML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no servidor antes de enviar ao browser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por 77% dos sites com linguagem conhecida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Linguagem Fortemente Tipada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significa Fortemente Tipada?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8600" y="1325880"/>
            <a:ext cx="4206240" cy="150876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" y="139903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Tipagem Fraca (antes PHP 7)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" y="1728216"/>
            <a:ext cx="3986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misturava tipos automaticamente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"10" + 5 resultava em 15 (coerção)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silenciosos difíceis de detectar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325880"/>
            <a:ext cx="4251960" cy="150876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73168" y="139903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Tipagem Estrita (PHP 7+)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73168" y="1728216"/>
            <a:ext cx="4032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declare(strict_types=1) no topo do arquivo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parâmetros e retorno obrigatórios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detectados em tempo de execução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2926080"/>
            <a:ext cx="8686800" cy="169164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1752" y="2971800"/>
            <a:ext cx="411480" cy="20116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" y="29718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20040" y="3218688"/>
            <a:ext cx="8503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declare(strict_types=1);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soma(int $a, int $b): int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$a + $b;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soma(3, 5);   // 8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echo soma(3.5, 5); // TypeError!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Estrutura Básica de um Arquivo PHP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4206240" cy="182880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" y="103327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PHP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362456"/>
            <a:ext cx="39867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código PHP fica entre &lt;?php e ?&gt;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PHP podem misturar HTML e PHP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Recomendado: arquivos PHP puro sem fechar ?&gt;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Extensão do arquivo: .php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251960" cy="182880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73168" y="103327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73168" y="1362456"/>
            <a:ext cx="40325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usar declare(strict_types=1)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Comentários com // ou /* */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e vírgula ; obrigatório ao fim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é case-sensitive para variáveis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880360"/>
            <a:ext cx="8686800" cy="173736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" y="2926080"/>
            <a:ext cx="411480" cy="20116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" y="292608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20040" y="3172968"/>
            <a:ext cx="8503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declare(strict_types=1);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Comentário de linha única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Comentário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de múltiplas linhas */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"Olá, Mundo!"; // Imprime na tela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?&gt;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💲  Variáveis — Declaração com $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PHP toda variável começa com o símbolo  $  (cifrão)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1371600"/>
            <a:ext cx="4206240" cy="219456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" y="144475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Nomenclatura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" y="1773936"/>
            <a:ext cx="39867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 com $ seguido de letra ou _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$nome, $_privado, $total2 ✅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$2erro, $nome-completo ❌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Case-sensitive: $nome ≠ $Nome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Nomes descritivos e em português/inglês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4251960" cy="219456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73168" y="144475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Atribuição de Valor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73168" y="1773936"/>
            <a:ext cx="40325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o operador = (atribuição)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precisa declarar tipo (sem strict)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strict_types: tipo inferido pelo valor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não inicializadas = null/aviso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reatribuir valor a qualquer momento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3657600"/>
            <a:ext cx="8686800" cy="100584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1752" y="3703320"/>
            <a:ext cx="411480" cy="20116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" y="37033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20040" y="395020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$nome = "João";   $idade = 25;   $altura = 1.80;   $ativo = true;   $nada = null;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Tipos de Dados em PHP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987552"/>
            <a:ext cx="2743200" cy="164592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987552"/>
            <a:ext cx="68580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987552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1752" y="137160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Números inteiros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$qtd = 42;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72968" y="987552"/>
            <a:ext cx="2743200" cy="164592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72968" y="987552"/>
            <a:ext cx="68580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72968" y="987552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46120" y="137160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Números decimais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$preco = 19.90;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17336" y="987552"/>
            <a:ext cx="2743200" cy="1645920"/>
          </a:xfrm>
          <a:prstGeom prst="rect">
            <a:avLst/>
          </a:prstGeom>
          <a:solidFill>
            <a:srgbClr val="FFF8E1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17336" y="987552"/>
            <a:ext cx="685800" cy="34747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17336" y="987552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90488" y="137160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Texto entre aspas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$nome = "Ana";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2816352"/>
            <a:ext cx="2743200" cy="1645920"/>
          </a:xfrm>
          <a:prstGeom prst="rect">
            <a:avLst/>
          </a:prstGeom>
          <a:solidFill>
            <a:srgbClr val="FCE4EC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2816352"/>
            <a:ext cx="685800" cy="3474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2816352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01752" y="320040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Verdadeiro/Falso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$ativo = true;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172968" y="2816352"/>
            <a:ext cx="2743200" cy="1645920"/>
          </a:xfrm>
          <a:prstGeom prst="rect">
            <a:avLst/>
          </a:prstGeom>
          <a:solidFill>
            <a:srgbClr val="F3E5F5"/>
          </a:solidFill>
          <a:ln w="19050">
            <a:solidFill>
              <a:srgbClr val="6A1B9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72968" y="2816352"/>
            <a:ext cx="685800" cy="3474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72968" y="2816352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46120" y="320040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 de valores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$itens = [1,2,3];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17336" y="2816352"/>
            <a:ext cx="2743200" cy="1645920"/>
          </a:xfrm>
          <a:prstGeom prst="rect">
            <a:avLst/>
          </a:prstGeom>
          <a:solidFill>
            <a:srgbClr val="E0F7FA"/>
          </a:solidFill>
          <a:ln w="19050">
            <a:solidFill>
              <a:srgbClr val="0069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17336" y="2816352"/>
            <a:ext cx="685800" cy="34747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17336" y="2816352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90488" y="320040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 valor definido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$x = null;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Constantes em PHP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4206240" cy="201168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" y="107899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uma Constante?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408176"/>
            <a:ext cx="39867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que NÃO muda durante a execução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Definida com define() ou const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Escrita em MAIÚSCULAS por convenção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usa $ na frente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Disponível em qualquer escopo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251960" cy="201168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73168" y="107899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 Constantes?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73168" y="1408176"/>
            <a:ext cx="40325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impostos: TAX_RATE = 0.15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 π: M_PI (constante PHP nativa)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Configurações do sistema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do sistema: APP_VERSION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fixos de produção industrial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3108960"/>
            <a:ext cx="8686800" cy="150876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" y="3154680"/>
            <a:ext cx="411480" cy="20116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" y="315468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20040" y="3401568"/>
            <a:ext cx="8503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define("TAXA_IMPOSTO", 0.12);        // Usando define()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LIMITE_PRODUCAO = 500;          // Usando const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$preco = 1000;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$imposto = $preco * TAXA_IMPOSTO;    // 120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"Imposto: R$ " . $imposto;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 Operadores em PHP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2743200" cy="274320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" y="107899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Aritméticos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408176"/>
            <a:ext cx="252374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Soma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Subtração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Multiplicação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Divisão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Módulo (resto)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 Potência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72968" y="1005840"/>
            <a:ext cx="2743200" cy="274320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82696" y="107899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82696" y="1408176"/>
            <a:ext cx="252374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Igual (valor)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=== Idêntico (tipo+valor)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!= Diferente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Maior que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Menor que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 Maior ou igual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17336" y="1005840"/>
            <a:ext cx="2743200" cy="274320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27064" y="107899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27064" y="1408176"/>
            <a:ext cx="252374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&amp;&amp; E lógico (AND)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|| OU lógico (OR)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NÃO lógico (NOT)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/ or (baixa prio.)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Usados em condições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Retornam bool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3840480"/>
            <a:ext cx="8686800" cy="82296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1752" y="3886200"/>
            <a:ext cx="411480" cy="20116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" y="38862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20040" y="413308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 = 10; $b = 3;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$a + $b;  // 13  |  echo $a % $b;  // 1  |  echo $a &gt; $b;  // true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Strings e Concatenação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4206240" cy="214884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" y="107899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String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408176"/>
            <a:ext cx="3986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Aspas simples: 'Texto literal'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Aspas duplas: "Interpola $variavel"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Heredoc: &lt;&lt;&lt;EOT ... EOT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Nowdoc: &lt;&lt;&lt;'EOT' ... EOT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Concatenação com o ponto  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251960" cy="214884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73168" y="107899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Úteis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73168" y="1408176"/>
            <a:ext cx="40325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strlen($s) — tamanho da string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strtoupper($s) — maiúsculas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str_replace(a, b, $s) — substituir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trim($s) — remove espaços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substr($s, 0, 5) — fatia da string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3246120"/>
            <a:ext cx="8686800" cy="141732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" y="3291840"/>
            <a:ext cx="411480" cy="20116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" y="32918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20040" y="3538728"/>
            <a:ext cx="8503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$produto = "Parafuso";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$qtd = 100;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"Produto: " . $produto . " | Qtd: " . $qtd; // Concatenação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"Produto: $produto | Qtd: $qtd";           // Interpolação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strlen($produto); // 8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Estruturas Condicionais — if / else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4206240" cy="169164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" y="107899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408176"/>
            <a:ext cx="3986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(condição) { ... }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{ ... }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elseif (condição) { ... }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 ternário: cond ? A : 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251960" cy="169164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73168" y="107899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Industrial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73168" y="1408176"/>
            <a:ext cx="40325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se sensor detectou falha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Classificar nível de estoque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 ou reprovar lote de produção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temperatura em máquinas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788920"/>
            <a:ext cx="8686800" cy="187452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" y="2834640"/>
            <a:ext cx="411480" cy="20116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" y="28346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20040" y="3081528"/>
            <a:ext cx="8503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$temperatura = 85;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($temperatura &gt; 90)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 "CRÍTICO: Máquina superaquecida!";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elseif ($temperatura &gt; 75)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 "ATENÇÃO: Temperatura elevada.";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 "OK: Temperatura normal.";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Estrutura Switch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4206240" cy="192024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" y="107899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 Switch?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408176"/>
            <a:ext cx="39867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Múltiplos valores para uma variável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legível que vários elseif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break para sair do case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para caso não encontrado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Compatível com int, string, float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251960" cy="192024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73168" y="107899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(PHP 8)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73168" y="1408176"/>
            <a:ext cx="40325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moderna do switch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 valor diretamente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estrita (===)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fall-through acidental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conciso e seguro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3017520"/>
            <a:ext cx="8686800" cy="164592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" y="3063240"/>
            <a:ext cx="411480" cy="20116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" y="30632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20040" y="3310128"/>
            <a:ext cx="8503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$turno = "manha";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($turno)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"manha":  echo "Turno A — 06:00 às 14:00"; break;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"tarde":  echo "Turno B — 14:00 às 22:00"; break;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"noite":  echo "Turno C — 22:00 às 06:00"; break;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default:       echo "Turno inválido";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Laço de Repetição — for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4206240" cy="182880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" y="107899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do for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408176"/>
            <a:ext cx="39867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(início; condição; incremento)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iterações conhecido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percorrer sequências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começa normalmente em 0 ou 1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decrementar: $i--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251960" cy="182880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73168" y="107899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Industrial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73168" y="1408176"/>
            <a:ext cx="40325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100 peças de uma linha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relatório de N turnos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Somar produção de cada operador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média de temperatura horária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Processar lotes de produtos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926080"/>
            <a:ext cx="8686800" cy="173736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" y="2971800"/>
            <a:ext cx="411480" cy="20116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" y="29718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20040" y="3218688"/>
            <a:ext cx="8503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$total = 0;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$pecas = [42, 38, 55, 47, 51]; // produção por hora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($i = 0; $i &lt; count($pecas); $i++)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$total += $pecas[$i];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 "Hora $i: " . $pecas[$i] . " peças\n";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"Total produzido: $total peças";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🔂  Laços while e do...while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4206240" cy="210312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" y="107899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408176"/>
            <a:ext cx="398678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ENQUANTO condição for verdadeira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ANTES de executar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não executar nenhuma vez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Uso: leitura de sensores contínua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com loop infinito!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251960" cy="210312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73168" y="107899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do...while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73168" y="1408176"/>
            <a:ext cx="40325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PELO MENOS uma vez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a condição DEPOIS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para menus e validações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Uso: aguardar sinal de máquina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 execução inicial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3200400"/>
            <a:ext cx="8686800" cy="146304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" y="3246120"/>
            <a:ext cx="411480" cy="20116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" y="32461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20040" y="3493008"/>
            <a:ext cx="8503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$nivel_tanque = 80; // em 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($nivel_tanque &gt; 20)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 "Nível OK: $nivel_tanque%\n";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$nivel_tanque -= 15; // simula consumo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"ALERTA: Nível crítico! Reabastecer.";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Arrays em PHP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2743200" cy="329184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" y="107899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Indexado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408176"/>
            <a:ext cx="252374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numérico, começa em 0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$maquinas = ["Torno","Fresa","CNC"]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$maquinas[0] = "Torno"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count($arr) retorna tamanho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array_push() adiciona ao fim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005840"/>
            <a:ext cx="2743200" cy="3291840"/>
          </a:xfrm>
          <a:prstGeom prst="rect">
            <a:avLst/>
          </a:prstGeom>
          <a:solidFill>
            <a:srgbClr val="FFF8E1"/>
          </a:solidFill>
          <a:ln w="19050">
            <a:solidFill>
              <a:srgbClr val="E6510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55848" y="107899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Associativo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55848" y="1408176"/>
            <a:ext cx="252374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é uma string (chave)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$prod = ["nome"=&gt;"Parafuso"]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$prod["nome"] = "Parafuso"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array_keys() retorna as chaves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representar objetos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1005840"/>
            <a:ext cx="2743200" cy="329184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81928" y="107899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de Array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81928" y="1408176"/>
            <a:ext cx="252374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sort() / rsort() — ordena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array_merge() — une arrays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in_array(v, $arr) — busca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array_slice() — fatia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foreach para percorrer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🔃  Laço foreach — Percorrendo Arrays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4206240" cy="201168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" y="107899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 do foreach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408176"/>
            <a:ext cx="39867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foreach ($array as $valor)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foreach ($array as $chave =&gt; $valor)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arrays indexados e associativos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precisa de contador manual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legível que o laço for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251960" cy="201168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73168" y="107899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Industrial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73168" y="1408176"/>
            <a:ext cx="40325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todas as máquinas em manutenção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etiquetas de produtos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custo de materiais de uma OP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status de sensores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Imprimir relatório de turnos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3108960"/>
            <a:ext cx="8686800" cy="155448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" y="3154680"/>
            <a:ext cx="411480" cy="20116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" y="315468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20040" y="3401568"/>
            <a:ext cx="8503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$estoque = ["Parafuso" =&gt; 500, "Porca" =&gt; 320, "Arruela" =&gt; 750];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 ($estoque as $produto =&gt; $quantidade)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($quantidade &lt; 400)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echo "REPOSIÇÃO: $produto — apenas $quantidade unidades\n";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Funções — Conceito e Declaração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são blocos de código reutilizáveis que executam uma tarefa específica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1371600"/>
            <a:ext cx="4206240" cy="196596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" y="144475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usar Funções?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" y="1773936"/>
            <a:ext cx="39867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repetição de código (DRY)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manutenção e testes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problema em partes menores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 a legibilidade do código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reutilização entre projetos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4251960" cy="196596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73168" y="144475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 de uma Função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73168" y="1773936"/>
            <a:ext cx="40325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Palavra-chave function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descritivo (camelCase ou snake_case)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entre parênteses ()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 entre chaves { }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Instrução return (opcional)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3429000"/>
            <a:ext cx="8686800" cy="123444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1752" y="3474720"/>
            <a:ext cx="411480" cy="20116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" y="34747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20040" y="3721608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calcularImposto(float $valor, float $taxa): float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$valor * $taxa;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calcularImposto(1000.0, 0.12); // 120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Parâmetros de Funções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4206240" cy="228600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" y="107899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Parâmetros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408176"/>
            <a:ext cx="39867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obrigatórios: sem valor padrão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opcionais: com valor default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hints: int, float, string, bool, array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 por referência: &amp;$variavel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operator: ...$itens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251960" cy="228600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73168" y="107899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73168" y="1408176"/>
            <a:ext cx="403250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3-4 parâmetros por função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type hints sempre (strict_types)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opcionais sempre ao final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Nomear parâmetros de forma clara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com PHPDoc quando necessário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3383280"/>
            <a:ext cx="8686800" cy="132588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" y="3429000"/>
            <a:ext cx="411480" cy="20116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" y="34290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20040" y="3675888"/>
            <a:ext cx="8503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Parâmetro obrigatório + opcional com default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registrarPeca(string $codigo, int $quantidade = 1): string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"Peça $codigo registrada: $quantidade unidade(s)";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registrarPeca("P-001");       // usa default: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registrarPeca("P-002", 50);  // 50 unidades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Retorno de Funções — return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4206240" cy="219456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" y="107899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Retorno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408176"/>
            <a:ext cx="39867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float, string, bool, array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— quando não retorna nada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?string — nullable (null ou string)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— qualquer tipo (evitar)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podem retornar arrays e objetos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251960" cy="219456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73168" y="107899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Múltiplo via Array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73168" y="1408176"/>
            <a:ext cx="40325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não suporta múltiplos returns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Solução: retornar array associativo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list() ou destructuring para receber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 sucesso/erro + dado juntos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Padrão: ["ok" =&gt; true, "valor" =&gt; 42]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3291840"/>
            <a:ext cx="8686800" cy="137160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" y="3337560"/>
            <a:ext cx="411480" cy="20116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" y="333756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20040" y="3584448"/>
            <a:ext cx="8503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dividir(float $a, float $b): array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($b === 0.0) return ["ok" =&gt; false, "erro" =&gt; "Divisão por zero"];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["ok" =&gt; true, "resultado" =&gt; $a / $b];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$r = dividir(10, 2);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($r["ok"]) echo "Resultado: " . $r["resultado"]; // 5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 Escopo de Variáveis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4206240" cy="228600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" y="107899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Local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408176"/>
            <a:ext cx="39867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Variável existe só dentro da função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Criada ao entrar, destruída ao sair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não acessam variáveis externas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são variáveis locais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efeitos colaterais indesejados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251960" cy="228600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73168" y="107899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Global e static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73168" y="1408176"/>
            <a:ext cx="403250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$var — acessa variável global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$GLOBALS['var'] — array superglobal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$cont — persiste entre chamadas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Constantes são sempre globais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 global — prefira parâmetros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3383280"/>
            <a:ext cx="8686800" cy="128016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" y="3429000"/>
            <a:ext cx="411480" cy="20116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" y="34290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20040" y="3675888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$contador = 0; // global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incrementar(): void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global $contador;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$contador++;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incrementar(); incrementar();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$contador; // 2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🧰  Funções Nativas do PHP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2743200" cy="324612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" y="107899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408176"/>
            <a:ext cx="25237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abs($n) — valor absoluto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round($n, 2) — arredondar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ceil($n) — teto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floor($n) — piso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max($a,$b) / min($a,$b)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72968" y="1005840"/>
            <a:ext cx="2743200" cy="324612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82696" y="107899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82696" y="1408176"/>
            <a:ext cx="25237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strlen($s) — tamanho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strtolower($s)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str_contains($s,$sub)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number_format($n,2,',','.')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sprintf('R$ %.2f', $v)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17336" y="1005840"/>
            <a:ext cx="2743200" cy="3246120"/>
          </a:xfrm>
          <a:prstGeom prst="rect">
            <a:avLst/>
          </a:prstGeom>
          <a:solidFill>
            <a:srgbClr val="FFF8E1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27064" y="107899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Data/Hora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27064" y="1408176"/>
            <a:ext cx="25237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date('d/m/Y') — data atual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time() — timestamp Unix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strtotime('next monday')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date_diff() — diferença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mktime() — criar timestamp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Funções Recursivas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4206240" cy="219456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" y="107899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Recursão?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408176"/>
            <a:ext cx="39867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que chama a si mesma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de um caso base (parada)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chamada resolve uma versão menor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Pilha de chamadas — cuidado com profundidade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PHP: limite padrão recursão = 100-500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251960" cy="219456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73168" y="107899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73168" y="1408176"/>
            <a:ext cx="40325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em árvore (categorias, BOM)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Fatorial, Fibonacci (exemplos didáticos)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Percorrer estruturas hierárquicas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de soma de partes de produto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Prefira loops quando possível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3291840"/>
            <a:ext cx="8686800" cy="137160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" y="3337560"/>
            <a:ext cx="411480" cy="20116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" y="333756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20040" y="3584448"/>
            <a:ext cx="8503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fatorial(int $n): int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($n &lt;= 1) return 1;      // caso base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$n * fatorial($n - 1); // chamada recursiva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fatorial(5); // 120  →  5 × 4 × 3 × 2 × 1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Tratamento de Erros — try/catch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4206240" cy="205740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" y="107899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Exceções em PHP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408176"/>
            <a:ext cx="39867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{ } — código que pode falhar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(Exception $e) — captura erro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 { } — executa sempre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 new Exception('msg') — lança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Hierarquia: Exception, RuntimeException...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251960" cy="205740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73168" y="107899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73168" y="1408176"/>
            <a:ext cx="4032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engolir exceção silenciosamente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Logar o erro: error_log($e-&gt;getMessage())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exceções específicas para cada tipo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entrada antes de processar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de erro clara ao usuário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3154680"/>
            <a:ext cx="8686800" cy="150876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" y="3200400"/>
            <a:ext cx="411480" cy="20116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" y="32004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20040" y="3447288"/>
            <a:ext cx="8503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dividir(float $a, float $b): float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($b === 0.0) throw new InvalidArgumentException("Divisor não pode ser zero");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$a / $b;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 dividir(10, 0);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catch (InvalidArgumentException $e)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 "Erro: " . $e-&gt;getMessage();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Entrada de Dados — $_GET e $_POST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4206240" cy="219456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" y="107899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$_GET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408176"/>
            <a:ext cx="39867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enviados via URL (query string)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Visível na URL — não usar para senhas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filtros, buscas, paginação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Acesso: $_GET['parametro']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sanitizar com htmlspecialchars()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251960" cy="219456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73168" y="107899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$_POST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73168" y="1408176"/>
            <a:ext cx="40325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enviados pelo corpo da requisição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visível na URL — mais seguro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em formulários e cadastros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Acesso: $_POST['campo']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 sanitizar SEMPRE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3291840"/>
            <a:ext cx="8686800" cy="137160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" y="3337560"/>
            <a:ext cx="411480" cy="20116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" y="333756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20040" y="3584448"/>
            <a:ext cx="8503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URL: sistema.php?maquina=CNC01&amp;setor=usinagem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$maquina = htmlspecialchars($_GET["maquina"] ?? "");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$setor   = htmlspecialchars($_GET["setor"]   ?? "");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($maquina !== "")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 "Consultando máquina: $maquina | Setor: $setor";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Boas Práticas de Código PHP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2743200" cy="324612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" y="107899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Nomenclatura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408176"/>
            <a:ext cx="25237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camelCase para funções e variáveis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PascalCase para classes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MAIÚSCULO para constantes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Nomes descritivos (não: $x, $tmp)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72968" y="1005840"/>
            <a:ext cx="2743200" cy="324612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82696" y="107899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82696" y="1408176"/>
            <a:ext cx="25237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responsabilidade por função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20-30 linhas por função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usar strict_types=1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funções sem return type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17336" y="1005840"/>
            <a:ext cx="2743200" cy="324612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27064" y="107899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27064" y="1408176"/>
            <a:ext cx="25237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toda entrada do usuário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prepared statements no BD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exibir erros em produção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htmlspecialchars() para saída HTML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8600" y="43708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"Código limpo é código que foi escrito por alguém que se importa." — Robert C. Martin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Saída de Dados — echo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echo é o principal comando para exibir informações na tela em PHP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1371600"/>
            <a:ext cx="4206240" cy="210312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" y="144475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do echo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" y="1773936"/>
            <a:ext cx="398678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uma função — é um construtor de linguagem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precisa de parênteses (mas aceita)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receber múltiplos argumentos separados por vírgula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retorna valor (não pode ser usado em expressões)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Ligeiramente mais rápido que print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4251960" cy="210312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73168" y="144475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vs print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73168" y="1773936"/>
            <a:ext cx="40325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aceita apenas 1 argumento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retorna sempre 1 (pode usar em expr.)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aceita múltiplos argumentos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exibem texto no output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Preferência: echo é mais utilizado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3566160"/>
            <a:ext cx="8686800" cy="109728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1752" y="3611880"/>
            <a:ext cx="411480" cy="20116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" y="361188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20040" y="3858768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"Olá, Mundo!";                  // forma mais comum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echo("Olá com parênteses");            // também válido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"Nome: ", "João", " | Idade: ", 25; // múltiplos args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"Usando print";                  // equivalente (1 arg)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echo — Variáveis e Interpolação de Strings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4206240" cy="214884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" y="107899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Interpolação (aspas duplas)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408176"/>
            <a:ext cx="3986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são substituídas pelo valor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legível para strings com variáveis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Suporta expressões simples com {}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"Olá, $nome!";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"Total: {$arr['total']}";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251960" cy="214884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73168" y="107899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Concatenação (aspas simples)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73168" y="1408176"/>
            <a:ext cx="40325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Aspas simples: texto literal, sem interpolação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Concatenação com o operador ponto  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quando a string tem muitas aspas duplas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'Olá, ' . $nome . '!';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Ligeiramente mais eficiente em strings puras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3246120"/>
            <a:ext cx="8686800" cy="141732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" y="3291840"/>
            <a:ext cx="411480" cy="20116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" y="32918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20040" y="3538728"/>
            <a:ext cx="8503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$produto = "Parafuso M8";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$preco   = 2.50;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$qtd     = 100;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"Produto: $produto — Preço: R$ $preco — Qtd: $qtd \n";   // interpolação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'Produto: ' . $produto . ' — Preço: R$ ' . $preco . "\n"; // concatenação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"Subtotal: R$ " . ($preco * $qtd);                          // R$ 250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echo — Saída com HTML e Formatação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4206240" cy="201168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" y="107899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com HTML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408176"/>
            <a:ext cx="39867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pode gerar HTML dinamicamente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Mistura echo com tags HTML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\n para nova linha no HTML fonte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&lt;br&gt; para quebra visível no browser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gerar tabelas, listas, formulários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251960" cy="201168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73168" y="107899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de Formatação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73168" y="1408176"/>
            <a:ext cx="40325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number_format(1234.5, 2, ',', '.') → 1.234,50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sprintf('R$ %.2f', 9.9) → R$ 9,90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printf() — exibe e formata direto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nl2br() — converte \n em &lt;br&gt;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wordwrap() — quebra texto em N chars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3108960"/>
            <a:ext cx="8686800" cy="155448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" y="3154680"/>
            <a:ext cx="411480" cy="20116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" y="315468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20040" y="3401568"/>
            <a:ext cx="8503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$maquinas = ["Torno CNC", "Fresa", "Retífica"];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"&lt;ul&gt;\n";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 ($maquinas as $m)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 "  &lt;li&gt;" . $m . "&lt;/li&gt;\n";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"&lt;/ul&gt;\n";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$valor = 15890.5;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"Valor: R$ " . number_format($valor, 2, ",", "."); // R$ 15.890,50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⌨️  echo — Caracteres de Escape e Especiais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4206240" cy="32004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9601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Sequência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17320" y="960120"/>
            <a:ext cx="30175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Significado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1298448"/>
            <a:ext cx="4206240" cy="320040"/>
          </a:xfrm>
          <a:prstGeom prst="rect">
            <a:avLst/>
          </a:prstGeom>
          <a:solidFill>
            <a:srgbClr val="E8F0FE"/>
          </a:solidFill>
          <a:ln w="6350">
            <a:solidFill>
              <a:srgbClr val="D0D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2984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17320" y="1298448"/>
            <a:ext cx="30175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linha (line feed)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1618488"/>
            <a:ext cx="42062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16184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17320" y="1618488"/>
            <a:ext cx="30175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Tabulação horizontal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1938528"/>
            <a:ext cx="4206240" cy="320040"/>
          </a:xfrm>
          <a:prstGeom prst="rect">
            <a:avLst/>
          </a:prstGeom>
          <a:solidFill>
            <a:srgbClr val="E8F0FE"/>
          </a:solidFill>
          <a:ln w="6350">
            <a:solidFill>
              <a:srgbClr val="D0D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19385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17320" y="1938528"/>
            <a:ext cx="30175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de carro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2258568"/>
            <a:ext cx="42062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22585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\\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17320" y="2258568"/>
            <a:ext cx="30175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invertida literal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" y="2578608"/>
            <a:ext cx="4206240" cy="320040"/>
          </a:xfrm>
          <a:prstGeom prst="rect">
            <a:avLst/>
          </a:prstGeom>
          <a:solidFill>
            <a:srgbClr val="E8F0FE"/>
          </a:solidFill>
          <a:ln w="6350">
            <a:solidFill>
              <a:srgbClr val="D0D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25786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\"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417320" y="2578608"/>
            <a:ext cx="30175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Aspas duplas dentro de string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8600" y="2898648"/>
            <a:ext cx="42062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28986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\'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417320" y="2898648"/>
            <a:ext cx="30175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Apóstrofo dentro de aspas simples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3218688"/>
            <a:ext cx="4206240" cy="320040"/>
          </a:xfrm>
          <a:prstGeom prst="rect">
            <a:avLst/>
          </a:prstGeom>
          <a:solidFill>
            <a:srgbClr val="E8F0FE"/>
          </a:solidFill>
          <a:ln w="6350">
            <a:solidFill>
              <a:srgbClr val="D0D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32186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\$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417320" y="3218688"/>
            <a:ext cx="30175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Cifrão literal (não interpola)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28600" y="3538728"/>
            <a:ext cx="42062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35387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417320" y="3538728"/>
            <a:ext cx="30175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Caractere nulo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960120"/>
            <a:ext cx="4251960" cy="374904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36592" y="1005840"/>
            <a:ext cx="411480" cy="20116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36592" y="10058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754880" y="1252728"/>
            <a:ext cx="4069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Exemplos práticos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"Linha 1\nLinha 2\n";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"Col1\tCol2\tCol3\n";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"Preço: R\$ 29,90\n";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"Ele disse \"olá\"\n";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'Caminho: C:\\pasta\\arq';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Heredoc (sem escape)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&lt;&lt;&lt;EOT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Texto com "aspas" e $var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Linha 2 com \t tab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EOT;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Nowdoc (literal, sem interpolação)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&lt;&lt;&lt;'EOT'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Texto 100% literal $nao_interpola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EOT;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echo — Combinando com Estruturas de Controle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4206240" cy="182880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" y="107899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dentro de condicionais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408176"/>
            <a:ext cx="39867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dentro de if/else para saída condicional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 ternário: echo cond ? 'A' : 'B'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coalescing: echo $v ?? 'padrão'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com echo para saídas múltiplas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251960" cy="182880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73168" y="107899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dentro de laços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73168" y="1408176"/>
            <a:ext cx="40325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listas HTML com for/foreach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tabelas dinamicamente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Acumular em $buffer = '' antes de exibir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ob_start() para buffer de saída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926080"/>
            <a:ext cx="8686800" cy="173736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" y="2971800"/>
            <a:ext cx="411480" cy="20116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" y="29718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20040" y="3218688"/>
            <a:ext cx="8503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$pecas = ["P-001" =&gt; 450, "P-002" =&gt; 12, "P-003" =&gt; 300];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"&lt;table border='1'&gt;\n";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  &lt;tr&gt;&lt;th&gt;Código&lt;/th&gt;&lt;th&gt;Estoque&lt;/th&gt;&lt;th&gt;Status&lt;/th&gt;&lt;/tr&gt;\n";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 ($pecas as $cod =&gt; $qtd)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$status = $qtd &lt; 50 ? "⚠️ BAIXO" : "✅ OK";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 "  &lt;tr&gt;&lt;td&gt;$cod&lt;/td&gt;&lt;td&gt;$qtd&lt;/td&gt;&lt;td&gt;$status&lt;/td&gt;&lt;/tr&gt;\n";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"&lt;/table&gt;";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Programação de Aplicativos — PHP</dc:title>
  <dc:subject>PptxGenJS Presentation</dc:subject>
  <dc:creator>PptxGenJS</dc:creator>
  <cp:lastModifiedBy>PptxGenJS</cp:lastModifiedBy>
  <cp:revision>1</cp:revision>
  <dcterms:created xsi:type="dcterms:W3CDTF">2026-03-10T11:08:12Z</dcterms:created>
  <dcterms:modified xsi:type="dcterms:W3CDTF">2026-03-10T11:08:12Z</dcterms:modified>
</cp:coreProperties>
</file>