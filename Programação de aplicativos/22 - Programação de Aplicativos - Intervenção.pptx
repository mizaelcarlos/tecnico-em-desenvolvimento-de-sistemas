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62179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- Intervenção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0" y="3246120"/>
            <a:ext cx="7040880" cy="105156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7" name="Shape 5"/>
          <p:cNvSpPr/>
          <p:nvPr/>
        </p:nvSpPr>
        <p:spPr>
          <a:xfrm>
            <a:off x="0" y="324612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456432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Mizael Carlos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7040880" cy="123444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6324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· Formulários · Tabelas · Links · Semântica · Multimídia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O que é HTML e Estrutura Básica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(HyperText Markup Language) é a linguagem de marcação padrão para páginas web — não é linguagem de programação.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29768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417320"/>
            <a:ext cx="42976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481328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Anatomia do Documento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883664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8366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011680" y="18836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ao navegador que é HTML5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2231136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31136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11680" y="223113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 raiz — engloba tudo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02920" y="2578608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78608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011680" y="2578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Metadados: título, charset, CSS/JS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2926080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26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&lt;meta charset&gt;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201168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codificação UTF-8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3273552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2735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&lt;title&gt;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011680" y="3273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da aba do navegador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3621024"/>
            <a:ext cx="146304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621024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011680" y="36210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visível ao usuário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846320" y="1417320"/>
            <a:ext cx="3886200" cy="324612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83480" y="1527048"/>
            <a:ext cx="3611880" cy="3026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 lang="pt-BR"&gt;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&lt;head&gt;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charset="UTF-8"&gt;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&lt;meta name="viewport"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content="width=device-width"&gt;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&lt;title&gt;Minha Página&lt;/title&gt;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&lt;/head&gt;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&lt;h1&gt;Olá, Mundo!&lt;/h1&gt;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&lt;p&gt;Meu primeiro conteúdo.&lt;/p&gt;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Tags Essenciais de HTML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19019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a h6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572768"/>
            <a:ext cx="4023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&lt;h1&gt; a &lt;h6&gt; — títulos hierárquicos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apenas 1 &lt;h1&gt; por página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 para SEO e acessibilidade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0060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914400"/>
            <a:ext cx="54864" cy="19019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e Formatação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13258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tags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572768"/>
            <a:ext cx="4023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&lt;p&gt; parágrafo | &lt;br&gt; quebra de linha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&lt;strong&gt; negrito | &lt;em&gt; itálico semântico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&lt;mark&gt; destaque | &lt;code&gt; código inline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2926080"/>
            <a:ext cx="54864" cy="190195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 / ol / dl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3584448"/>
            <a:ext cx="4023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&lt;ul&gt; lista não-ordenada (bullets)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&lt;ol&gt; lista ordenada (números)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&lt;li&gt; item | &lt;dl&gt;&lt;dt&gt;&lt;dd&gt; definições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0600" y="2926080"/>
            <a:ext cx="54864" cy="19019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Links e Imagens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937760" y="333756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/ img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3584448"/>
            <a:ext cx="4023360" cy="11521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 href='url'&gt; — hiperlink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target='_blank' abre em nova aba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&lt;img src='' alt=''&gt; — sempre use alt!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Formulários HTML — Inputs e Controles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8620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action="salvar.php" method="POST"&gt;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Texto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name="nome"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placeholder="Seu nome" required&gt;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E-mail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type="email" name="email"&gt;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Senha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type="password" name="senha"&gt;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Seleção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name="status"&gt;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value="ativo"&gt;Ativo&lt;/option&gt;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value="inativo"&gt;Inativo&lt;/option&gt;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Área de texto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&lt;textarea name="obs" rows="4"&gt;&lt;/textarea&gt;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&lt;!-- Envio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type="submit"&gt;Salvar&lt;/button&gt;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Input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1389888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38988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type="text"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92240" y="1389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texto livre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714500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71450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type="email"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92240" y="17145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formato de e-mail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00600" y="2039112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03911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type="number"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92240" y="20391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valores numéricos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363724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236372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type="date"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92240" y="236372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Seletor de data nativo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688336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5" name="Text 23"/>
          <p:cNvSpPr/>
          <p:nvPr/>
        </p:nvSpPr>
        <p:spPr>
          <a:xfrm>
            <a:off x="4800600" y="268833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type="file"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492240" y="268833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arquivos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00600" y="3012948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01294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type="radio"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492240" y="301294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única em grupo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337560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333756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type="checkbox"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92240" y="333756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Múltipla seleção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00600" y="3662172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4" name="Text 32"/>
          <p:cNvSpPr/>
          <p:nvPr/>
        </p:nvSpPr>
        <p:spPr>
          <a:xfrm>
            <a:off x="4800600" y="366217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&lt;select&gt;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492240" y="36621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suspensa de opções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986784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98678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&lt;textarea&gt;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492240" y="3986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multilinha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4311396"/>
            <a:ext cx="16459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4311396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required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92240" y="43113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obrigatório (HTML5)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HTML Semântico e Tabelas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416052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Semânticas (HTML5)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389888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38988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&lt;header&gt;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920240" y="138988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da página ou seção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1719072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171907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&lt;nav&gt;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920240" y="171907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de navegação / menus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2048256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048256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&lt;main&gt;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920240" y="2048256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principal da página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377440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237744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&lt;section&gt;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920240" y="2377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temática de conteúdo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706624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2706624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&lt;article&gt;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920240" y="2706624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independente / post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035808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035808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&lt;aside&gt;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920240" y="3035808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Barra lateral ou complemento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" y="3364992"/>
            <a:ext cx="1417320" cy="25603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364992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&lt;footer&gt;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20240" y="336499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Rodapé da página ou seção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3" name="Text 31"/>
          <p:cNvSpPr/>
          <p:nvPr/>
        </p:nvSpPr>
        <p:spPr>
          <a:xfrm>
            <a:off x="480060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Tabelas HTML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800600" y="1389888"/>
            <a:ext cx="3840480" cy="19202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1499616"/>
            <a:ext cx="356616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&lt;thead&gt;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&lt;th&gt;ID&lt;/th&gt;&lt;th&gt;Nome&lt;/th&gt;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&lt;/thead&gt;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&lt;td&gt;1&lt;/td&gt;&lt;td&gt;Torno CNC&lt;/td&gt;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800600" y="3346704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34670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&lt;table&gt;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943600" y="3346704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da tabela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557016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40" name="Text 38"/>
          <p:cNvSpPr/>
          <p:nvPr/>
        </p:nvSpPr>
        <p:spPr>
          <a:xfrm>
            <a:off x="4800600" y="3557016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&lt;thead&gt;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943600" y="3557016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800600" y="3767328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43" name="Text 41"/>
          <p:cNvSpPr/>
          <p:nvPr/>
        </p:nvSpPr>
        <p:spPr>
          <a:xfrm>
            <a:off x="4800600" y="3767328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&lt;tbody&gt;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943600" y="3767328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 de dados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00600" y="3977640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46" name="Text 44"/>
          <p:cNvSpPr/>
          <p:nvPr/>
        </p:nvSpPr>
        <p:spPr>
          <a:xfrm>
            <a:off x="4800600" y="3977640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&lt;tr&gt;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943600" y="3977640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800600" y="4187952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49" name="Text 47"/>
          <p:cNvSpPr/>
          <p:nvPr/>
        </p:nvSpPr>
        <p:spPr>
          <a:xfrm>
            <a:off x="4800600" y="4187952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&lt;th&gt;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943600" y="4187952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cabeçalho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800600" y="4398264"/>
            <a:ext cx="1097280" cy="164592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52" name="Text 50"/>
          <p:cNvSpPr/>
          <p:nvPr/>
        </p:nvSpPr>
        <p:spPr>
          <a:xfrm>
            <a:off x="4800600" y="4398264"/>
            <a:ext cx="10972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CB5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&lt;td&gt;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5943600" y="4398264"/>
            <a:ext cx="2697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Célula dado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As Três Camadas da Web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site é construído sobre três tecnologias complementares que trabalham juntas: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4320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27432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Shape 8"/>
          <p:cNvSpPr/>
          <p:nvPr/>
        </p:nvSpPr>
        <p:spPr>
          <a:xfrm>
            <a:off x="1234440" y="1572768"/>
            <a:ext cx="914400" cy="9144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123444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 Conteúdo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9718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o que existe na página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Tags, textos, imagens, formulários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marcação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index.html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HTML não há página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46120" y="1417320"/>
            <a:ext cx="274320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1417320"/>
            <a:ext cx="2743200" cy="5486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16" name="Shape 14"/>
          <p:cNvSpPr/>
          <p:nvPr/>
        </p:nvSpPr>
        <p:spPr>
          <a:xfrm>
            <a:off x="4160520" y="1572768"/>
            <a:ext cx="914400" cy="91440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17" name="Text 15"/>
          <p:cNvSpPr/>
          <p:nvPr/>
        </p:nvSpPr>
        <p:spPr>
          <a:xfrm>
            <a:off x="416052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37560" y="2578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Estilo e Aparência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9718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os elementos se parecem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Cores, fontes, espaçamentos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Layouts responsivos (Flexbox/Grid)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style.css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CSS a página é sem estilo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1417320"/>
            <a:ext cx="274320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172200" y="1417320"/>
            <a:ext cx="27432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086600" y="1572768"/>
            <a:ext cx="914400" cy="9144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3" name="Text 21"/>
          <p:cNvSpPr/>
          <p:nvPr/>
        </p:nvSpPr>
        <p:spPr>
          <a:xfrm>
            <a:off x="7086600" y="1572768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6263640" y="25786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Comportamento e Interação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2971800"/>
            <a:ext cx="246888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página faz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Eventos, animações, dados dinâmicos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APIs e AJAX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Arquivo: script.js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JS a página é estática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Linguagem PHP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7040880" cy="123444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6324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História · Sintaxe · Server-Side · Mercado de Trabalho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O que é PHP — História e Evolução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(PHP: Hypertext Preprocessor) é uma linguagem de programação de script, voltada principalmente para o desenvolvimento web do lado do servidor (server-side).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206240" cy="315468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420624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581912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920240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92024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417320" y="19202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Rasmus Lerdorf cria o PHP/FI (Personal Home Page)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02920" y="2267712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2677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417320" y="226771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público como PHP/FI 2</a:t>
            </a:r>
            <a:endParaRPr lang="en-US" sz="930" dirty="0"/>
          </a:p>
        </p:txBody>
      </p:sp>
      <p:sp>
        <p:nvSpPr>
          <p:cNvPr id="17" name="Shape 15"/>
          <p:cNvSpPr/>
          <p:nvPr/>
        </p:nvSpPr>
        <p:spPr>
          <a:xfrm>
            <a:off x="502920" y="2615184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61518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417320" y="261518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3 — reescrito, ganha popularidade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2962656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62656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417320" y="296265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4 — motor Zend Engine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502920" y="3310128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310128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2004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417320" y="3310128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5 — OOP completa (classes, interfaces)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02920" y="3657600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41732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7 — grande salto de performance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502920" y="4005072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" y="40050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417320" y="400507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 — JIT Compiler, Union Types, Attributes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502920" y="4352544"/>
            <a:ext cx="82296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35254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2024+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17320" y="43525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8.3/8.4 — tipagem cada vez mais forte</a:t>
            </a:r>
            <a:endParaRPr lang="en-US" sz="930" dirty="0"/>
          </a:p>
        </p:txBody>
      </p:sp>
      <p:sp>
        <p:nvSpPr>
          <p:cNvPr id="35" name="Shape 33"/>
          <p:cNvSpPr/>
          <p:nvPr/>
        </p:nvSpPr>
        <p:spPr>
          <a:xfrm>
            <a:off x="4709160" y="1508760"/>
            <a:ext cx="4069080" cy="315468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508760"/>
            <a:ext cx="54864" cy="31546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37" name="Text 35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Hoje (Versão Atual)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4846320" y="1965960"/>
            <a:ext cx="384048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8.3 / 8.4 são as versões estáveis atuais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forte opcional (declare strict_types)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via JIT (Just-In-Time Compiler)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Enums nativos, Readonly properties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Mantido pela comunidade open-source (PHP Group)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por WordPress, Facebook (HHVM), Wikipedia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frameworks modernos: Laravel, Symfony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  Tags Delimitadoras e Sintaxe Básica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8620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Tag padrão (recomendada)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"Olá, mundo!";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Misturando PHP com HTML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&lt;h1&gt;&lt;?php echo "Título Dinâmico"; ?&gt;&lt;/h1&gt;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&lt;p&gt;Hoje é &lt;?= date("d/m/Y") ?&gt;&lt;/p&gt;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Tag curta de echo (atalho)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&lt;?= $variavel ?&gt;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equivale a &lt;?php echo $variavel; ?&gt; --&gt;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Tags REMOVIDAS do PHP moderno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 echo "antiga tag curta"; ?&gt;     &lt;!-- ❌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&lt;% echo "estilo ASP"; %&gt;           &lt;!-- ❌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&lt;script language="php"&gt; ?&gt;         &lt;!-- ❌ --&gt;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914400"/>
            <a:ext cx="54864" cy="3749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de Sintaxe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use &lt;?php ... ?&gt; (tag completa)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&lt;?= ?&gt; é seguro para impressão rápida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curtas &lt;? ?&gt; foram descontinuadas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instrução termina com ponto e vírgula ;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Comentários: // , # ou /* bloco */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sempre começam com $ (cifrão)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é case-sensitive em variáveis, não em funções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Linguagem Server-Side — Como Funciona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é executado no SERVIDOR, não no navegador do usuário. O navegador recebe apenas o resultado em HTML puro.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463040"/>
            <a:ext cx="777240" cy="77724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65760" y="2395728"/>
            <a:ext cx="1627632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2395728"/>
            <a:ext cx="1627632" cy="4572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248716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faz requisição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38912" y="303580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acessa pagina.php via HTTP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523744" y="1463040"/>
            <a:ext cx="777240" cy="77724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15" name="Text 13"/>
          <p:cNvSpPr/>
          <p:nvPr/>
        </p:nvSpPr>
        <p:spPr>
          <a:xfrm>
            <a:off x="2523744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2066544" y="2395728"/>
            <a:ext cx="1627632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66544" y="2395728"/>
            <a:ext cx="1627632" cy="45720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8" name="Text 16"/>
          <p:cNvSpPr/>
          <p:nvPr/>
        </p:nvSpPr>
        <p:spPr>
          <a:xfrm>
            <a:off x="2139696" y="248716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recebe e executa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139696" y="303580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Apache/Nginx envia para o interpretador PHP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24528" y="1463040"/>
            <a:ext cx="777240" cy="77724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4224528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3767328" y="2395728"/>
            <a:ext cx="1627632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67328" y="2395728"/>
            <a:ext cx="1627632" cy="4572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248716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processa o código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40480" y="303580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banco, calcula, monta lógica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463040"/>
            <a:ext cx="777240" cy="77724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27" name="Text 25"/>
          <p:cNvSpPr/>
          <p:nvPr/>
        </p:nvSpPr>
        <p:spPr>
          <a:xfrm>
            <a:off x="5925312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5468112" y="2395728"/>
            <a:ext cx="1627632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68112" y="2395728"/>
            <a:ext cx="1627632" cy="45720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30" name="Text 28"/>
          <p:cNvSpPr/>
          <p:nvPr/>
        </p:nvSpPr>
        <p:spPr>
          <a:xfrm>
            <a:off x="5541264" y="248716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responde HTML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41264" y="303580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o resultado final é enviado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26096" y="1463040"/>
            <a:ext cx="777240" cy="77724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33" name="Text 31"/>
          <p:cNvSpPr/>
          <p:nvPr/>
        </p:nvSpPr>
        <p:spPr>
          <a:xfrm>
            <a:off x="7626096" y="14630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4" name="Shape 32"/>
          <p:cNvSpPr/>
          <p:nvPr/>
        </p:nvSpPr>
        <p:spPr>
          <a:xfrm>
            <a:off x="7168896" y="2395728"/>
            <a:ext cx="1627632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68896" y="2395728"/>
            <a:ext cx="1627632" cy="457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6" name="Text 34"/>
          <p:cNvSpPr/>
          <p:nvPr/>
        </p:nvSpPr>
        <p:spPr>
          <a:xfrm>
            <a:off x="7242048" y="2487168"/>
            <a:ext cx="148132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exibe a página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242048" y="3035808"/>
            <a:ext cx="148132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nunca vê o código PHP-fonte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4343400"/>
            <a:ext cx="8412480" cy="384048"/>
          </a:xfrm>
          <a:prstGeom prst="rect">
            <a:avLst/>
          </a:prstGeom>
          <a:solidFill>
            <a:srgbClr val="FFF3E0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4343400"/>
            <a:ext cx="8138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A4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Server-Side (PHP, Python, Java) processa no servidor — diferente de Client-Side (JavaScript) que roda no navegador.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💼  PHP no Mercado de Trabalho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19019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é Usado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 (~40% de todos os sites)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(origem do projeto, hoje híbrido)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Wikipedia, Slack (partes do backend)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de gestão (ERP, e-commerce)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REST para apps mobile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14400"/>
            <a:ext cx="54864" cy="19019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Frameworks Populares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— o mais popular atualmente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Symfony — robusto, usado em grandes empresas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CodeIgniter — leve e rápido de aprender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CakePHP — convenção sobre configuração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WordPress/Drupal — CMS baseados em PHP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26080"/>
            <a:ext cx="54864" cy="190195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de Carreira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Backend PHP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Desenvolvedor Full Stack (PHP + JS)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Especialista em WordPress/WooCommerce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Manutenção de sistemas legados (alta demanda)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Freelancer — grande demanda em pequenas empresas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54864" cy="19019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Aprender PHP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 suave para iniciantes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Enorme quantidade de vagas no mercado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oficial extensa e gratuita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 ativa e madura (30 anos)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Roda em qualquer hospedagem barata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 PHP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7040880" cy="123444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6324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· Objetos · Encapsulamento · Herança · Polimorfismo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O que é Orientação a Objetos?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 que organiza o código em torno de objetos — entidades do mundo real com estados (atributos) e comportamentos (métodos).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22376" y="1463040"/>
            <a:ext cx="1371600" cy="1371600"/>
          </a:xfrm>
          <a:prstGeom prst="ellipse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722376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20040" y="2907792"/>
            <a:ext cx="2057400" cy="54864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2962656"/>
            <a:ext cx="2057400" cy="1700784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Molde / Blueprint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93192" y="333756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 estrutura: quais dados e ações um objeto possui. Ex: Carro define cor, marca e acelerar().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898648" y="1463040"/>
            <a:ext cx="1371600" cy="1371600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15" name="Text 13"/>
          <p:cNvSpPr/>
          <p:nvPr/>
        </p:nvSpPr>
        <p:spPr>
          <a:xfrm>
            <a:off x="2898648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496312" y="2907792"/>
            <a:ext cx="205740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7" name="Shape 15"/>
          <p:cNvSpPr/>
          <p:nvPr/>
        </p:nvSpPr>
        <p:spPr>
          <a:xfrm>
            <a:off x="2496312" y="2962656"/>
            <a:ext cx="2057400" cy="1700784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69464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Instância Real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569464" y="333756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Exemplar concreto criado da classe. $meuCarro = new Carro() cria um objeto real em memória.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74920" y="1463040"/>
            <a:ext cx="1371600" cy="1371600"/>
          </a:xfrm>
          <a:prstGeom prst="ellipse">
            <a:avLst/>
          </a:prstGeom>
          <a:solidFill>
            <a:srgbClr val="E87722"/>
          </a:solidFill>
          <a:ln/>
        </p:spPr>
      </p:sp>
      <p:sp>
        <p:nvSpPr>
          <p:cNvPr id="21" name="Text 19"/>
          <p:cNvSpPr/>
          <p:nvPr/>
        </p:nvSpPr>
        <p:spPr>
          <a:xfrm>
            <a:off x="5074920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672584" y="2907792"/>
            <a:ext cx="20574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3" name="Shape 21"/>
          <p:cNvSpPr/>
          <p:nvPr/>
        </p:nvSpPr>
        <p:spPr>
          <a:xfrm>
            <a:off x="4672584" y="2962656"/>
            <a:ext cx="2057400" cy="1700784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45736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 Interno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5736" y="333756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Variável interna do objeto. Armazena estado: $cor = 'vermelho', $velocidade = 0.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251192" y="1463040"/>
            <a:ext cx="1371600" cy="1371600"/>
          </a:xfrm>
          <a:prstGeom prst="ellipse">
            <a:avLst/>
          </a:prstGeom>
          <a:solidFill>
            <a:srgbClr val="7B2D8B"/>
          </a:solidFill>
          <a:ln/>
        </p:spPr>
      </p:sp>
      <p:sp>
        <p:nvSpPr>
          <p:cNvPr id="27" name="Text 25"/>
          <p:cNvSpPr/>
          <p:nvPr/>
        </p:nvSpPr>
        <p:spPr>
          <a:xfrm>
            <a:off x="7251192" y="1463040"/>
            <a:ext cx="1371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848856" y="2907792"/>
            <a:ext cx="2057400" cy="54864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9" name="Shape 27"/>
          <p:cNvSpPr/>
          <p:nvPr/>
        </p:nvSpPr>
        <p:spPr>
          <a:xfrm>
            <a:off x="6848856" y="2962656"/>
            <a:ext cx="2057400" cy="1700784"/>
          </a:xfrm>
          <a:prstGeom prst="rect">
            <a:avLst/>
          </a:prstGeom>
          <a:solidFill>
            <a:srgbClr val="EAF1FA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22008" y="29992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do Objeto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22008" y="3337560"/>
            <a:ext cx="1920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Função pertencente ao objeto. Define comportamento: ligar(), acelerar(), frear().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Paradigma OOP vs Programação Procedural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374904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Procedural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0233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em funções soltas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funções ficam separados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sequência de chamadas de funções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Difícil reutilizar sem copiar código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global: variáveis compartilhadas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para scripts simples e automações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54864" cy="374904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005840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886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organizado em Classes e Objetos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e comportamento ficam juntos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entidades do mundo real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 reutilização via Herança e Interfaces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em projetos grandes e frameworks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5+ suporta OOP completa e madura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Declarando e Usando Classes em PHP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93776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466344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declare(strict_types=1);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Produto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Atributos (private = encapsulado)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$nome;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float  $preco;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$estoque;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Construtor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string $nome,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float  $preco,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   $estoque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$this-&gt;nome    = $nome;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$this-&gt;preco   = $preco;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$this-&gt;estoque = $estoque;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getNome():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$this-&gt;nome;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Setter com validação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setPreco(float $p): void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($p &lt; 0) throw new \InvalidArgumentException();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$this-&gt;preco = $p;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 = new Produto("Parafuso", 2.50, 100);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echo $p-&gt;getNome(); // Parafuso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440680" y="914400"/>
            <a:ext cx="333756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40680" y="914400"/>
            <a:ext cx="333756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1" name="Text 9"/>
          <p:cNvSpPr/>
          <p:nvPr/>
        </p:nvSpPr>
        <p:spPr>
          <a:xfrm>
            <a:off x="5577840" y="987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577840" y="1389888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3" name="Text 11"/>
          <p:cNvSpPr/>
          <p:nvPr/>
        </p:nvSpPr>
        <p:spPr>
          <a:xfrm>
            <a:off x="5577840" y="138988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PascalCase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12280" y="13898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classe: Produto, CarroEletrico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577840" y="1792224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6" name="Text 14"/>
          <p:cNvSpPr/>
          <p:nvPr/>
        </p:nvSpPr>
        <p:spPr>
          <a:xfrm>
            <a:off x="5577840" y="179222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classe/arquivo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12280" y="179222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Produto.php contém só Produto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2194560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9" name="Text 17"/>
          <p:cNvSpPr/>
          <p:nvPr/>
        </p:nvSpPr>
        <p:spPr>
          <a:xfrm>
            <a:off x="5577840" y="219456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812280" y="219456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sempre private por padrão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77840" y="2596896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0" y="2596896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12280" y="259689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tipos corretos (PHP 7+)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577840" y="2999232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0" y="299923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__construct()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812280" y="29992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 atributos obrigatoriamente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77840" y="3401568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28" name="Text 26"/>
          <p:cNvSpPr/>
          <p:nvPr/>
        </p:nvSpPr>
        <p:spPr>
          <a:xfrm>
            <a:off x="5577840" y="3401568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Getters/Setters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812280" y="3401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Controlam leitura e escrita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577840" y="3803904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1" name="Text 29"/>
          <p:cNvSpPr/>
          <p:nvPr/>
        </p:nvSpPr>
        <p:spPr>
          <a:xfrm>
            <a:off x="5577840" y="3803904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812280" y="38039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classe tem 1 responsabilidade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577840" y="4206240"/>
            <a:ext cx="1188720" cy="2926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4" name="Text 32"/>
          <p:cNvSpPr/>
          <p:nvPr/>
        </p:nvSpPr>
        <p:spPr>
          <a:xfrm>
            <a:off x="5577840" y="4206240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strict_types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12280" y="42062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estrita no topo do arquivo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Os 4 Pilares da OOP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14400"/>
            <a:ext cx="54864" cy="1901952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Encapsulamento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37160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detalhes internos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 private + getters/setters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regras de negócio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Previne estados inconsistentes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 acoplamento entre classes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914400"/>
            <a:ext cx="54864" cy="19019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0058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Herança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7160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Filha extends Pai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Filha herda membros do pai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parent:: acessa construtor do pai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= herdável, private = não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impede herança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926080"/>
            <a:ext cx="54864" cy="1901952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Polimorfismo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338328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método, respostas diferentes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hint com classe pai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Princípio de Liskov (LSP)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class força implementação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substituição de objetos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26080"/>
            <a:ext cx="4251960" cy="1901952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926080"/>
            <a:ext cx="54864" cy="1901952"/>
          </a:xfrm>
          <a:prstGeom prst="rect">
            <a:avLst/>
          </a:prstGeom>
          <a:solidFill>
            <a:srgbClr val="7B2D8B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17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402336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apenas o essencial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Ocultar complexidade interna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define contrato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 method = obrigatório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o 'o quê' do 'como'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👨‍👩‍👦  Herança e Polimorfismo — Exemplos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34340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40690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Classe pai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Animal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protected string $nome,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protected int    $idade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 {}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falar():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"...";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Herança — extends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Cachorro extends Animal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Override — sobrescreve o método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falar():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"Au au!";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Gato extends Animal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falar():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"Miau!";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Polimorfismo em ação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$animais =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Cachorro("Rex", 3),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Gato("Mimi", 2)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($animais as $a)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$a-&gt;falar(); // Au au! / Miau!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846320" y="914400"/>
            <a:ext cx="3931920" cy="182880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0" y="914400"/>
            <a:ext cx="54864" cy="18288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00584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Visibilidade na Herança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83480" y="1371600"/>
            <a:ext cx="37033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herdado, acessível de qualquer lugar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— herdado, só na hierarquia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— NÃO herdado, só na classe pai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2880360"/>
            <a:ext cx="3931920" cy="178308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6320" y="2880360"/>
            <a:ext cx="54864" cy="178308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2971800"/>
            <a:ext cx="3703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Herança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83480" y="333756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suporta herança simples (1 pai)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parent:: acessa construtor/método do pai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class impede herança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hierarquias rasas (máx. 3-4 níveis)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"Prefira composição à herança" — GoF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 PHP + MySQL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7040880" cy="123444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6324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 · Listar · Editar · Excluir · PDO · Segurança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CRUD é o conjunto de quatro operações fundamentais em qualquer sistema de banco de dados.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2011680" cy="3840480"/>
          </a:xfrm>
          <a:prstGeom prst="rect">
            <a:avLst/>
          </a:prstGeom>
          <a:solidFill>
            <a:srgbClr val="1D2F7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60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5500" dirty="0"/>
          </a:p>
        </p:txBody>
      </p:sp>
      <p:sp>
        <p:nvSpPr>
          <p:cNvPr id="7" name="Text 5"/>
          <p:cNvSpPr/>
          <p:nvPr/>
        </p:nvSpPr>
        <p:spPr>
          <a:xfrm>
            <a:off x="320040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670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Cadastrar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090672"/>
            <a:ext cx="1554480" cy="320040"/>
          </a:xfrm>
          <a:prstGeom prst="rect">
            <a:avLst/>
          </a:prstGeom>
          <a:solidFill>
            <a:srgbClr val="27AE60"/>
          </a:solidFill>
          <a:ln w="635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INSERT INTO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96312" y="822960"/>
            <a:ext cx="2011680" cy="3840480"/>
          </a:xfrm>
          <a:prstGeom prst="rect">
            <a:avLst/>
          </a:prstGeom>
          <a:solidFill>
            <a:srgbClr val="1D2F70"/>
          </a:solidFill>
          <a:ln w="12700">
            <a:solidFill>
              <a:srgbClr val="2CB5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96312" y="960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5500" dirty="0"/>
          </a:p>
        </p:txBody>
      </p:sp>
      <p:sp>
        <p:nvSpPr>
          <p:cNvPr id="13" name="Text 11"/>
          <p:cNvSpPr/>
          <p:nvPr/>
        </p:nvSpPr>
        <p:spPr>
          <a:xfrm>
            <a:off x="2496312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496312" y="2670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724912" y="3090672"/>
            <a:ext cx="1554480" cy="320040"/>
          </a:xfrm>
          <a:prstGeom prst="rect">
            <a:avLst/>
          </a:prstGeom>
          <a:solidFill>
            <a:srgbClr val="2CB5B2"/>
          </a:solidFill>
          <a:ln w="6350">
            <a:solidFill>
              <a:srgbClr val="2CB5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24912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72584" y="822960"/>
            <a:ext cx="2011680" cy="3840480"/>
          </a:xfrm>
          <a:prstGeom prst="rect">
            <a:avLst/>
          </a:prstGeom>
          <a:solidFill>
            <a:srgbClr val="1D2F7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72584" y="960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5500" dirty="0"/>
          </a:p>
        </p:txBody>
      </p:sp>
      <p:sp>
        <p:nvSpPr>
          <p:cNvPr id="19" name="Text 17"/>
          <p:cNvSpPr/>
          <p:nvPr/>
        </p:nvSpPr>
        <p:spPr>
          <a:xfrm>
            <a:off x="4672584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72584" y="2670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Editar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01184" y="3090672"/>
            <a:ext cx="1554480" cy="320040"/>
          </a:xfrm>
          <a:prstGeom prst="rect">
            <a:avLst/>
          </a:prstGeom>
          <a:solidFill>
            <a:srgbClr val="E87722"/>
          </a:solidFill>
          <a:ln w="6350">
            <a:solidFill>
              <a:srgbClr val="E877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01184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48856" y="822960"/>
            <a:ext cx="2011680" cy="3840480"/>
          </a:xfrm>
          <a:prstGeom prst="rect">
            <a:avLst/>
          </a:prstGeom>
          <a:solidFill>
            <a:srgbClr val="1D2F7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48856" y="96012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5500" dirty="0"/>
          </a:p>
        </p:txBody>
      </p:sp>
      <p:sp>
        <p:nvSpPr>
          <p:cNvPr id="25" name="Text 23"/>
          <p:cNvSpPr/>
          <p:nvPr/>
        </p:nvSpPr>
        <p:spPr>
          <a:xfrm>
            <a:off x="6848856" y="22402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48856" y="267004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077456" y="3090672"/>
            <a:ext cx="1554480" cy="320040"/>
          </a:xfrm>
          <a:prstGeom prst="rect">
            <a:avLst/>
          </a:prstGeom>
          <a:solidFill>
            <a:srgbClr val="C0392B"/>
          </a:solidFill>
          <a:ln w="6350">
            <a:solidFill>
              <a:srgbClr val="C0392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77456" y="3090672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  Banco de Dados e Conexão com PDO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187452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86200" cy="1655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Criando o banco e tabela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DATABASE senai_industria;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 senai_industria;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equipamentos 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    INT AUTO_INCREMENT PRIMARY KEY,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nome  VARCHAR(100)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setor VARCHAR(80)  NOT NULL,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status ENUM('ativo','inativo')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DEFAULT 'ativo',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data_cadastro DATE DEFAULT CURRENT_DATE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160520" cy="182880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388620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conexao.php — MySQLi simples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$conn = mysqli_connect(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"localhost","root","","senai_industria"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(!$conn) die(mysqli_connect_error());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mysqli_set_charset($conn, "utf8");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8404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conexao_pdo.php — PDO (recomendado)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$dsn = 'mysql:host=localhost;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dbname=senai_industria;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charset=utf8';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$pdo = new PDO($dsn, 'root', '', 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PDO::ATTR_ERRMODE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PDO::ERRMODE_EXCEPTION,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PDO::ATTR_DEFAULT_FETCH_MODE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PDO::FETCH_ASSOC,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PDO suporta MySQL, PostgreSQL, SQLite...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Prepared Statement seguro: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"SELECT * FROM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WHERE id = ?"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$stmt-&gt;execute([$id]);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$eq = $stmt-&gt;fetch();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➕📋  CREATE (Inserir) e READ (Listar)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8620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&lt;!-- cadastrar.php — Formulário HTML --&gt;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action="salvar.php" method="POST"&gt;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name="nome" required&gt;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type="text" name="setor" required&gt;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&lt;select name="status"&gt;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value="ativo"&gt;Ativo&lt;/option&gt;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&lt;option value="inativo"&gt;Inativo&lt;/option&gt;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&lt;/select&gt;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type="submit"&gt;Salvar&lt;/button&gt;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160520" cy="19202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52928"/>
            <a:ext cx="388620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salvar.php — CREATE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$nome  = mysqli_real_escape_string($conn,$_POST['nome']);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$setor = mysqli_real_escape_string($conn,$_POST['setor']);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$status = $_POST['status'];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"INSERT INTO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(nome,setor,status)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VALUES ('$nome','$setor','$status')";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mysqli_query($conn, $sql);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header('Location: listar.php');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24128"/>
            <a:ext cx="38404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listar.php — READ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* FROM equipamentos";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$resultado = mysqli_query($conn, $sql);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html&gt;&lt;html&gt;&lt;body&gt;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&lt;h2&gt;Lista de Equipamentos&lt;/h2&gt;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&lt;a href="cadastrar.php"&gt;+ Novo&lt;/a&gt;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&lt;table border="1"&gt;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&lt;th&gt;ID&lt;/th&gt;&lt;th&gt;Nome&lt;/th&gt;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&lt;th&gt;Setor&lt;/th&gt;&lt;th&gt;Status&lt;/th&gt;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&lt;th&gt;Ações&lt;/th&gt;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 while($row=mysqli_fetch_assoc($res)): ?&gt;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$row['id'] ?&gt;&lt;/td&gt;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$row['nome'] ?&gt;&lt;/td&gt;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$row['setor'] ?&gt;&lt;/td&gt;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&lt;td&gt;&lt;?= $row['status'] ?&gt;&lt;/td&gt;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href="editar.php?id=&lt;?=$row['id']?&gt;"&gt;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Editar&lt;/a&gt;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&lt;a href="excluir.php?id=&lt;?=$row['id']?&gt;"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onclick="return confirm('Excluir?')"&gt;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Excluir&lt;/a&gt;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&lt;/td&gt;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&lt;/tr&gt;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&lt;?php endwhile; ?&gt;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&lt;/table&gt;&lt;/body&gt;&lt;/html&gt;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✏️🗑️  UPDATE, DELETE e Segurança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160520" cy="173736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886200" cy="1517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editar.php — carrega o registro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  = intval($_GET['id']);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"SELECT * FROM equipamentos WHERE id=$id";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$row = mysqli_fetch_assoc(mysqli_query($conn,$sql));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&lt;form action="atualizar.php" method="POST"&gt;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type="hidden" name="id" value="&lt;?=$row['id']?&gt;"&gt;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name="nome"  value="&lt;?=$row['nome']?&gt;"&gt;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&lt;input name="setor" value="&lt;?=$row['setor']?&gt;"&gt;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&lt;button type="submit"&gt;Atualizar&lt;/button&gt;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&lt;/form&gt;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743200"/>
            <a:ext cx="4160520" cy="19202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852928"/>
            <a:ext cx="3886200" cy="1700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atualizar.php — 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include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$id    = intval($_POST['id']);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$nome  = mysqli_real_escape_string($conn,$_POST['nome']);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$setor = mysqli_real_escape_string($conn,$_POST['setor']);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  = "UPDATE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SET nome='$nome', setor='$setor'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WHERE id=$id";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mysqli_query($conn, $sql);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header('Location: listar.php');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excluir.php: DELETE FROM ... WHERE id=$id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411480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914400"/>
            <a:ext cx="411480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98755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SQL Injection — Como Prevenir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9888"/>
            <a:ext cx="3840480" cy="12344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1499616"/>
            <a:ext cx="356616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❌ VULNERÁVEL — nunca faça isso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$sql = "INSERT INTO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(nome) VALUES ('" . $_POST['nome'] . "')";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'); DROP TABLE equipamentos; --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00600" y="2697480"/>
            <a:ext cx="3840480" cy="12344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807208"/>
            <a:ext cx="3566160" cy="10149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SEGURO — mysqli_real_escape_string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$nome = mysqli_real_escape_string(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$conn, $_POST['nome']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✅ MELHOR — PDO Prepared Statements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 = $pdo-&gt;prepare("INSERT INTO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equipamentos (nome) VALUES (?)");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$stmt-&gt;execute([$nome]);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800600" y="397764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insira variáveis direto no SQL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mysqli_real_escape_string() no MySQLi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 + Prepared Statements = mais seguro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intval() em parâmetros numéricos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34440"/>
            <a:ext cx="52120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 POO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0" y="3063240"/>
            <a:ext cx="7040880" cy="1234440"/>
          </a:xfrm>
          <a:prstGeom prst="rect">
            <a:avLst/>
          </a:prstGeom>
          <a:solidFill>
            <a:srgbClr val="24388E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3063240"/>
            <a:ext cx="704088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DAO · Singleton · Prepared Statements · Classes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🏗️  Arquitetura com POO — Três Classes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914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padrão DAO (Data Access Object) separa a lógica de negócio do acesso ao banco de dados: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17320"/>
            <a:ext cx="278892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17320"/>
            <a:ext cx="2788920" cy="457200"/>
          </a:xfrm>
          <a:prstGeom prst="rect">
            <a:avLst/>
          </a:prstGeom>
          <a:solidFill>
            <a:srgbClr val="2980B9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417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Conexao.php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 a conexão PDO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2304288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Singleton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1 única instância de PDO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PDO::ERRMODE_EXCEPTION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estático getInstance()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__construct() — sem new direto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1417320"/>
            <a:ext cx="278892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417320"/>
            <a:ext cx="2788920" cy="457200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5" name="Text 13"/>
          <p:cNvSpPr/>
          <p:nvPr/>
        </p:nvSpPr>
        <p:spPr>
          <a:xfrm>
            <a:off x="3246120" y="1417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Equipamento.php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3756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 / Modelo de Dados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304288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 um equipamento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Atributos: id, nome, setor, status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Getters e Setters tipados (PHP 7+)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lógica de banco de dados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Única (SRP)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72200" y="1417320"/>
            <a:ext cx="2788920" cy="324612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72200" y="1417320"/>
            <a:ext cx="2788920" cy="457200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20" name="Text 18"/>
          <p:cNvSpPr/>
          <p:nvPr/>
        </p:nvSpPr>
        <p:spPr>
          <a:xfrm>
            <a:off x="6172200" y="141732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EquipamentoDAO.php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i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 CRUD (DAO Pattern)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263640" y="2304288"/>
            <a:ext cx="26060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CREATE: inserir(Equipamento)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READ: listarTodos(): array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UPDATE: atualizar(Equipamento)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DELETE: excluir(int $id)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= segurança total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 Classe Conexao (Singleton) e Equipamento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97764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Conexao.php — Singleton PDO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Conexao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static ?Conexao $inst = null;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PDO $pdo;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function __construct()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$dsn = 'mysql:host=localhost;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dbname=industria;charset=utf8';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$this-&gt;pdo = new PDO($dsn,'root','',[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PDO::ATTR_ERRMODE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PDO::ERRMODE_EXCEPTION,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PDO::ATTR_DEFAULT_FETCH_MODE =&gt;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PDO::FETCH_ASSOC,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function getInstance(): PDO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(self::$inst === null)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self::$inst = new Conexao();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self::$inst-&gt;pdo;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Uso em qualquer lugar do projeto: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$pdo = Conexao::getInstance();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24128"/>
            <a:ext cx="374904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Equipamento.php — Entidade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Equipamento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int    $id;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$nome;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$setor;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string $status;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Getters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getId(): int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$this-&gt;id;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getNome():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$this-&gt;nome;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getSetor():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$this-&gt;setor;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getStatus(): string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$this-&gt;status;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Setters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setNome(string $v): void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$this-&gt;nome = $v;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setSetor(string $v): void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$this-&gt;setor = $v;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setStatus(string $v): void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$this-&gt;status = $v;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Classe EquipamentoDAO — Operações CRUD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5029200" cy="374904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4754880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EquipamentoDAO.php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EquipamentoDAO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private PDO $pdo;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__construct()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$this-&gt;pdo = Conexao::getInstance();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CREATE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inserir(Equipamento $e): bool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= 'INSERT INTO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(nome,setor,status) VALUES(?,?,?)';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  = $this-&gt;pdo-&gt;prepare($sql);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$st-&gt;execute([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$e-&gt;getNome(),$e-&gt;getSetor(),$e-&gt;getStatus()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READ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listarTodos(): array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$this-&gt;pdo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-&gt;query('SELECT * FROM equipamentos')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-&gt;fetchAll();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UPDATE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atualizar(Equipamento $e): bool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$sql = 'UPDATE equipamentos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SET nome=?,setor=?,status=? WHERE id=?';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  = $this-&gt;pdo-&gt;prepare($sql);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$st-&gt;execute([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$e-&gt;getNome(),$e-&gt;getSetor(),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$e-&gt;getStatus(),$e-&gt;getId()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DELETE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function excluir(int $id): bool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$st = $this-&gt;pdo-&gt;prepare(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'DELETE FROM equipamentos WHERE id=?'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$st-&gt;execute([$id]);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532120" y="914400"/>
            <a:ext cx="324612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532120" y="914400"/>
            <a:ext cx="3246120" cy="54864"/>
          </a:xfrm>
          <a:prstGeom prst="rect">
            <a:avLst/>
          </a:prstGeom>
          <a:solidFill>
            <a:srgbClr val="E87722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0" y="987552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 Utilizados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69280" y="1389888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0" y="142646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Pattern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669280" y="160934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acesso a dados da lógica e interface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669280" y="1901952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1938528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Stmt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669280" y="2121408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prepare()+execute() previne SQL Injection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69280" y="2414016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45059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669280" y="2633472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única instância de conexão PDO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2926080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0" y="2962656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Tipagem forte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0" y="3145536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Equipamento $e garante objetos válidos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669280" y="3438144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474720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bool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669280" y="3657600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true/false informa sucesso ou falha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669280" y="3950208"/>
            <a:ext cx="2971800" cy="438912"/>
          </a:xfrm>
          <a:prstGeom prst="rect">
            <a:avLst/>
          </a:prstGeom>
          <a:solidFill>
            <a:srgbClr val="E8F4FB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3986784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SRP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669280" y="4169664"/>
            <a:ext cx="2971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cuida do banco; Entidade dos dados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73152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0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Usando as Classes nos Arquivos PHP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4251960" cy="182880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397764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salvar.php — CREATE com OOP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'Equipamento.php';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'EquipamentoDAO.php';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 = new Equipamento();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$e-&gt;setNome($_POST['nome']);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$e-&gt;setSetor($_POST['setor']);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$e-&gt;setStatus($_POST['status']);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$dao = new EquipamentoDAO();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($dao-&gt;inserir($e))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header('Location: listar.php');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else { echo 'Erro ao salvar!'; }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4251960" cy="1828800"/>
          </a:xfrm>
          <a:prstGeom prst="rect">
            <a:avLst/>
          </a:prstGeom>
          <a:solidFill>
            <a:srgbClr val="2D3748"/>
          </a:solidFill>
          <a:ln w="635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44368"/>
            <a:ext cx="3977640" cy="16093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&lt;?php // listar.php — READ com OOP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'Conexao.php';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'Equipamento.php';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 'EquipamentoDAO.php';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$dao   = new EquipamentoDAO();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$lista = $dao-&gt;listarTodos();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($lista as $row) {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echo $row['id'].' - '.$row['nome'];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C8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4023360" cy="3749040"/>
          </a:xfrm>
          <a:prstGeom prst="rect">
            <a:avLst/>
          </a:prstGeom>
          <a:solidFill>
            <a:srgbClr val="EAF1FA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14400"/>
            <a:ext cx="402336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987552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Execução com POO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92040" y="1408176"/>
            <a:ext cx="384048" cy="384048"/>
          </a:xfrm>
          <a:prstGeom prst="ellipse">
            <a:avLst/>
          </a:prstGeom>
          <a:solidFill>
            <a:srgbClr val="1B2E6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1408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49240" y="140817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das 3 classes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349240" y="159105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importe Conexao, Equipamento e EquipamentoDAO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92040" y="2002536"/>
            <a:ext cx="384048" cy="384048"/>
          </a:xfrm>
          <a:prstGeom prst="ellipse">
            <a:avLst/>
          </a:prstGeom>
          <a:solidFill>
            <a:srgbClr val="1B2E6B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20025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49240" y="200253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Equipamento()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218541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o objeto e popula via setters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892040" y="2596896"/>
            <a:ext cx="384048" cy="384048"/>
          </a:xfrm>
          <a:prstGeom prst="ellipse">
            <a:avLst/>
          </a:prstGeom>
          <a:solidFill>
            <a:srgbClr val="1B2E6B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5968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259689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EquipamentoDAO()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49240" y="277977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 obtém PDO via Conexao::getInstance()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892040" y="3191256"/>
            <a:ext cx="384048" cy="384048"/>
          </a:xfrm>
          <a:prstGeom prst="ellipse">
            <a:avLst/>
          </a:prstGeom>
          <a:solidFill>
            <a:srgbClr val="1B2E6B"/>
          </a:solidFill>
          <a:ln/>
        </p:spPr>
      </p:sp>
      <p:sp>
        <p:nvSpPr>
          <p:cNvPr id="27" name="Text 25"/>
          <p:cNvSpPr/>
          <p:nvPr/>
        </p:nvSpPr>
        <p:spPr>
          <a:xfrm>
            <a:off x="4892040" y="3191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49240" y="319125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$dao-&gt;inserir($e)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349240" y="337413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 e executa o SQL com segurança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92040" y="3785616"/>
            <a:ext cx="384048" cy="384048"/>
          </a:xfrm>
          <a:prstGeom prst="ellipse">
            <a:avLst/>
          </a:prstGeom>
          <a:solidFill>
            <a:srgbClr val="1B2E6B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378561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49240" y="3785616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bool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49240" y="3968496"/>
            <a:ext cx="3291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→ redireciona | false → exibe erro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E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ln w="25400">
            <a:solidFill>
              <a:srgbClr val="2C4D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-457200"/>
            <a:ext cx="3200400" cy="3200400"/>
          </a:xfrm>
          <a:prstGeom prst="ellipse">
            <a:avLst/>
          </a:prstGeom>
          <a:solidFill>
            <a:srgbClr val="2CB5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828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Revisão Geral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457200" y="1024128"/>
            <a:ext cx="1371600" cy="54864"/>
          </a:xfrm>
          <a:prstGeom prst="rect">
            <a:avLst/>
          </a:prstGeom>
          <a:solidFill>
            <a:srgbClr val="2CB5B2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4206240" cy="1737360"/>
          </a:xfrm>
          <a:prstGeom prst="rect">
            <a:avLst/>
          </a:prstGeom>
          <a:solidFill>
            <a:srgbClr val="1D2F70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2618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29768" y="16459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básica HTML5 (DOCTYPE, html, head, body)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de texto, listas, links, imagens, tabelas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Formulários e tipos de input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semântico: header, main, section, footer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· CSS · JavaScript = as 3 camadas da web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206240" cy="1737360"/>
          </a:xfrm>
          <a:prstGeom prst="rect">
            <a:avLst/>
          </a:prstGeom>
          <a:solidFill>
            <a:srgbClr val="1D2F70"/>
          </a:solidFill>
          <a:ln w="12700">
            <a:solidFill>
              <a:srgbClr val="2CB5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0328" y="12618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B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 com PHP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10328" y="16459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Classe, Objeto, Atributo, Método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Pilares: Encapsulamento, Herança, Polimorfismo, Abstração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private/protected/public + getters/setters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extends, parent::, override, final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vs Herança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206240" cy="1737360"/>
          </a:xfrm>
          <a:prstGeom prst="rect">
            <a:avLst/>
          </a:prstGeom>
          <a:solidFill>
            <a:srgbClr val="1D2F7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0906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PHP+MySQL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" y="34747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(INSERT) · READ (SELECT)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DELETE com WHERE id=?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MySQLi e PDO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Injection: escape → Prepared Statements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Fluxo: HTML form → PHP → MySQL → Redirect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0600" y="3017520"/>
            <a:ext cx="4206240" cy="1737360"/>
          </a:xfrm>
          <a:prstGeom prst="rect">
            <a:avLst/>
          </a:prstGeom>
          <a:solidFill>
            <a:srgbClr val="1D2F7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10328" y="3090672"/>
            <a:ext cx="39867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 POO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10328" y="3474720"/>
            <a:ext cx="398678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 DAO: separa banco da lógica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Singleton: Conexao::getInstance()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Equipamento.php (getters/setters)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DAO: EquipamentoDAO.php (CRUD via PDO)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Statements = segurança total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1B2E6B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4873752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de Aplicativos  |  Prof. Mizael Carlos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Aplicativos – Resumo Completo</dc:title>
  <dc:subject>PptxGenJS Presentation</dc:subject>
  <dc:creator>PptxGenJS</dc:creator>
  <cp:lastModifiedBy>PptxGenJS</cp:lastModifiedBy>
  <cp:revision>1</cp:revision>
  <dcterms:created xsi:type="dcterms:W3CDTF">2026-06-30T01:36:36Z</dcterms:created>
  <dcterms:modified xsi:type="dcterms:W3CDTF">2026-06-30T01:36:36Z</dcterms:modified>
</cp:coreProperties>
</file>