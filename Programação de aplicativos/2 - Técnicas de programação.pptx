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2"/>
    <p:sldId id="277" r:id="rId23"/>
    <p:sldId id="278" r:id="rId24"/>
    <p:sldId id="279" r:id="rId25"/>
    <p:sldId id="282" r:id="rId28"/>
    <p:sldId id="283" r:id="rId29"/>
    <p:sldId id="284" r:id="rId30"/>
    <p:sldId id="285" r:id="rId31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i="1" dirty="0">
                <a:solidFill>
                  <a:srgbClr val="C9D6FF"/>
                </a:solidFill>
                <a:latin typeface="Calibri" pitchFamily="34" charset="0"/>
              </a:rPr>
              <a:t>Programação de Aplicativos</a:t>
            </a:r>
          </a:p>
        </p:txBody>
      </p:sp>
      <p:sp>
        <p:nvSpPr>
          <p:cNvPr id="7" name="Text 5"/>
          <p:cNvSpPr/>
          <p:nvPr/>
        </p:nvSpPr>
        <p:spPr>
          <a:xfrm>
            <a:off x="347472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Técnicas de Programação</a:t>
            </a:r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Prof. Mizael Carlos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000" i="1" dirty="0">
                <a:solidFill>
                  <a:srgbClr val="A5C0FF"/>
                </a:solidFill>
                <a:latin typeface="Calibri" pitchFamily="34" charset="0"/>
              </a:rPr>
              <a:t>Formatação • Documentação • Reutilização • Otimização de Código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📋  Conteúdo da Aula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Módulo 1 — Formatação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Indentação e espaçamento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Convenções de nomes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Organização de arquivos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Padrões PSR em PHP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Módulos 2, 3 e 4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Documentação: PHPDoc e comentários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Reutilização: funções e includes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Otimização: performance e memória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Situações práticas de aprendizado</a:t>
            </a:r>
            <a:endParaRPr lang="pt-B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🎯  Por que Formatação Importa?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Código sem formatação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Difícil de ler e manter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Erros difíceis de localizar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Colaboração em equipe prejudicada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Retrabalho constante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Código bem formatado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Leitura fluida e intuitiva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Bugs encontrados mais rápido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Fácil de atualizar e expandir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Padrão profissional reconhecível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SEM formatação: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calc($a,$b,$op){if($op=='+'){ return $a+$b;}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else{return $a-$b;}}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COM formatação: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calcular(float $a, float $b, string $op): float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($op === '+')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return $a + $b;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$a - $b;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🔧  Indentação — A Base da Legibilidade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Regras de Indentação em PHP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Usar 4 espaços por nível (padrão PSR-12)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Nunca misturar tabs e espaços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Cada bloco { } adiciona um nível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IDEs: configure auto-indent (VS Code, PHPStorm)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Indentação inconsistente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 ($ativo)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echo 'ligado';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if ($nivel &gt; 5)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echo 'nível alto';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Indentação correta (4 espaços)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 ($ativo)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echo 'ligado';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($nivel &gt; 5)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echo 'nível alto';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🏷️  Convenção de Nomes — Clareza no Código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Variáveis e Funções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camelCase: $nomeCompleto, $totalPecas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Verbos em funções: calcular(), buscar()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Nomes descritivos, não abreviados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Evitar: $x, $tmp, $val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Classes e Constantes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PascalCase para classes: ClienteService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MAIÚSCULO para constantes: MAX_TENTATIVAS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Nomes no singular para classes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Plural para coleções: $clientes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Nomes ruins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$c = 'João'; $t = 0; $i = calcT($c, 5);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Nomes descritivos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$nomeCliente = 'João';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$totalPedidos = 0;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$impostoFinal = calcularImposto($nomeCliente, 5);</a:t>
            </a:r>
            <a:endParaRPr lang="pt-BR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📏  Espaçamento e Linhas em Branco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Quando usar linhas em branco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Entre funções: sempre 1 linha em branco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Dentro de funções: separar blocos lógicos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Após declarações de variáveis iniciais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Antes de return em funções longas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processarPedido(int $id): array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Busca o pedido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$pedido = buscarPedido($id);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$cliente = buscarCliente($pedido['id_cliente']);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Calcula valores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$subtotal = calcularSubtotal($pedido['itens']);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$desconto = calcularDesconto($cliente['tipo']);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$total = $subtotal - $desconto;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['total' =&gt; $total, 'cliente' =&gt; $cliente['nome']];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💡  Situação 1 — Refatorando Código Mal Formatado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Desafio: Reformate o código abaixo seguindo PSR-12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Aplique indentação de 4 espaços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Renomeie variáveis com camelCase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Adicione linhas em branco entre blocos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Teste: o resultado deve ser idêntico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🔴 CÓDIGO ORIGINAL (reformate este):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proc($n,$p,$d){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$t=$p*$n;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if($d&gt;0){$f=$t-($t*$d/100);}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else{$f=$t;}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return $f;}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🟢 SOLUÇÃO ESPERADA: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processarVenda(int $quantidade, float $preco, float $desconto): float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$subtotal = $preco * $quantidade;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($desconto &gt; 0)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return $subtotal - ($subtotal * $desconto / 100);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$subtotal;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📐  Padrões PSR — PHP Standards Recommendations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PSR-1 e PSR-12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PSR-1: Padrão básico de codificação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Tags: apenas &lt;?php ou &lt;?=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Encoding: UTF-8 sem BOM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PSR-12: guia de estilo moderno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Regras PSR-12 Principais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Chaves { na mesma linha do if/function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Espaço após palavras-chave: if (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Espaço ao redor de operadores: $a + $b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Máximo 120 caracteres por linha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PSR-12 correto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 ($condicao)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 = $a + $b;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 elseif ($outra)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 = $a * $b;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 else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 = 0;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Documentação de Código</a:t>
            </a:r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Prof. Mizael Carlos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000" i="1" dirty="0">
                <a:solidFill>
                  <a:srgbClr val="A5C0FF"/>
                </a:solidFill>
                <a:latin typeface="Calibri" pitchFamily="34" charset="0"/>
              </a:rPr>
              <a:t>PHPDoc, Comentários Eficientes e Boas Práticas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📖  Por que Documentar o Código?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Benefícios Diretos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Código autoexplicativo para a equipe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IDEs exibem dicas ao usar a função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Geração automática de manuais (phpDocumentor)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Facilita manutenção após meses sem ver o código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O que Documentar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Funções e métodos complexos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Parâmetros não-óbvios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Retornos e exceções possíveis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Lógica de negócio não trivial</a:t>
            </a:r>
            <a:endParaRPr lang="pt-BR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📝  PHPDoc — Documentação Estruturada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Tags PHPDoc mais usadas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@param tipo $nome — descreve parâmetro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@return tipo — descreve o retorno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@throws ExceptionType — exceções lançadas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@var, @author, @since — informações extras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/**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Calcula o desconto progressivo de um produto.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@param float  $preco     Preço original do produto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@param int    $qtd       Quantidade comprada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@param string $categoria Categoria: 'A', 'B' ou 'C'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@return float            Valor final com desconto aplicado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@throws InvalidArgumentException Se categoria inválida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*/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calcularDesconto(float $preco, int $qtd, string $categoria): float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implementação...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💬  Tipos de Comentários — Quando Usar Cada Um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Comentários de Linha // e /* */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// para notas rápidas em uma linha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/* */ para blocos temporários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Nunca comentar código óbvio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Evitar: $i++; // incrementa i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Comentários de Bloco /** */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Sempre antes de funções e classes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Descreve O QUE faz, não COMO faz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Inclui tags @param e @return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IDEs usam para autocompletar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Comentário inútil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 = $preco * $qtd; // multiplica preco por qtd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Comentário útil — explica a regra de negócio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Desconto progressivo: &gt;10 unidades = 5%, &gt;50 = 12%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$desconto = ($qtd &gt; 50) ? 0.12 : (($qtd &gt; 10) ? 0.05 : 0);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 = $preco * $qtd * (1 - $desconto);</a:t>
            </a:r>
            <a:endParaRPr lang="pt-BR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💡  Situação 2 — Documentando uma Função Real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Desafio: Adicione PHPDoc completo a esta função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Identifique os parâmetros e seus tipos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Descreva o que a função retorna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Indique possíveis exceções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Adicione um exemplo de uso nos comentários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🔴 FUNÇÃO SEM DOCUMENTAÇÃO: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converterTemperatura($valor, $de, $para)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($de === 'C' &amp;&amp; $para === 'F') return $valor * 9/5 + 32;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($de === 'F' &amp;&amp; $para === 'C') return ($valor - 32) * 5/9;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($de === 'C' &amp;&amp; $para === 'K') return $valor + 273.15;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throw new InvalidArgumentException('Conversão inválida');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🟢 Adicione o PHPDoc acima com @param, @return, @throws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Dica: descreva as unidades aceitas: 'C', 'F', 'K'</a:t>
            </a:r>
            <a:endParaRPr lang="pt-BR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🔖  Marcadores Especiais — TODO e FIXME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TODO — Tarefas Pendentes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// TODO: implementar validação de CPF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Marca funcionalidade a ser adicionada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IDEs destacam visualmente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Usar com prazo quando possível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FIXME — Bugs Conhecidos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// FIXME: erro quando $qty é negativo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Marca problema conhecido no código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Prioridade maior que TODO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Incluir descrição do comportamento errado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registrarVenda(array $dados): bool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TODO: adicionar validação de estoque antes de registrar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TODO: enviar e-mail de confirmação ao cliente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 = salvarNoBanco($dados);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// FIXME: quando $dados['desconto'] &gt; 100, gera valor negativo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$total = $dados['preco'] - $dados['desconto'];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$resultado;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Reutilização de Código</a:t>
            </a:r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Prof. Mizael Carlos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000" i="1" dirty="0">
                <a:solidFill>
                  <a:srgbClr val="A5C0FF"/>
                </a:solidFill>
                <a:latin typeface="Calibri" pitchFamily="34" charset="0"/>
              </a:rPr>
              <a:t>Funções, Includes, Traits e Padrões de Reuso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♻️  Princípio DRY — Don't Repeat Yourself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O que é DRY?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Cada lógica deve existir em UM só lugar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Modificação em um ponto = efeito em toda app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Reduz bugs por inconsistência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Base para funções, classes e bibliotecas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Violações Comuns de DRY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Copiar/colar blocos de código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Recalcular o mesmo valor em locais diferentes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Validar input em vários arquivos separados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Formatar datas/valores repetidamente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DRY violado — lógica repetida em 3 lugares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arquivo1.php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$preco = round($valor * 1.12,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arquivo2.php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$preco = round($valor * 1.12, 2); // copiado!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DRY aplicado — centralizado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aplicarImposto(float $valor, float $taxa = 0.12): float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round($valor * (1 + $taxa),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🔄  Funções Reutilizáveis — Boas Práticas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Como criar funções realmente reutilizáveis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Uma função = uma responsabilidade (SRP)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Parâmetros flexíveis com valores default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Sem dependência de variáveis globais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Retorno previsível para o mesmo input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Função reutilizável e flexível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formatarMoeda(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float $valor,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string $simbolo = 'R$',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int $casas = 2,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string $sepDec = ',',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string $sepMil = '.'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): string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$numero = number_format($valor, $casas, $sepDec, $sepMil);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$simbolo . ' ' . $numero;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echo formatarMoeda(1500.5);          // R$ 1.500,50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echo formatarMoeda(1500.5, 'USD', 2, '.', ','); // USD 1,500.50</a:t>
            </a:r>
            <a:endParaRPr lang="pt-BR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📁  include e require — Separando Responsabilidades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include e require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require — obrigatório, erro fatal se falhar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include — opcional, apenas aviso se falhar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_once: evita incluir o mesmo arquivo 2x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Usar require_once para classes e funções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Organização de Arquivos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functions/calculos.php — funções matemáticas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functions/formatacao.php — formatações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config/database.php — configurações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helpers/validacao.php — validações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config.php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define('DB_HOST', 'localhost');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define('TAX_RATE', 0.12);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index.php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require_once 'config.php';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require_once 'functions/calculos.php';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require_once 'functions/formatacao.php';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Agora todas as funções estão disponíveis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$preco = formatarMoeda(aplicarImposto(500.0));</a:t>
            </a:r>
            <a:endParaRPr lang="pt-BR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💡  Situação 3 — Eliminando Código Repetido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Desafio: Identifique e elimine a repetição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Extraia a lógica comum para uma função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Dê um nome descritivo à nova função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Substitua as 3 ocorrências pela chamada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Verifique: o resultado final deve ser o mesmo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🔴 CÓDIGO COM REPETIÇÃO — refatore: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Relatório de vendas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$totalVendas = round(array_sum($vendas) * 1.12,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$labelV = 'R$ ' . number_format($totalVendas, 2, ',', '.');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Relatório de compras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$totalCompras = round(array_sum($compras) * 1.12,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$labelC = 'R$ ' . number_format($totalCompras, 2, ',', '.');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Relatório de devoluções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$totalDev = round(array_sum($devolucoes) * 1.12,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$labelD = 'R$ ' . number_format($totalDev, 2, ',', '.');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🟢 DICA: crie formatarRelatorio(array $valores): string</a:t>
            </a:r>
            <a:endParaRPr lang="pt-BR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Técnicas de Otimização</a:t>
            </a:r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Prof. Mizael Carlos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000" i="1" dirty="0">
                <a:solidFill>
                  <a:srgbClr val="A5C0FF"/>
                </a:solidFill>
                <a:latin typeface="Calibri" pitchFamily="34" charset="0"/>
              </a:rPr>
              <a:t>Performance, Memória e Escrita de Código Eficiente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⚡  O que é Otimização de Código?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Dimensões da Otimização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Velocidade: código executa mais rápido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Memória: usa menos RAM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Legibilidade: fácil de entender e manter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Escalabilidade: funciona com mais dados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Quando Otimizar?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Após o código funcionar corretamente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Quando há gargalos mensuráveis (profiling)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Nunca sacrificar legibilidade sem necessidade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Regra: código correto &gt; código rápido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Medindo tempo de execução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$inicio = microtime(true);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... seu código aqui ...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for ($i = 0; $i &lt; 100000; $i++)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$resultado[] = calcularAlgo($i);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$fim = microtime(true);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echo 'Tempo: ' . round(($fim - $inicio) * 1000, 2) . ' ms';</a:t>
            </a:r>
            <a:endParaRPr lang="pt-BR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🔁  Otimizando Loops — Armadilhas Comuns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Erros de performance em loops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Calcular count() dentro do for a cada iteração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Fazer queries SQL dentro de loops (N+1 problem)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Criar objetos desnecessários dentro do loop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Concatenar strings com . em loops grandes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count() chamado em CADA iteração — lento!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for ($i = 0; $i &lt; count($lista); $i++)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processar($lista[$i]);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count() calculado UMA VEZ — rápido!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$total = count($lista);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for ($i = 0; $i &lt; $total; $i++)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processar($lista[$i]);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Ainda melhor: foreach (PHP otimiza internamente)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foreach ($lista as $item)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processar($item);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🧵  Otimizando Strings e Arrays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Strings — Dicas de Performance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Usar aspas simples para texto literal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implode() para concatenar arrays: mais rápido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sprintf() para formatação complexa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Evitar . em loops: usar ob_start() ou array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Arrays — Dicas de Performance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isset($arr[$k]) mais rápido que in_array()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array_key_exists() para checar chaves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SplFixedArray para arrays de tamanho fixo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array_map/filter para transformações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Concatenação em loop — aloca memória a cada passo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$html = '';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
                foreach ($itens as $item) { $html .= '
                <li>' . $item . '</li>
                '; }
              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implode — processa de uma vez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$partes = [];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
                foreach ($itens as $item) { $partes[] = '
                <li>' . $item . '</li>
                '; }
              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$html = implode('\n', $partes);</a:t>
            </a:r>
            <a:endParaRPr lang="pt-BR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🚪  Early Return — Simplificando com Guard Clauses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O que é Early Return?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Retornar cedo quando condição não é atendida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Evita if aninhados profundamente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Código mais linear e fácil de ler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Princípio: tratar exceções primeiro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Benefícios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Reduz nível de indentação do código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Cada condição tem tratamento explícito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O caminho feliz fica visível no final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Mais fácil de testar cada condição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❌ Código com ifs aninhados (pyramid of doom)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processar($pedido)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($pedido !== null)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if ($pedido['ativo'])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    if ($pedido['total'] &gt; 0)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        return salvar($pedido); } } } 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✅ Early return — guard clauses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processar($pedido): bool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($pedido === null) return false;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(!$pedido['ativo']) return false;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if ($pedido['total'] &lt;= 0) return false;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salvar($pedido); // caminho feliz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💡  Situação 5 — Combinando Todas as Técnicas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820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05840"/>
            <a:ext cx="8503920" cy="73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Desafio Final: Refatore esta função completa</a:t>
            </a:r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Aplicar formatação PSR-12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Adicionar PHPDoc completo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Eliminar repetição (DRY)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Otimizar o loop interno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871040"/>
            <a:ext cx="8686800" cy="2880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1916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2160648"/>
            <a:ext cx="8503920" cy="256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🔴 REFATORE completamente esta função: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proc($dados,$tipo){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$r=[];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for($i=0;$i&lt;count($dados);$i++){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$v=$dados[$i]['valor'];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if($tipo=='a'){$t=round($v*0.05,2);}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if($tipo=='b'){$t=round($v*0.10,2);}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if($tipo=='c'){$t=round($v*0.15,2);}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$r[]=$v+$t;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return $r;}</a:t>
            </a:r>
            <a:endParaRPr lang="pt-BR" sz="950" dirty="0"/>
          </a:p>
          <a:p>
            <a:pPr indent="0" marL="0">
              <a:buNone/>
            </a:pP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🟢 Critérios: PSR-12 + PHPDoc + sem repetição + loop otimizado</a:t>
            </a:r>
            <a:endParaRPr lang="pt-BR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B6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41148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5" name="Text 3"/>
          <p:cNvSpPr/>
          <p:nvPr/>
        </p:nvSpPr>
        <p:spPr>
          <a:xfrm>
            <a:off x="228600" y="457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200" b="1" dirty="0">
                <a:solidFill>
                  <a:srgbClr val="FFFFFF"/>
                </a:solidFill>
                <a:latin typeface="Calibri" pitchFamily="34" charset="0"/>
              </a:rPr>
              <a:t>📊  Resumo — As 4 Técnicas que Transformam Código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7" name="Text 5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332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1565C0"/>
                </a:solidFill>
                <a:latin typeface="Calibri" pitchFamily="34" charset="0"/>
              </a:rPr>
              <a:t>Formatação e Documentação</a:t>
            </a:r>
          </a:p>
        </p:txBody>
      </p:sp>
      <p:sp>
        <p:nvSpPr>
          <p:cNvPr id="10" name="Text 8"/>
          <p:cNvSpPr/>
          <p:nvPr/>
        </p:nvSpPr>
        <p:spPr>
          <a:xfrm>
            <a:off x="338328" y="1362456"/>
            <a:ext cx="39867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PSR-12: indentação, nomes, espaçamento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PHPDoc em todas as funções públicas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Comentários que explicam o POR QUÊ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TODO/FIXME para pendências visíveis</a:t>
            </a:r>
            <a:endParaRPr lang="pt-BR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519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33272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b="1" dirty="0">
                <a:solidFill>
                  <a:srgbClr val="00897B"/>
                </a:solidFill>
                <a:latin typeface="Calibri" pitchFamily="34" charset="0"/>
              </a:rPr>
              <a:t>Reutilização e Otimização</a:t>
            </a:r>
          </a:p>
        </p:txBody>
      </p:sp>
      <p:sp>
        <p:nvSpPr>
          <p:cNvPr id="13" name="Text 11"/>
          <p:cNvSpPr/>
          <p:nvPr/>
        </p:nvSpPr>
        <p:spPr>
          <a:xfrm>
            <a:off x="4773168" y="1362456"/>
            <a:ext cx="4032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DRY: uma lógica = um único lugar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require_once para separar responsabilidades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Early return para código limpo</a:t>
            </a:r>
            <a:endParaRPr lang="pt-BR" sz="1000" dirty="0"/>
          </a:p>
          <a:p>
            <a:pPr marL="342900" indent="-342900">
              <a:buSzPct val="100000"/>
              <a:buChar char="•"/>
            </a:pPr>
            <a:r>
              <a:rPr lang="pt-BR" sz="1000" dirty="0">
                <a:solidFill>
                  <a:srgbClr val="1A2A4A"/>
                </a:solidFill>
                <a:latin typeface="Calibri" pitchFamily="34" charset="0"/>
              </a:rPr>
              <a:t>Mover cálculos fixos para fora de loops</a:t>
            </a:r>
            <a:endParaRPr lang="pt-BR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8686800" cy="1737360"/>
          </a:xfrm>
          <a:prstGeom prst="rect">
            <a:avLst/>
          </a:prstGeom>
          <a:solidFill>
            <a:srgbClr val="1E1E2E"/>
          </a:solidFill>
          <a:ln w="19050">
            <a:solidFill>
              <a:srgbClr val="3D5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solidFill>
            <a:srgbClr val="3D5AFE"/>
          </a:solidFill>
        </p:spPr>
      </p:sp>
      <p:sp>
        <p:nvSpPr>
          <p:cNvPr id="16" name="Text 14"/>
          <p:cNvSpPr/>
          <p:nvPr/>
        </p:nvSpPr>
        <p:spPr>
          <a:xfrm>
            <a:off x="301752" y="29260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700" b="1" dirty="0">
                <a:solidFill>
                  <a:srgbClr val="FFFFFF"/>
                </a:solidFill>
                <a:latin typeface="Consolas" pitchFamily="34" charset="0"/>
              </a:rPr>
              <a:t>PHP</a:t>
            </a:r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// Código que aplica TODAS as técnicas: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/**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Processa lista de vendas aplicando taxa por categoria.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@param array  $vendas    Lista de vendas com 'valor' e 'categoria'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@param float  $taxaPadrao Taxa default se categoria não encontrada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 @return array             Valores finais com taxa aplicada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*/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function processarVendas(array $vendas, float $taxaPadrao = 0.05): array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$taxas = ['A' =&gt; 0.05, 'B' =&gt; 0.10, 'C' =&gt; 0.15];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$total = count($vendas); // fora do loop!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$resultado = [];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for ($i = 0; $i &lt; $total; $i++) {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$taxa = $taxas[$vendas[$i]['categoria']] ?? $taxaPadrao;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    $resultado[] = round($vendas[$i]['valor'] * (1 + $taxa), 2);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}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 xml:space="preserve">    return $resultado;</a:t>
            </a:r>
            <a:endParaRPr lang="pt-BR" sz="950" dirty="0"/>
          </a:p>
          <a:p>
            <a:pPr indent="0" marL="0">
              <a:buNone/>
            </a:pPr>
            <a:r>
              <a:rPr lang="pt-BR" sz="950" dirty="0">
                <a:solidFill>
                  <a:srgbClr val="A5D6A7"/>
                </a:solidFill>
                <a:latin typeface="Consolas" pitchFamily="34" charset="0"/>
              </a:rPr>
              <a:t>}</a:t>
            </a:r>
            <a:endParaRPr lang="pt-BR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606040"/>
          </a:xfrm>
          <a:prstGeom prst="rect">
            <a:avLst/>
          </a:prstGeom>
          <a:solidFill>
            <a:srgbClr val="1A3E9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8872" cy="26060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4" name="Shape 2"/>
          <p:cNvSpPr/>
          <p:nvPr/>
        </p:nvSpPr>
        <p:spPr>
          <a:xfrm>
            <a:off x="5669280" y="-457200"/>
            <a:ext cx="3200400" cy="3200400"/>
          </a:xfrm>
          <a:prstGeom prst="ellipse">
            <a:avLst/>
          </a:prstGeom>
          <a:solidFill>
            <a:srgbClr val="1A3E96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400800" y="182880"/>
            <a:ext cx="2011680" cy="2011680"/>
          </a:xfrm>
          <a:prstGeom prst="ellipse">
            <a:avLst/>
          </a:prstGeom>
          <a:solidFill>
            <a:srgbClr val="26A69A"/>
          </a:solidFill>
        </p:spPr>
      </p:sp>
      <p:sp>
        <p:nvSpPr>
          <p:cNvPr id="6" name="Text 4"/>
          <p:cNvSpPr/>
          <p:nvPr/>
        </p:nvSpPr>
        <p:spPr>
          <a:xfrm>
            <a:off x="365760" y="164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i="1" dirty="0">
                <a:solidFill>
                  <a:srgbClr val="C9D6FF"/>
                </a:solidFill>
                <a:latin typeface="Calibri" pitchFamily="34" charset="0"/>
              </a:rPr>
              <a:t>Programação de Aplicativos</a:t>
            </a:r>
          </a:p>
        </p:txBody>
      </p:sp>
      <p:sp>
        <p:nvSpPr>
          <p:cNvPr id="7" name="Text 5"/>
          <p:cNvSpPr/>
          <p:nvPr/>
        </p:nvSpPr>
        <p:spPr>
          <a:xfrm>
            <a:off x="347472" y="5029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Técnicas de Programação</a:t>
            </a:r>
          </a:p>
          <a:p>
            <a:pPr indent="0" marL="0">
              <a:buNone/>
            </a:pPr>
            <a:r>
              <a:rPr lang="pt-BR" sz="3600" b="1" dirty="0">
                <a:solidFill>
                  <a:srgbClr val="FFFFFF"/>
                </a:solidFill>
                <a:latin typeface="Calibri" pitchFamily="34" charset="0"/>
              </a:rPr>
              <a:t>Pratique, Revise e Melhore!</a:t>
            </a:r>
          </a:p>
        </p:txBody>
      </p:sp>
      <p:sp>
        <p:nvSpPr>
          <p:cNvPr id="8" name="Shape 6"/>
          <p:cNvSpPr/>
          <p:nvPr/>
        </p:nvSpPr>
        <p:spPr>
          <a:xfrm>
            <a:off x="0" y="2651760"/>
            <a:ext cx="7132320" cy="141732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9" name="Text 7"/>
          <p:cNvSpPr/>
          <p:nvPr/>
        </p:nvSpPr>
        <p:spPr>
          <a:xfrm>
            <a:off x="347472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Prof. Mizael Carlos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" y="32004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000" i="1" dirty="0">
                <a:solidFill>
                  <a:srgbClr val="A5C0FF"/>
                </a:solidFill>
                <a:latin typeface="Calibri" pitchFamily="34" charset="0"/>
              </a:rPr>
              <a:t>Formatação • Documentação • Reutilização • Otimização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F5C"/>
          </a:solidFill>
        </p:spPr>
      </p:sp>
      <p:sp>
        <p:nvSpPr>
          <p:cNvPr id="12" name="Text 10"/>
          <p:cNvSpPr/>
          <p:nvPr/>
        </p:nvSpPr>
        <p:spPr>
          <a:xfrm>
            <a:off x="228600" y="4892040"/>
            <a:ext cx="8686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FFFFFF"/>
                </a:solidFill>
                <a:latin typeface="Calibri" pitchFamily="34" charset="0"/>
              </a:rPr>
              <a:t>Programação de Aplicativos  |  Prof. Mizael Carlos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Aplicativos — PHP</dc:title>
  <dc:subject>PptxGenJS Presentation</dc:subject>
  <dc:creator>PptxGenJS</dc:creator>
  <cp:lastModifiedBy>PptxGenJS</cp:lastModifiedBy>
  <cp:revision>1</cp:revision>
  <dcterms:created xsi:type="dcterms:W3CDTF">2026-03-10T11:08:12Z</dcterms:created>
  <dcterms:modified xsi:type="dcterms:W3CDTF">2026-03-10T11:08:12Z</dcterms:modified>
</cp:coreProperties>
</file>