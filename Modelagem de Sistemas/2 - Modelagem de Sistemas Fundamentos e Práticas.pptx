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" y="57150"/>
            <a:ext cx="9858375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Text 1"/>
          <p:cNvSpPr/>
          <p:nvPr/>
        </p:nvSpPr>
        <p:spPr>
          <a:xfrm>
            <a:off x="771525" y="1422611"/>
            <a:ext cx="6429375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de Sistemas: Fundamentos e Práticas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71525" y="2884177"/>
            <a:ext cx="57150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visão geral sobre definições, tipos e características essenciais.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1525" y="3795006"/>
            <a:ext cx="5172075" cy="34647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</a:t>
            </a: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Introduzir os conceitos fundamentais da modelagem no ciclo de </a:t>
            </a: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vida de desenvolvimento de software.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 que é Modelagem de Sistemas?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434750"/>
            <a:ext cx="7143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684781"/>
            <a:ext cx="71437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o processo de desenvolvimento de modelos abstratos que representam a realidade sob a perspectiva do desenvolvimento de sistemas.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2387715"/>
            <a:ext cx="7143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 de Modelo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637746"/>
            <a:ext cx="71437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representações gráficas (diagramas) que ajudam a compreender a estrutura e o comportamento de um sistema real.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" y="3340680"/>
            <a:ext cx="7143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590711"/>
            <a:ext cx="71437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Traduzir a complexidade do mundo real em uma linguagem técnica compreensível para desenvolvedores e stakeholders.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715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Por que Modelar Sistemas?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534762"/>
            <a:ext cx="40362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834800"/>
            <a:ext cx="40362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o diálogo entre as partes interessadas, garantindo que todos tenham a mesma visão do sistema.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679156" y="1534762"/>
            <a:ext cx="40362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Redução de Erros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79156" y="1834800"/>
            <a:ext cx="40362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falhas de lógica e requisitos antes mesmo da escrita do código, economizando tempo e recursos.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8625" y="2780565"/>
            <a:ext cx="40362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3080603"/>
            <a:ext cx="4036219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como um registro visual da arquitetura e do funcionamento do software para consultas futuras.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679156" y="2780565"/>
            <a:ext cx="403621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17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Abstração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79156" y="3080603"/>
            <a:ext cx="4036219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focar em aspectos específicos do sistema sem se perder em detalhes complexos de implementação.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908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Características da Modelagem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085850" y="1570481"/>
            <a:ext cx="69151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Abstração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85850" y="1883020"/>
            <a:ext cx="6915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no que é essencial para o sistema, ignorando detalhes irrelevantes para o nível de visão atual.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85850" y="2613078"/>
            <a:ext cx="69151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Visibilidade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85850" y="2925617"/>
            <a:ext cx="6915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visualizar o sistema sob diferentes perspectivas, tanto estáticas quanto dinâmicas.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85850" y="3655675"/>
            <a:ext cx="69151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Modularidade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85850" y="3968214"/>
            <a:ext cx="6915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Promove a divisão do sistema em componentes coesos, facilitando a gestão da complexidade.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85850" y="4698271"/>
            <a:ext cx="69151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Reusabilidade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85850" y="5010810"/>
            <a:ext cx="69151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 o uso de componentes e padrões já validados em novos projetos ou partes do sistema.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Tipos de Modelagem (Paradigmas)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34762"/>
            <a:ext cx="2400300" cy="403622"/>
          </a:xfrm>
          <a:prstGeom prst="rect">
            <a:avLst/>
          </a:prstGeom>
          <a:noFill/>
          <a:ln/>
        </p:spPr>
        <p:txBody>
          <a:bodyPr wrap="squar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Paradigma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971800" y="1534762"/>
            <a:ext cx="5600700" cy="403622"/>
          </a:xfrm>
          <a:prstGeom prst="rect">
            <a:avLst/>
          </a:prstGeom>
          <a:noFill/>
          <a:ln/>
        </p:spPr>
        <p:txBody>
          <a:bodyPr wrap="square" lIns="8509" tIns="8509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Foco e Aplicação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938384"/>
            <a:ext cx="2400300" cy="725091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Modelagem Estruturada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71800" y="1938384"/>
            <a:ext cx="5600700" cy="725091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em processos e fluxo de dados (Análise Estruturada). Indicado para sistemas com lógica principalmente linear.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2663475"/>
            <a:ext cx="2400300" cy="721519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Modelagem Orientada a Objetos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71800" y="2663475"/>
            <a:ext cx="5600700" cy="721519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em identificar objetos com atributos e comportamentos. Adequado para sistemas mais complexos e modulares.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" y="3388565"/>
            <a:ext cx="8001000" cy="425053"/>
          </a:xfrm>
          <a:prstGeom prst="rect">
            <a:avLst/>
          </a:prstGeom>
          <a:noFill/>
          <a:ln/>
        </p:spPr>
        <p:txBody>
          <a:bodyPr wrap="square" lIns="0" tIns="136017" rIns="0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11D4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Diferença Chave:</a:t>
            </a:r>
            <a:r>
              <a:rPr lang="en-US" sz="1400" i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estruturada separa dados e processos; a OO os reúne no Objeto.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Orientada a Objetos (OO)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28625" y="1463325"/>
            <a:ext cx="8286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spc="1" kern="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ENTIDADE FUNDAMENTAL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28625" y="1727643"/>
            <a:ext cx="82867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400" b="1" dirty="0">
                <a:solidFill>
                  <a:srgbClr val="4040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Objeto</a:t>
            </a: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unidade central, representando uma instância real ou abstrata de uma </a:t>
            </a:r>
            <a:r>
              <a:rPr lang="en-US" sz="15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dentro do sistema.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87848" y="2694896"/>
            <a:ext cx="35683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Objeto = Dados + Funções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3805833" y="3152096"/>
            <a:ext cx="15323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ATRIBUTOS + MÉTODOS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28625" y="3687877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Interação Dinâmica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8625" y="3905762"/>
            <a:ext cx="36004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resolução de problemas ocorre através da troca de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4078998"/>
            <a:ext cx="27932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entre objetos independentes.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14875" y="3687877"/>
            <a:ext cx="40005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Gestão de Complexidade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14875" y="3905762"/>
            <a:ext cx="381297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coesas com interfaces simples que escondem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14875" y="4078998"/>
            <a:ext cx="24110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detalhes de implementação interna.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Pilares da Modelagem OO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34762"/>
            <a:ext cx="1571625" cy="25360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Encapsulamento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534762"/>
            <a:ext cx="5429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 os dados internos do objeto contra acessos indevidos externos, garantindo que o estado do objeto seja alterado apenas por seus próprios métodos.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433396"/>
            <a:ext cx="1571625" cy="25360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Herança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2433396"/>
            <a:ext cx="5429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 que permite derivar novas classes a partir de classes 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existentes, promovendo o </a:t>
            </a:r>
            <a:r>
              <a:rPr lang="en-US" sz="12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reuso de código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criação de 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hierarquias de especialização.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3332029"/>
            <a:ext cx="1571625" cy="25360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Polimorfismo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286000" y="3332029"/>
            <a:ext cx="5429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 de um objeto assumir diferentes formas. Permite que classes derivadas alterem o comportamento de métodos herdados da classe base.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" y="4230663"/>
            <a:ext cx="1571625" cy="25360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Visibilidade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0" y="4230663"/>
            <a:ext cx="5429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o nível de acesso aos membros de uma classe (público, privado ou protegido), sendo fundamental para manter o princípio do encapsulamento.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Tipos de Modelagem (Perspectivas UML)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0" y="1249012"/>
            <a:ext cx="7715250" cy="628650"/>
          </a:xfrm>
          <a:prstGeom prst="rect">
            <a:avLst/>
          </a:prstGeom>
          <a:noFill/>
          <a:ln/>
        </p:spPr>
        <p:txBody>
          <a:bodyPr wrap="square" lIns="680339" tIns="25514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200" b="1" dirty="0">
                <a:solidFill>
                  <a:srgbClr val="4040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UML (Unified Modeling Language)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linguagem padrão mundial para visualização e 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de sistemas, dividindo-se em duas grandes perspectivas: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2320575"/>
            <a:ext cx="378618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Estrutural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2731340"/>
            <a:ext cx="378618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 a estrutura estática do sistema, focando nos componentes que o compõem e em como eles se relacionam fisicamente ou logicamente.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3581447"/>
            <a:ext cx="37861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EXEMPLOS: DIAGRAMAS DE CLASSES, OBJETOS E COMPONENTES.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86313" y="2320575"/>
            <a:ext cx="3786188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Comportamental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86313" y="2731340"/>
            <a:ext cx="378618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 como o sistema se comporta e interage ao longo do tempo, focando nas funcionalidades e nas trocas de mensagens entre objetos.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86313" y="3581447"/>
            <a:ext cx="378618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EXEMPLOS: CASOS DE USO, SEQUÊNCIA E ATIVIDADES.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Modelagem de Requisitos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34762"/>
            <a:ext cx="3786188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Identificação de Necessidades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71500" y="1981247"/>
            <a:ext cx="3786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Requisitos Funcionais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206275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Descrevem o que o sistema deve fazer (funcionalidades e serviços).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784918"/>
            <a:ext cx="3786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Requisitos Não Funcionais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3009947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Restrições e qualidades (desempenho, segurança, usabilidade).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86313" y="1534762"/>
            <a:ext cx="3786188" cy="30360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Diagrama de Casos de Uso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86313" y="1981247"/>
            <a:ext cx="3786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Atores e Funcionalidades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86313" y="2206275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Mapeia quem interage com o sistema e quais tarefas são realizadas.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86313" y="2784918"/>
            <a:ext cx="378618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171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Visão Externa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86313" y="3009947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no comportamento do sistema sob o ponto de vista do usuário final.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874340"/>
            <a:ext cx="8001000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4040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Importância Crítica:</a:t>
            </a:r>
            <a:r>
              <a:rPr lang="en-US" sz="1150" i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a modelagem de requisitos falhar, o sistema final não atenderá ao usuário, </a:t>
            </a:r>
            <a:r>
              <a:rPr lang="en-US" sz="1150" i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independentemente da qualidade técnica da implementação.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277602"/>
            <a:ext cx="8429625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71717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Conclusão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14375" y="1343806"/>
            <a:ext cx="5715000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modelagem é a ponte essencial entre a </a:t>
            </a:r>
            <a:r>
              <a:rPr lang="en-US" sz="1600" b="1" dirty="0">
                <a:solidFill>
                  <a:srgbClr val="4040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necessidade do usuário</a:t>
            </a: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</a:t>
            </a:r>
            <a:r>
              <a:rPr lang="en-US" sz="1600" b="1" dirty="0">
                <a:solidFill>
                  <a:srgbClr val="4040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solução tecnológica</a:t>
            </a: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garantindo sistemas robustos, escaláveis e fáceis de </a:t>
            </a:r>
            <a:r>
              <a:rPr lang="en-US" sz="17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14375" y="3195377"/>
            <a:ext cx="4286250" cy="167052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4375" y="3195377"/>
            <a:ext cx="4286250" cy="714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3484699"/>
            <a:ext cx="42862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2" kern="0" dirty="0">
                <a:solidFill>
                  <a:srgbClr val="E11D4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4375" y="3765091"/>
            <a:ext cx="42862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Aprofundamento nos diagramas específicos da 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Estudo de Ferramentas CASE para modelagem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25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Prática de levantamento de requisitos reais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4375" y="4577358"/>
            <a:ext cx="18430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3A3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• Aula 01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2026-05-13T14:32:52Z</dcterms:created>
  <dcterms:modified xsi:type="dcterms:W3CDTF">2026-05-13T14:32:52Z</dcterms:modified>
</cp:coreProperties>
</file>