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Modelagem de Sistemas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957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Fundamentos, UML, Requisitos e Regras de Negócio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 Técnico de Desenvolvimento de Sistemas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0" cy="1097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Mizael Carlos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 que é Modelagem de Sistemas?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uma representação simplificada da realidade para entender, comunicar e construir sistemas.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15184" cy="233172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53896"/>
            <a:ext cx="420624" cy="420624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54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0116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Abstração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350008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 nos aspectos relevantes e ignora detalhes desnecessários, facilitando o raciocínio sobre sistemas complexos.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36976" y="1234440"/>
            <a:ext cx="2615184" cy="233172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8144" y="1453896"/>
            <a:ext cx="420624" cy="420624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5544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20116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38144" y="2350008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uma linguagem comum entre analistas, desenvolvedores, clientes e gestores ao longo do projeto.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16752" y="1234440"/>
            <a:ext cx="2615184" cy="233172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53896"/>
            <a:ext cx="420624" cy="420624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5544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0116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17920" y="2350008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decisões de projeto e serve de referência para manutenção, testes e evoluções futuras.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DE8EC"/>
          </a:solidFill>
          <a:ln/>
        </p:spPr>
      </p:sp>
      <p:sp>
        <p:nvSpPr>
          <p:cNvPr id="20" name="Text 15"/>
          <p:cNvSpPr/>
          <p:nvPr/>
        </p:nvSpPr>
        <p:spPr>
          <a:xfrm>
            <a:off x="658368" y="3794760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Importante:  </a:t>
            </a:r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não precisam ser perfeitos — precisam ser úteis para quem vai utilizá-los.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Por que Modelar? Benefícios no Desenvolvimento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Modelar antes de codificar reduz riscos, custos e retrabalho ao longo de todo o projeto.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 ambiguidades nos requisitos antes de codificar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a comunicação entre equipes técnicas e de negócio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problemas de design antes da implementação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 melhor esforço, prazo e custo do projeto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documentação viva alinhada ao sistema real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de base para o planejamento de testes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18211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bugs em produção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36976" y="3063240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36976" y="318211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74136" y="37033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retrabalho no código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16752" y="3063240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16752" y="318211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2x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53912" y="37033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velocidade no onboarding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UML — Unified Modeling Language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 padrão definida pela OMG para modelagem orientada a objetos. Versão atual: UML 2.5.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Diagramas Estruturais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Objetos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Pacotes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Composta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Diagramas Comportamentais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190195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Máquina de Estados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destaque: os três diagramas trabalhados neste curso — Classes, Casos de Uso e Atividades.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Diagrama de Classes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diagrama mais utilizado da UML — representa a estrutura estática do sistema: classes, atributos, métodos e relacionamentos.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Agrupamento de nome, atributos e métodos.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Atributo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 armazenado na classe (tipo + visibilidade).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/ Operação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Comportamento ou função executada pela classe.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Multiplicidade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 *, 0..1, 1..N — quantidade de instâncias relacionadas.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2801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Herança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Seta com triângulo vazado: subclasse herda da superclasse (is-a).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Composição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Losango preenchido: a parte depende do todo.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Associação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simples ligando duas classes relacionadas.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Visibilidade 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público, − privado, # protegido, ~ pacote.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DE8E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251960"/>
            <a:ext cx="7827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Exemplo:  </a:t>
            </a:r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Colaborador (superclasse) → Operador e Técnico (subclasses) herdam atributos e sobrescrevem métodos.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Diagrama de Casos de Uso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as funcionalidades do sistema sob a perspectiva do usuário. Foco no QUE o sistema faz, não em COMO.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47672" cy="1783080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44752"/>
            <a:ext cx="365760" cy="365760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187452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3504" y="216712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Entidade externa que interage com o sistema (usuário ou sistema externo).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2551176" y="1280160"/>
            <a:ext cx="1947672" cy="1783080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15768" y="1444752"/>
            <a:ext cx="365760" cy="365760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53619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187452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de Uso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697480" y="216712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Elipse com nome: funcionalidade que agrega valor ao ator.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4645152" y="1280160"/>
            <a:ext cx="1947672" cy="1783080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9744" y="1444752"/>
            <a:ext cx="365760" cy="365760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53619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91456" y="187452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&lt;&lt;include&gt;&gt;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791456" y="216712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caso de uso base executa obrigatoriamente o caso incluído.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6739128" y="1280160"/>
            <a:ext cx="1947672" cy="1783080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444752"/>
            <a:ext cx="365760" cy="365760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536192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5432" y="187452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&lt;&lt;extend&gt;&gt;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85432" y="216712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caso de uso estende opcionalmente outro, sob condição específica.</a:t>
            </a:r>
            <a:endParaRPr lang="en-US" sz="870" dirty="0"/>
          </a:p>
        </p:txBody>
      </p:sp>
      <p:sp>
        <p:nvSpPr>
          <p:cNvPr id="24" name="Text 18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Boas práticas de nomenclatura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Use: 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Verbo + substantivo (“Realizar Pagamento”), na perspectiva do ator, e específico (“Cancelar Pedido” em vez de “Gerenciar”).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Evite: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verbos de sistema (“Processar”), termos técnicos (“Fazer Query”) e nomes genéricos (“Manutenção”, “CRUD”).</a:t>
            </a:r>
            <a:endParaRPr lang="en-US" sz="1030" dirty="0"/>
          </a:p>
        </p:txBody>
      </p:sp>
      <p:sp>
        <p:nvSpPr>
          <p:cNvPr id="26" name="Text 2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Diagrama de Atividades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fluxos de trabalho, processos e algoritmos — similar a um fluxograma, com notação orientada a objetos.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Nó Inicial / Final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de partida e de encerramento do fluxo de atividade.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Ação / Atividade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de trabalho executada por um ator ou pelo sistema.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/ Merge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Bifurcação condicional baseada em uma guarda [condição].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2801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 / Join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 ou sincroniza fluxos paralelos e concorrentes.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Controle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Seta de transição indicando a ordem de execução.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Raias (Swimlanes)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Organizam as ações por participante ou responsável.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3794760"/>
            <a:ext cx="7827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fluxo — Fabricação de Peça: 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Receber Ordem → Separar Matéria-Prima → Configurar Máquina → Usinar Peça → Inspecionar Qualidade → Embalar e Encaminhar.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Requisitos de Sistemas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Descrições das funções, restrições e propriedades que um sistema deve ter para satisfazer usuários e partes interessadas.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DE8E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34440"/>
            <a:ext cx="7827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Importância: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Engenharia de Requisitos é a base de qualquer projeto de software bem-sucedido. Requisitos mal definidos são a principal causa de falhas em projetos de TI no mundo.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requisitos se classificam em três categorias complementares: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615184" cy="1874520"/>
          </a:xfrm>
          <a:prstGeom prst="roundRect">
            <a:avLst>
              <a:gd name="adj" fmla="val 292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807208"/>
            <a:ext cx="384048" cy="38404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89864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31927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Negócio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37033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 ou lei do negócio. Existe independente de qualquer sistema.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6976" y="2606040"/>
            <a:ext cx="2615184" cy="1874520"/>
          </a:xfrm>
          <a:prstGeom prst="roundRect">
            <a:avLst>
              <a:gd name="adj" fmla="val 292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8144" y="2807208"/>
            <a:ext cx="384048" cy="38404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289864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38144" y="331927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 Funcional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38144" y="37033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 sistema deve fazer — funcionalidades e interações.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16752" y="2606040"/>
            <a:ext cx="2615184" cy="1874520"/>
          </a:xfrm>
          <a:prstGeom prst="roundRect">
            <a:avLst>
              <a:gd name="adj" fmla="val 2927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2807208"/>
            <a:ext cx="384048" cy="38404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89864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331927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 Não Funcional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217920" y="37033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 sistema se comporta — qualidade, desempenho, segurança.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Regra de Negócio (RN)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diretriz, política ou restrição que governa como a organização opera — não é funcionalidade do sistema, é uma lei do negócio.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</a:t>
            </a:r>
            <a:endParaRPr lang="en-US" sz="11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Surge do domínio do negócio (não da TI): legislação, políticas internas, contratos e decisões estratégicas.</a:t>
            </a:r>
            <a:endParaRPr lang="en-US" sz="110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Independência</a:t>
            </a:r>
            <a:endParaRPr lang="en-US" sz="11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antes e independente de qualquer sistema. Ex.: “Menor de 18 anos não pode ser contratado”.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2801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</a:t>
            </a:r>
            <a:endParaRPr lang="en-US" sz="11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Registrada com identificador, nome, descrição, fonte, prioridade e situação (ativa/inativa/em revisão).</a:t>
            </a:r>
            <a:endParaRPr lang="en-US" sz="110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</a:t>
            </a:r>
            <a:endParaRPr lang="en-US" sz="110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“Desconto de 10% acima de R$500”, “CPF obrigatório para nota fiscal”, “Aprovação de despesas até R$1.000”.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3931920"/>
            <a:ext cx="7827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 ≠ Requisito Funcional: 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RN é a lei (“CPF inválido não finaliza compra”); o RF é como o sistema a implementa (“validar CPF no cadastro”).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Requisito Funcional x Não Funcional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 descreve o que o sistema faz; RNF define como o sistema se comporta em termos de qualidade.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46888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4475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 Funcional (RF)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199339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Responde: O QUE o sistema faz?</a:t>
            </a:r>
            <a:endParaRPr lang="en-US" sz="103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Estrutura: ID (RF01), nome, descrição, ator, prioridade e critérios de aceitação.</a:t>
            </a:r>
            <a:endParaRPr lang="en-US" sz="103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Ex.: RF01 Autenticar usuário · RF04 Calcular desconto automático.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246888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463040"/>
            <a:ext cx="384048" cy="38404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5544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144475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 Não Funcional (RNF)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92040" y="199339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Responde: COMO o sistema se comporta?</a:t>
            </a:r>
            <a:endParaRPr lang="en-US" sz="103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Desempenho: resposta em até 2s para 95% das requisições.</a:t>
            </a:r>
            <a:endParaRPr lang="en-US" sz="103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Segurança: senhas com hash SHA-256, acesso por perfil.</a:t>
            </a:r>
            <a:endParaRPr lang="en-US" sz="103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Usabilidade: interface responsiva, disponibilidade 99,9% (SLA).</a:t>
            </a:r>
            <a:endParaRPr lang="en-US" sz="1030" dirty="0"/>
          </a:p>
        </p:txBody>
      </p:sp>
      <p:sp>
        <p:nvSpPr>
          <p:cNvPr id="14" name="Text 1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RN, RF e RNF: a Trindade dos Requisitos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Regra de Negócio origina Requisitos Funcionais, que por sua vez recebem Requisitos Não Funcionais associados.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5608" y="1627632"/>
            <a:ext cx="420624" cy="420624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72821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241401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QUÊ o negócio exige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03504" y="2651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Desconto de 10% para pedidos acima de R$500.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2834640" y="1965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00400" y="146304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8808" y="1627632"/>
            <a:ext cx="420624" cy="420624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7282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103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RF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310128" y="241401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QUÊ o sistema faz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346704" y="2651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deve calcular e aplicar o desconto automaticamente.</a:t>
            </a:r>
            <a:endParaRPr lang="en-US" sz="870" dirty="0"/>
          </a:p>
        </p:txBody>
      </p:sp>
      <p:sp>
        <p:nvSpPr>
          <p:cNvPr id="17" name="Text 13"/>
          <p:cNvSpPr/>
          <p:nvPr/>
        </p:nvSpPr>
        <p:spPr>
          <a:xfrm>
            <a:off x="5577840" y="1965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943600" y="146304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22008" y="1627632"/>
            <a:ext cx="420624" cy="420624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72821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0" y="2103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RNF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053328" y="241401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 sistema entrega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089904" y="265176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cálculo deve ocorrer em até 2 segundos.</a:t>
            </a:r>
            <a:endParaRPr lang="en-US" sz="870" dirty="0"/>
          </a:p>
        </p:txBody>
      </p:sp>
      <p:sp>
        <p:nvSpPr>
          <p:cNvPr id="24" name="Shape 19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DE8EC"/>
          </a:solidFill>
          <a:ln/>
        </p:spPr>
      </p:sp>
      <p:sp>
        <p:nvSpPr>
          <p:cNvPr id="25" name="Text 20"/>
          <p:cNvSpPr/>
          <p:nvPr/>
        </p:nvSpPr>
        <p:spPr>
          <a:xfrm>
            <a:off x="658368" y="3291840"/>
            <a:ext cx="7827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três tipos são complementares — cada um com papel próprio — e juntos formam a especificação completa do sistema.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Técnicas de Análise de Requisitos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Principais técnicas utilizadas para elicitar, documentar e validar requisitos de sistemas.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426464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485900"/>
            <a:ext cx="173736" cy="17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3716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Entrevistas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87552" y="166420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Diálogo estruturado com stakeholders.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36976" y="1280160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426464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1485900"/>
            <a:ext cx="173736" cy="173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13716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Questionários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767328" y="166420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Coleta de dados com muitos usuários.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16752" y="1280160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1426464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92" y="1485900"/>
            <a:ext cx="173736" cy="1737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13716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Observação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547104" y="166420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do ambiente real de trabalho.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57200" y="2368296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3504" y="2514600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574036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24597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Prototipação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87552" y="275234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Wireframes para validar requisitos.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236976" y="2368296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83280" y="2514600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6" y="2574036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67328" y="24597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Documentos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767328" y="275234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de manuais e sistemas legados.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6016752" y="2368296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63056" y="2514600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492" y="2574036"/>
            <a:ext cx="173736" cy="1737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47104" y="24597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Workshops (JAD/RAD)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547104" y="275234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Sessões colaborativas de levantamento.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457200" y="3456432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03504" y="3602736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3662172"/>
            <a:ext cx="173736" cy="17373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87552" y="35478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987552" y="38404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das interações ator-sistema.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3236976" y="3456432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383280" y="3602736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716" y="3662172"/>
            <a:ext cx="173736" cy="17373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767328" y="35478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Histórias de Usuário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3767328" y="38404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“Como [usuário], quero [funcionalidade]”.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6016752" y="3456432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163056" y="3602736"/>
            <a:ext cx="292608" cy="292608"/>
          </a:xfrm>
          <a:prstGeom prst="ellipse">
            <a:avLst/>
          </a:prstGeom>
          <a:solidFill>
            <a:srgbClr val="FDE8EC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2492" y="3662172"/>
            <a:ext cx="173736" cy="17373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547104" y="354787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Rastreabilidade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6547104" y="38404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Vincula requisito, fonte e testes.</a:t>
            </a:r>
            <a:endParaRPr lang="en-US" sz="800" dirty="0"/>
          </a:p>
        </p:txBody>
      </p:sp>
      <p:sp>
        <p:nvSpPr>
          <p:cNvPr id="49" name="Text 38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 Regra de Negócio ao Código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Regra de Negócio é documentada, derivada em Requisito Funcional e implementada em orientação a objetos.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a RN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213969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Levantar com o cliente as políticas do negócio. Ex.: RN001 — desconto de 10% acima de R$500.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551176" y="128016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15768" y="1426464"/>
            <a:ext cx="347472" cy="34747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184708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213969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Preencher a ficha da RN: ID, nome, descrição, fonte, prioridade e situação.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645152" y="128016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1426464"/>
            <a:ext cx="347472" cy="34747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91456" y="184708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Derivar o RF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456" y="213969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RF005 — o sistema deve calcular automaticamente o desconto para pedidos acima de R$500.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739128" y="128016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426464"/>
            <a:ext cx="347472" cy="34747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85432" y="184708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(OOP)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85432" y="213969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RF vira um método ou classe na arquitetura orientada a objetos do sistema.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1783080"/>
          </a:xfrm>
          <a:prstGeom prst="roundRect">
            <a:avLst>
              <a:gd name="adj" fmla="val 3077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06324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Pedido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float $valor;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calcularDesconto(): float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($this-&gt;valor &gt; 500)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$this-&gt;valor * 0.10;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0.0;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DE8E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188720"/>
            <a:ext cx="7827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modelagem é a ponte essencial entre a necessidade do usuário e a solução tecnológica, garantindo sistemas robustos, escaláveis e fáceis de manter.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do conteúdo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reduz ambiguidade e documenta o conhecimento do sistema.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padroniza a comunicação por meio de Classes, Casos de Uso e Atividades.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Negócio, Requisitos Funcionais e Não Funcionais formam a especificação completa.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RN é documentada, derivada em RF e implementada em código orientado a objetos.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Aprofundar nos diagramas específicos da UML · Estudar ferramentas CASE para modelagem · Praticar levantamento de requisitos reais.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de Sistemas — Síntese</dc:title>
  <dc:subject>PptxGenJS Presentation</dc:subject>
  <dc:creator>Prof. Mizael Carlos</dc:creator>
  <cp:lastModifiedBy>Prof. Mizael Carlos</cp:lastModifiedBy>
  <cp:revision>1</cp:revision>
  <dcterms:created xsi:type="dcterms:W3CDTF">2026-06-30T10:25:38Z</dcterms:created>
  <dcterms:modified xsi:type="dcterms:W3CDTF">2026-06-30T10:25:38Z</dcterms:modified>
</cp:coreProperties>
</file>