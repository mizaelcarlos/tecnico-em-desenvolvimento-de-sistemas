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74" r:id="rId3"/>
    <p:sldId id="275" r:id="rId4"/>
    <p:sldId id="276" r:id="rId5"/>
    <p:sldId id="277" r:id="rId6"/>
    <p:sldId id="278" r:id="rId7"/>
    <p:sldId id="279" r:id="rId8"/>
    <p:sldId id="280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7917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5715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72368" y="1971926"/>
            <a:ext cx="839926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Regras de Negócio</a:t>
            </a:r>
            <a:endParaRPr lang="en-US" sz="3300" dirty="0"/>
          </a:p>
        </p:txBody>
      </p:sp>
      <p:sp>
        <p:nvSpPr>
          <p:cNvPr id="4" name="Text 1"/>
          <p:cNvSpPr/>
          <p:nvPr/>
        </p:nvSpPr>
        <p:spPr>
          <a:xfrm>
            <a:off x="1572518" y="2801020"/>
            <a:ext cx="5998964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700" dirty="0">
                <a:solidFill>
                  <a:srgbClr val="00BCD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Definição, Objetivo, Estrutura e Implementação em PHP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0" y="4586288"/>
            <a:ext cx="9144000" cy="457200"/>
          </a:xfrm>
          <a:prstGeom prst="rect">
            <a:avLst/>
          </a:prstGeom>
          <a:solidFill>
            <a:srgbClr val="000000">
              <a:alpha val="30000"/>
            </a:srgbClr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3"/>
          <p:cNvSpPr/>
          <p:nvPr/>
        </p:nvSpPr>
        <p:spPr>
          <a:xfrm>
            <a:off x="0" y="4586288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buNone/>
            </a:pPr>
            <a:r>
              <a:rPr lang="en-US" sz="12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Prof. Mizael Carlos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Regra de Negócio — Definição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064419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7294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8719" y="1028700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Definição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78719" y="1271588"/>
            <a:ext cx="3107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Regra de Negócio (RN) é uma declaração formal que define ou restringe algum aspecto do negócio. Ela representa uma política, norma ou condição que governa como a organização deve operar, independentemente de qualquer sistema de software.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857750" y="1064419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484" y="1207294"/>
            <a:ext cx="250031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07844" y="928688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Origem e Fonte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607844" y="1171575"/>
            <a:ext cx="31075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RNs surgem do domínio do negócio (não da TI). Fontes: legislação e normas legais, políticas internas da empresa, contratos e acordos comerciais, boas práticas do setor, e decisões estratégicas da gestão.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46485" y="2431923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pt-BR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571217"/>
            <a:ext cx="285750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60860" y="2336006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Diferença Importante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178719" y="2571217"/>
            <a:ext cx="3107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 ≠ Requisito Funcional. A RN é a lei do negócio ("todo cliente com CPF inválido não pode finalizar compra"). O RF é como o sistema implementa essa lei ("o sistema deve validar o CPF ao cadastrar").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857750" y="2193131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2336006"/>
            <a:ext cx="285750" cy="285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07844" y="2057400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Independência do Sistema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607844" y="2300288"/>
            <a:ext cx="31075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Uma RN existe independente do sistema. Ex: "Funcionário menor de 18 anos não pode ser contratado" é uma lei que existe antes de qualquer software. O sistema só a implementa.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5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4561284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Objetivo das Regras de Negócio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28625" y="785813"/>
            <a:ext cx="8286750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150" dirty="0">
                <a:solidFill>
                  <a:srgbClr val="555555"/>
                </a:solidFill>
                <a:latin typeface="Inter" pitchFamily="34" charset="0"/>
              </a:rPr>
              <a:t>As RNs definem </a:t>
            </a:r>
            <a:r>
              <a:rPr lang="en-US" sz="1100" b="1" dirty="0">
                <a:solidFill>
                  <a:srgbClr val="555555"/>
                </a:solidFill>
                <a:latin typeface="Inter Bold" pitchFamily="34" charset="0"/>
              </a:rPr>
              <a:t>o que o negócio precisa</a:t>
            </a:r>
            <a:r>
              <a:rPr lang="en-US" sz="1150" dirty="0">
                <a:solidFill>
                  <a:srgbClr val="555555"/>
                </a:solidFill>
                <a:latin typeface="Inter" pitchFamily="34" charset="0"/>
              </a:rPr>
              <a:t>, orientando o desenvolvimento do sistema de forma precisa e consistente.</a:t>
            </a:r>
            <a:endParaRPr lang="en-US" sz="1150" dirty="0"/>
          </a:p>
        </p:txBody>
      </p:sp>
      <p:sp>
        <p:nvSpPr>
          <p:cNvPr id="6" name="Shape 3"/>
          <p:cNvSpPr/>
          <p:nvPr/>
        </p:nvSpPr>
        <p:spPr>
          <a:xfrm>
            <a:off x="428625" y="1117997"/>
            <a:ext cx="8286750" cy="3000375"/>
          </a:xfrm>
          <a:prstGeom prst="rect">
            <a:avLst/>
          </a:prstGeom>
          <a:solidFill>
            <a:srgbClr val="1E1E1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/>
          <p:nvPr/>
        </p:nvSpPr>
        <p:spPr>
          <a:xfrm>
            <a:off x="428625" y="1117997"/>
            <a:ext cx="8286750" cy="3000375"/>
          </a:xfrm>
          <a:prstGeom prst="rect">
            <a:avLst/>
          </a:prstGeom>
          <a:noFill/>
          <a:ln/>
        </p:spPr>
        <p:txBody>
          <a:bodyPr wrap="square" lIns="255143" tIns="170053" rIns="255143" bIns="0" rtlCol="0" anchor="t">
            <a:sp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pt-BR" sz="1100" b="1" dirty="0">
                <a:solidFill>
                  <a:srgbClr val="00BCD4"/>
                </a:solidFill>
                <a:latin typeface="Inter Bold" pitchFamily="34" charset="0"/>
              </a:rPr>
              <a:t>1. Padronizar o comportamento do sistema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pt-BR" sz="1000" dirty="0">
                <a:solidFill>
                  <a:srgbClr val="CCCCCC"/>
                </a:solidFill>
                <a:latin typeface="Inter" pitchFamily="34" charset="0"/>
              </a:rPr>
              <a:t>Garante que todos os módulos sigam as mesmas políticas. Ex: o cálculo de desconto sempre segue a mesma fórmula em todo o sistema.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pt-BR" sz="1100" b="1" dirty="0">
                <a:solidFill>
                  <a:srgbClr val="00BCD4"/>
                </a:solidFill>
                <a:latin typeface="Inter Bold" pitchFamily="34" charset="0"/>
              </a:rPr>
              <a:t>2. Garantir conformidade legal e contratual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pt-BR" sz="1000" dirty="0">
                <a:solidFill>
                  <a:srgbClr val="CCCCCC"/>
                </a:solidFill>
                <a:latin typeface="Inter" pitchFamily="34" charset="0"/>
              </a:rPr>
              <a:t>Impede que o sistema processe dados inválidos. Ex: CPF inválido bloqueia emissão de nota fiscal conforme a lei.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pt-BR" sz="1100" b="1" dirty="0">
                <a:solidFill>
                  <a:srgbClr val="00BCD4"/>
                </a:solidFill>
                <a:latin typeface="Inter Bold" pitchFamily="34" charset="0"/>
              </a:rPr>
              <a:t>3. Orientar os Requisitos Funcionais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pt-BR" sz="1000" dirty="0">
                <a:solidFill>
                  <a:srgbClr val="CCCCCC"/>
                </a:solidFill>
                <a:latin typeface="Inter" pitchFamily="34" charset="0"/>
              </a:rPr>
              <a:t>Cada RF nasce de uma RN. Ex: a RN "desconto para compras acima de R$500" gera o RF "o sistema deve calcular e aplicar desconto automático".</a:t>
            </a:r>
          </a:p>
          <a:p>
            <a:pPr marL="0" indent="0" algn="l">
              <a:lnSpc>
                <a:spcPct val="130000"/>
              </a:lnSpc>
              <a:buNone/>
            </a:pPr>
            <a:r>
              <a:rPr lang="pt-BR" sz="1100" b="1" dirty="0">
                <a:solidFill>
                  <a:srgbClr val="00BCD4"/>
                </a:solidFill>
                <a:latin typeface="Inter Bold" pitchFamily="34" charset="0"/>
              </a:rPr>
              <a:t>4. Documentar o conhecimento do negócio</a:t>
            </a:r>
          </a:p>
          <a:p>
            <a:pPr marL="0" indent="0" algn="l">
              <a:lnSpc>
                <a:spcPct val="120000"/>
              </a:lnSpc>
              <a:buNone/>
            </a:pPr>
            <a:r>
              <a:rPr lang="pt-BR" sz="1000" dirty="0">
                <a:solidFill>
                  <a:srgbClr val="CCCCCC"/>
                </a:solidFill>
                <a:latin typeface="Inter" pitchFamily="34" charset="0"/>
              </a:rPr>
              <a:t>RNs preservam o conhecimento organizacional. Ao trocar a equipe ou o sistema, as regras permanecem documentadas e não se perdem.</a:t>
            </a:r>
          </a:p>
        </p:txBody>
      </p:sp>
      <p:sp>
        <p:nvSpPr>
          <p:cNvPr id="8" name="Shape 5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4647009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Estrutura de uma Regra de Negócio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57250" y="1000125"/>
            <a:ext cx="7715250" cy="6400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Como documentar:</a:t>
            </a:r>
            <a:r>
              <a:rPr lang="en-US" sz="17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Toda RN deve ser documentada com campos específicos para garantir clareza, rastreabilidade e consistência no sistema.</a:t>
            </a:r>
            <a:endParaRPr lang="en-US" sz="17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2140223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625998"/>
            <a:ext cx="24003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Identificador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904604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Código único para identificação e rastreabilidade. Ex: RN001, RN002... Permite referenciar a regra em outros documentos, como RFs e casos de teste.</a:t>
            </a:r>
            <a:endParaRPr lang="en-US" sz="9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00550" y="2140223"/>
            <a:ext cx="342900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71850" y="2625998"/>
            <a:ext cx="24003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Nome e Descrição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71850" y="2904604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Nome curto e descritivo + descrição clara e objetiva da regra. A descrição deve ser escrita em linguagem do negócio, sem termos técnicos de TI.</a:t>
            </a:r>
            <a:endParaRPr lang="en-US" sz="95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0900" y="2140223"/>
            <a:ext cx="342900" cy="3429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72200" y="2625998"/>
            <a:ext cx="2400300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33333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Fonte, Prioridade e Situação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72200" y="2904604"/>
            <a:ext cx="2400300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9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quem definiu a regra (gestor, lei, contrato). Prioridade: Alta/Média/Baixa. Situação: Ativa, Inativa, Em revisão. Esses campos garantem governança e manutenção das regras.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0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Exemplos Práticos de Regras de Negócio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428625" y="1064419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1207294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78719" y="1028700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1178719" y="1271588"/>
            <a:ext cx="3107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RN001: Cliente com mais de 3 compras recebe frete grátis. RN002: Desconto de 10% para pedidos acima de R$500. RN003: Produto sem estoque não pode ser adicionado ao carrinho.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4857750" y="1064419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8484" y="1207294"/>
            <a:ext cx="250031" cy="2857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607844" y="928688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Financeiro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5607844" y="1171575"/>
            <a:ext cx="31075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RN004: CPF obrigatório para emissão de nota fiscal. RN005: Funcionário só pode aprovar despesas até o limite do seu cargo. RN006: Juros de 2% ao mês para pagamentos em atraso.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428625" y="2193131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2336006"/>
            <a:ext cx="285750" cy="2857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178719" y="2157413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RH / Recursos Humanos</a:t>
            </a:r>
            <a:endParaRPr lang="en-US" sz="1200" dirty="0"/>
          </a:p>
        </p:txBody>
      </p:sp>
      <p:sp>
        <p:nvSpPr>
          <p:cNvPr id="16" name="Text 10"/>
          <p:cNvSpPr/>
          <p:nvPr/>
        </p:nvSpPr>
        <p:spPr>
          <a:xfrm>
            <a:off x="1178719" y="2400300"/>
            <a:ext cx="3107531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RN007: Funcionário menor de 18 anos não pode ser contratado. RN008: Horas extras acima de 2h/dia precisam de autorização do gerente. RN009: Férias só após 12 meses de trabalho.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4857750" y="2193131"/>
            <a:ext cx="571500" cy="571500"/>
          </a:xfrm>
          <a:prstGeom prst="rect">
            <a:avLst/>
          </a:prstGeom>
          <a:solidFill>
            <a:srgbClr val="00BCD4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00625" y="2336006"/>
            <a:ext cx="285750" cy="285750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5607844" y="2057400"/>
            <a:ext cx="3107531" cy="2071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Saúde / Clínicas</a:t>
            </a:r>
            <a:endParaRPr lang="en-US" sz="1200" dirty="0"/>
          </a:p>
        </p:txBody>
      </p:sp>
      <p:sp>
        <p:nvSpPr>
          <p:cNvPr id="20" name="Text 13"/>
          <p:cNvSpPr/>
          <p:nvPr/>
        </p:nvSpPr>
        <p:spPr>
          <a:xfrm>
            <a:off x="5607844" y="2300288"/>
            <a:ext cx="3107531" cy="6000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RN010: Consulta só pode ser agendada com pelo menos 24h de antecedência. RN011: Paciente menor deve ter responsável presente. RN012: Receita médica é obrigatória para remédio controlado.</a:t>
            </a:r>
            <a:endParaRPr lang="en-US" sz="1050" dirty="0"/>
          </a:p>
        </p:txBody>
      </p:sp>
      <p:sp>
        <p:nvSpPr>
          <p:cNvPr id="21" name="Shape 14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5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84000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RN vs RF: Diferenças e Relações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985838"/>
            <a:ext cx="228600" cy="2286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57250" y="928688"/>
            <a:ext cx="78581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Regra de Negócio (RN)</a:t>
            </a:r>
            <a:endParaRPr lang="en-US" sz="1300" dirty="0"/>
          </a:p>
        </p:txBody>
      </p:sp>
      <p:sp>
        <p:nvSpPr>
          <p:cNvPr id="7" name="Text 3"/>
          <p:cNvSpPr/>
          <p:nvPr/>
        </p:nvSpPr>
        <p:spPr>
          <a:xfrm>
            <a:off x="857250" y="1234083"/>
            <a:ext cx="72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à pergunta: O QUE o negócio exige? Vem do domínio do negócio, existe antes do sistema. Ex: “Desconto de 10% para compras acima de R$500”. Define a lei que o sistema deve respeitar.</a:t>
            </a:r>
            <a:endParaRPr lang="en-US" sz="115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993106"/>
            <a:ext cx="171450" cy="2286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7250" y="1935956"/>
            <a:ext cx="78581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Requisito Funcional (RF)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57250" y="2241352"/>
            <a:ext cx="7200000" cy="40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Responde à pergunta: O QUE o sistema faz? Nasce da RN para implementá-la no sistema. Ex: “O sistema deve calcular e aplicar desconto de 10% para pedidos acima de R$500”. É a funcionalidade que concretiza a regra.</a:t>
            </a:r>
            <a:endParaRPr lang="en-US" sz="1150" dirty="0"/>
          </a:p>
        </p:txBody>
      </p:sp>
      <p:sp>
        <p:nvSpPr>
          <p:cNvPr id="24" name="Text 19"/>
          <p:cNvSpPr/>
          <p:nvPr/>
        </p:nvSpPr>
        <p:spPr>
          <a:xfrm>
            <a:off x="857250" y="2480667"/>
            <a:ext cx="859036" cy="189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 lang="en-US" sz="1150" dirty="0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000375"/>
            <a:ext cx="228600" cy="22860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57250" y="2943225"/>
            <a:ext cx="7858125" cy="2250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Relação entre RN e RF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57250" y="3225403"/>
            <a:ext cx="7858125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5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 RN origina um ou mais RFs. A RN “cliente com CPF inválido não finaliza compra” gera o RF “o sistema deve validar o CPF antes de confirmar o pedido”. RN define O QUÊ; RF define COMO o sistema implementa.  </a:t>
            </a:r>
            <a:endParaRPr lang="en-US" sz="1150" dirty="0"/>
          </a:p>
        </p:txBody>
      </p:sp>
      <p:sp>
        <p:nvSpPr>
          <p:cNvPr id="28" name="Shape 22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3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 Modelagem ao Código</a:t>
            </a:r>
            <a:endParaRPr lang="en-US" sz="1800" dirty="0"/>
          </a:p>
        </p:txBody>
      </p:sp>
      <p:sp>
        <p:nvSpPr>
          <p:cNvPr id="5" name="Shape 2"/>
          <p:cNvSpPr/>
          <p:nvPr/>
        </p:nvSpPr>
        <p:spPr>
          <a:xfrm>
            <a:off x="571500" y="1030123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231" y="1165854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21594" y="1000125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Passo 1 — </a:t>
            </a:r>
            <a:r>
              <a:rPr lang="en-US" sz="1400" b="1" dirty="0" err="1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Identificar</a:t>
            </a: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a </a:t>
            </a:r>
            <a:r>
              <a:rPr lang="en-US" sz="1400" b="1" dirty="0" err="1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Regra</a:t>
            </a: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de </a:t>
            </a:r>
            <a:r>
              <a:rPr lang="en-US" sz="1400" b="1" dirty="0" err="1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Negócio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</a:t>
            </a:r>
            <a:r>
              <a:rPr lang="en-US" sz="150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Levantar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 o </a:t>
            </a:r>
            <a:r>
              <a:rPr lang="en-US" sz="150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cliente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ou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gestor quais </a:t>
            </a:r>
            <a:r>
              <a:rPr lang="en-US" sz="150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são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as </a:t>
            </a:r>
            <a:r>
              <a:rPr lang="en-US" sz="150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políticas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</a:t>
            </a:r>
            <a:r>
              <a:rPr lang="en-US" sz="150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negócio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sz="150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Exemplo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: “RN001 — </a:t>
            </a:r>
            <a:r>
              <a:rPr lang="en-US" sz="150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Desconto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10% para </a:t>
            </a:r>
            <a:r>
              <a:rPr lang="en-US" sz="150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pedidos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500" dirty="0" err="1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acima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R$500”.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571500" y="1911651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31" y="204738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1594" y="1881653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Passo 2 — </a:t>
            </a: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Documentar no Modelo de RNs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Preencher a ficha da RN: ID, nome, descrição, fonte, prioridade e situação. Esse documento é a ponte entre negócio e desenvolvimento.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71500" y="2793178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5806" y="2928910"/>
            <a:ext cx="17145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1594" y="2763180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Passo 3 — 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Derivar os Requisitos Funcionais e implementar em código. Cada RN gera RFs, e cada RF vira um método ou classe na arquitetura orientada a objetos do sistema.</a:t>
            </a:r>
            <a:endParaRPr lang="en-US" sz="1400" dirty="0"/>
          </a:p>
        </p:txBody>
      </p:sp>
      <p:sp>
        <p:nvSpPr>
          <p:cNvPr id="14" name="Shape 8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9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Implementação em PHP: Orientação a Objetos</a:t>
            </a:r>
            <a:endParaRPr lang="en-US" sz="18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857250"/>
            <a:ext cx="296689" cy="285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68189" y="857250"/>
            <a:ext cx="784718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 Regra de Negócio: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RN001 — Pedidos acima de R$500 recebem 10% de desconto. Pedidos abaixo desse valor não recebem desconto.</a:t>
            </a:r>
            <a:endParaRPr lang="en-US" sz="14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1560184"/>
            <a:ext cx="285750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57250" y="1560184"/>
            <a:ext cx="7858125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Requisito Funcional gerado: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RF005 — O sistema deve calcular automaticamente o desconto de 10% para pedidos com valor total superior a R$500,00.</a:t>
            </a:r>
            <a:endParaRPr lang="en-US" sz="140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2263118"/>
            <a:ext cx="285750" cy="2857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857250" y="2113127"/>
            <a:ext cx="8001000" cy="2091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Implementação PHP (OOP):</a:t>
            </a:r>
            <a:r>
              <a:rPr lang="en-US" sz="900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class Pedido {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private float $valor; </a:t>
            </a:r>
          </a:p>
          <a:p>
            <a:pPr lvl="1">
              <a:lnSpc>
                <a:spcPct val="112000"/>
              </a:lnSpc>
            </a:pPr>
            <a:r>
              <a:rPr lang="en-US" sz="1200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public function calcularDesconto(): float { </a:t>
            </a:r>
          </a:p>
          <a:p>
            <a:pPr lvl="2">
              <a:lnSpc>
                <a:spcPct val="112000"/>
              </a:lnSpc>
            </a:pPr>
            <a:r>
              <a:rPr lang="en-US" sz="1200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if ($this-&gt;valor &gt; 500) { </a:t>
            </a:r>
          </a:p>
          <a:p>
            <a:pPr lvl="2">
              <a:lnSpc>
                <a:spcPct val="112000"/>
              </a:lnSpc>
            </a:pPr>
            <a:r>
              <a:rPr lang="en-US" sz="1200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return $this-&gt;valor * 0.10; </a:t>
            </a:r>
          </a:p>
          <a:p>
            <a:pPr lvl="2">
              <a:lnSpc>
                <a:spcPct val="112000"/>
              </a:lnSpc>
            </a:pPr>
            <a:r>
              <a:rPr lang="en-US" sz="1200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 </a:t>
            </a:r>
          </a:p>
          <a:p>
            <a:pPr lvl="2">
              <a:lnSpc>
                <a:spcPct val="112000"/>
              </a:lnSpc>
            </a:pPr>
            <a:r>
              <a:rPr lang="en-US" sz="1200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return 0.0; </a:t>
            </a:r>
          </a:p>
          <a:p>
            <a:pPr lvl="1">
              <a:lnSpc>
                <a:spcPct val="112000"/>
              </a:lnSpc>
            </a:pPr>
            <a:r>
              <a:rPr lang="en-US" sz="1200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sz="1200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}</a:t>
            </a:r>
            <a:endParaRPr lang="en-US" sz="2400" dirty="0"/>
          </a:p>
        </p:txBody>
      </p:sp>
      <p:sp>
        <p:nvSpPr>
          <p:cNvPr id="11" name="Shape 5"/>
          <p:cNvSpPr/>
          <p:nvPr/>
        </p:nvSpPr>
        <p:spPr>
          <a:xfrm>
            <a:off x="0" y="4157607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6"/>
          <p:cNvSpPr/>
          <p:nvPr/>
        </p:nvSpPr>
        <p:spPr>
          <a:xfrm>
            <a:off x="0" y="2966052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Text 1"/>
          <p:cNvSpPr/>
          <p:nvPr/>
        </p:nvSpPr>
        <p:spPr>
          <a:xfrm>
            <a:off x="285750" y="129480"/>
            <a:ext cx="8572500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PHP OOP — Código Completo com RN</a:t>
            </a:r>
            <a:endParaRPr lang="en-US" sz="18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7231" y="1165854"/>
            <a:ext cx="228600" cy="228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71500" y="1911651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7231" y="2047382"/>
            <a:ext cx="228600" cy="2286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321594" y="1881653"/>
            <a:ext cx="7250906" cy="560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Por que usar OOP para RNs? </a:t>
            </a: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Encapsulamento e Manutenção</a:t>
            </a:r>
            <a:r>
              <a:rPr lang="en-US" sz="1500" dirty="0">
                <a:solidFill>
                  <a:srgbClr val="3333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A RN fica centralizada num método. Se mudar de 10% para 15%, altera apenas 1 linha. Sem OOP, a regra espalhada em 20 lugares causa bugs e inconsistências.</a:t>
            </a:r>
            <a:endParaRPr lang="en-US" sz="1500" dirty="0"/>
          </a:p>
        </p:txBody>
      </p:sp>
      <p:sp>
        <p:nvSpPr>
          <p:cNvPr id="11" name="Shape 6"/>
          <p:cNvSpPr/>
          <p:nvPr/>
        </p:nvSpPr>
        <p:spPr>
          <a:xfrm>
            <a:off x="571500" y="2793178"/>
            <a:ext cx="500063" cy="500063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806" y="2928910"/>
            <a:ext cx="171450" cy="2286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321594" y="2763180"/>
            <a:ext cx="7250906" cy="11549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400" b="1" dirty="0">
                <a:solidFill>
                  <a:srgbClr val="1A237E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Uso na prática:</a:t>
            </a:r>
            <a:r>
              <a:rPr lang="en-US" sz="850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$pedido = new Pedido(600.00); 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$</a:t>
            </a:r>
            <a:r>
              <a:rPr lang="en-US" dirty="0" err="1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desconto</a:t>
            </a:r>
            <a:r>
              <a:rPr lang="en-US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 = $pedido-&gt;calcularDesconto(); // 60.00  </a:t>
            </a:r>
          </a:p>
          <a:p>
            <a:pPr marL="0" indent="0" algn="l">
              <a:lnSpc>
                <a:spcPct val="112000"/>
              </a:lnSpc>
              <a:buNone/>
            </a:pPr>
            <a:r>
              <a:rPr lang="en-US" dirty="0">
                <a:solidFill>
                  <a:srgbClr val="1A237E"/>
                </a:solidFill>
                <a:latin typeface="Consolas" pitchFamily="49" charset="0"/>
                <a:ea typeface="Consolas" pitchFamily="49" charset="-122"/>
                <a:cs typeface="Consolas" pitchFamily="49" charset="-120"/>
              </a:rPr>
              <a:t>$total = 600 - $desconto; // R$ 540,00</a:t>
            </a:r>
            <a:endParaRPr lang="en-US" sz="4000" dirty="0"/>
          </a:p>
        </p:txBody>
      </p:sp>
      <p:sp>
        <p:nvSpPr>
          <p:cNvPr id="14" name="Shape 8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solidFill>
            <a:srgbClr val="1A237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9"/>
          <p:cNvSpPr/>
          <p:nvPr/>
        </p:nvSpPr>
        <p:spPr>
          <a:xfrm>
            <a:off x="0" y="4786313"/>
            <a:ext cx="9144000" cy="357188"/>
          </a:xfrm>
          <a:prstGeom prst="rect">
            <a:avLst/>
          </a:prstGeom>
          <a:noFill/>
          <a:ln/>
        </p:spPr>
        <p:txBody>
          <a:bodyPr wrap="square" lIns="340233" tIns="0" rIns="0" bIns="0" rtlCol="0" anchor="t">
            <a:sp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Modelagem de Sistemas | Prof. Mizael Carlos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757</TotalTime>
  <Words>1165</Words>
  <Application>Microsoft Office PowerPoint</Application>
  <PresentationFormat>Apresentação na tela (16:9)</PresentationFormat>
  <Paragraphs>79</Paragraphs>
  <Slides>9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4" baseType="lpstr">
      <vt:lpstr>Arial</vt:lpstr>
      <vt:lpstr>Consolas</vt:lpstr>
      <vt:lpstr>Inter</vt:lpstr>
      <vt:lpstr>Inter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Mizael Carlos</cp:lastModifiedBy>
  <cp:revision>5</cp:revision>
  <dcterms:created xsi:type="dcterms:W3CDTF">2026-05-07T12:55:45Z</dcterms:created>
  <dcterms:modified xsi:type="dcterms:W3CDTF">2026-05-19T00:31:24Z</dcterms:modified>
</cp:coreProperties>
</file>