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7" r:id="rId18"/>
    <p:sldId id="268" r:id="rId19"/>
    <p:sldId id="269" r:id="rId2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canvas-bmc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715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2368" y="1971926"/>
            <a:ext cx="839926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Modelagem de Negócios - Canvas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572518" y="2801020"/>
            <a:ext cx="5998964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Visualizando e Inovando o Modelo de Negócio da sua Empresa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0" y="4586288"/>
            <a:ext cx="9144000" cy="4572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0" y="45862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Mizael Carlos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363438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Visão Geral: Business Model Canvas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857250"/>
            <a:ext cx="296689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189" y="857250"/>
            <a:ext cx="784718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é?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Uma ferramenta visual estratégica criada por Alexander Osterwalder que descreve, em um único quadro, como uma organização cria, entrega e captura valor.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560184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7250" y="1560184"/>
            <a:ext cx="78581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Origem: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Publicado no livro “Business Model Generation” (2010), tornou-se o método mais utilizado no mundo para modelagem e inovação de negócios.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263118"/>
            <a:ext cx="285750" cy="2857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7250" y="2263118"/>
            <a:ext cx="78581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Estrutura: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Composto por 9 blocos que cobrem clientes, oferta, infraestrutura e viabilidade financeira, todos em uma única página.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0" y="2966052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2" name="Text 6"/>
          <p:cNvSpPr/>
          <p:nvPr/>
        </p:nvSpPr>
        <p:spPr>
          <a:xfrm>
            <a:off x="0" y="2966052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3452217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Os 9 Blocos do Business Model Canvas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0729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8719" y="10287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Segmentos de Clientes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78719" y="1271588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os diferentes grupos de pessoas ou organizações que a empresa visa alcançar e atender com seus produtos ou serviços.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57750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484" y="1207294"/>
            <a:ext cx="250031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07844" y="928688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Proposta de Valor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607844" y="1171575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Descreve o conjunto de produtos e serviços que criam valor para um segmento específico de clientes, resolvendo seus problemas ou satisfazendo necessidades.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28625" y="2193131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36006"/>
            <a:ext cx="285750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8719" y="2157413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Canais e Relacionamento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78719" y="2400300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como a empresa entrega a proposta de valor e como mantém relacionamento com cada segmento — do pré-venda ao pós-venda.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857750" y="2193131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2336006"/>
            <a:ext cx="285750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07844" y="20574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Fontes de Receita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607844" y="2300288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 o dinheiro que a empresa gera a partir de cada segmento: venda direta, assinatura, licenciamento, publicidade, entre outros modelos.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2" name="Text 1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442912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Prático: Canvas de uma Startup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942975"/>
            <a:ext cx="2500313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Vamos aplicar o Canvas em um exemplo real: uma startup de </a:t>
            </a:r>
            <a:r>
              <a:rPr lang="en-US" sz="11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 de alimentos saudáveis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28625" y="1854501"/>
            <a:ext cx="2500313" cy="89723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Canvas permite enxergar de forma rápida os pontos fortes e as lacunas do negócio antes mesmo de investir recursos.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28625" y="2908902"/>
            <a:ext cx="2500313" cy="89723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bloco preenchido conta parte da história do negócio, revelando conexões e oportunidades estratégicas.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071813" y="785813"/>
            <a:ext cx="5643563" cy="37147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3071813" y="785813"/>
            <a:ext cx="5643563" cy="3714750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▶ SEGMENTO: </a:t>
            </a:r>
            <a:r>
              <a:rPr lang="pt-BR" sz="950" dirty="0">
                <a:solidFill>
                  <a:srgbClr val="FFFFFF"/>
                </a:solidFill>
                <a:latin typeface="Inter" pitchFamily="34" charset="0"/>
              </a:rPr>
              <a:t>Adultos de 25-45 anos que buscam alimentação saudável e praticidade</a:t>
            </a:r>
          </a:p>
          <a:p>
            <a:pPr algn="l" indent="0" marL="0">
              <a:lnSpc>
                <a:spcPct val="13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▶ PROPOSTA: </a:t>
            </a:r>
            <a:r>
              <a:rPr lang="pt-BR" sz="950" dirty="0">
                <a:solidFill>
                  <a:srgbClr val="FFFFFF"/>
                </a:solidFill>
                <a:latin typeface="Inter" pitchFamily="34" charset="0"/>
              </a:rPr>
              <a:t>Refeições saudáveis entregues em 30 min, com ingredientes frescos e cardápio personalizado</a:t>
            </a:r>
          </a:p>
          <a:p>
            <a:pPr algn="l" indent="0" marL="0">
              <a:lnSpc>
                <a:spcPct val="13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▶ CANAIS: </a:t>
            </a:r>
            <a:r>
              <a:rPr lang="pt-BR" sz="950" dirty="0">
                <a:solidFill>
                  <a:srgbClr val="FFFFFF"/>
                </a:solidFill>
                <a:latin typeface="Inter" pitchFamily="34" charset="0"/>
              </a:rPr>
              <a:t>App próprio, iFood, Instagram e parcerias com academias</a:t>
            </a:r>
          </a:p>
          <a:p>
            <a:pPr algn="l" indent="0" marL="0">
              <a:lnSpc>
                <a:spcPct val="13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▶ RECEITA: </a:t>
            </a:r>
            <a:r>
              <a:rPr lang="pt-BR" sz="950" dirty="0">
                <a:solidFill>
                  <a:srgbClr val="FFFFFF"/>
                </a:solidFill>
                <a:latin typeface="Inter" pitchFamily="34" charset="0"/>
              </a:rPr>
              <a:t>Venda por pedido + assinatura semanal de marmitas (recorrente)</a:t>
            </a:r>
          </a:p>
          <a:p>
            <a:pPr algn="l" indent="0" marL="0">
              <a:lnSpc>
                <a:spcPct val="13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▶ RECURSOS: </a:t>
            </a:r>
            <a:r>
              <a:rPr lang="pt-BR" sz="950" dirty="0">
                <a:solidFill>
                  <a:srgbClr val="FFFFFF"/>
                </a:solidFill>
                <a:latin typeface="Inter" pitchFamily="34" charset="0"/>
              </a:rPr>
              <a:t>Cozinha central, nutricionistas, entregadores e plataforma digital</a:t>
            </a:r>
          </a:p>
          <a:p>
            <a:pPr algn="l" indent="0" marL="0">
              <a:lnSpc>
                <a:spcPct val="13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▶ CUSTOS: </a:t>
            </a:r>
            <a:r>
              <a:rPr lang="pt-BR" sz="950" dirty="0">
                <a:solidFill>
                  <a:srgbClr val="FFFFFF"/>
                </a:solidFill>
                <a:latin typeface="Inter" pitchFamily="34" charset="0"/>
              </a:rPr>
              <a:t>Insumos alimentares, logística de entrega e tecnologia</a:t>
            </a:r>
          </a:p>
          <a:endParaRPr lang="pt-BR" sz="850" dirty="0"/>
        </p:txBody>
      </p:sp>
      <p:sp>
        <p:nvSpPr>
          <p:cNvPr id="10" name="Shape 7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Text 8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4561284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Os Blocos do Lado Direito: Clientes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785813"/>
            <a:ext cx="8286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lado direito do Canvas: </a:t>
            </a:r>
            <a:r>
              <a:rPr lang="en-US" sz="11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Segmentos de Clientes, Canais e Relacionamentos</a:t>
            </a: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são interligados e definem </a:t>
            </a:r>
            <a:r>
              <a:rPr lang="en-US" sz="11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o valor chega até o cliente.</a:t>
            </a: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28625" y="1117997"/>
            <a:ext cx="8286750" cy="300037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117997"/>
            <a:ext cx="8286750" cy="3000375"/>
          </a:xfrm>
          <a:prstGeom prst="rect">
            <a:avLst/>
          </a:prstGeom>
          <a:noFill/>
          <a:ln/>
        </p:spPr>
        <p:txBody>
          <a:bodyPr wrap="square" lIns="255143" tIns="170053" rIns="255143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100" b="1" dirty="0">
                <a:solidFill>
                  <a:srgbClr val="00BCD4"/>
                </a:solidFill>
                <a:latin typeface="Inter Bold" pitchFamily="34" charset="0"/>
              </a:rPr>
              <a:t>Segmentos de Clientes</a:t>
            </a:r>
          </a:p>
          <a:p>
            <a:pPr algn="l" indent="0" marL="0">
              <a:lnSpc>
                <a:spcPct val="120000"/>
              </a:lnSpc>
              <a:buNone/>
            </a:pPr>
            <a:r>
              <a:rPr lang="pt-BR" sz="1000" dirty="0">
                <a:solidFill>
                  <a:srgbClr val="CCCCCC"/>
                </a:solidFill>
                <a:latin typeface="Inter" pitchFamily="34" charset="0"/>
              </a:rPr>
              <a:t>Quem a empresa atende? Ex: consumidores individuais, empresas B2B, nicho de mercado.</a:t>
            </a:r>
          </a:p>
          <a:p>
            <a:pPr algn="l" indent="0" marL="0">
              <a:lnSpc>
                <a:spcPct val="130000"/>
              </a:lnSpc>
              <a:buNone/>
            </a:pPr>
            <a:r>
              <a:rPr lang="pt-BR" sz="1100" b="1" dirty="0">
                <a:solidFill>
                  <a:srgbClr val="00BCD4"/>
                </a:solidFill>
                <a:latin typeface="Inter Bold" pitchFamily="34" charset="0"/>
              </a:rPr>
              <a:t>Canais de Distribuicao</a:t>
            </a:r>
          </a:p>
          <a:p>
            <a:pPr algn="l" indent="0" marL="0">
              <a:lnSpc>
                <a:spcPct val="120000"/>
              </a:lnSpc>
              <a:buNone/>
            </a:pPr>
            <a:r>
              <a:rPr lang="pt-BR" sz="1000" dirty="0">
                <a:solidFill>
                  <a:srgbClr val="CCCCCC"/>
                </a:solidFill>
                <a:latin typeface="Inter" pitchFamily="34" charset="0"/>
              </a:rPr>
              <a:t>Como chegar ao cliente: loja fisica, e-commerce, app, distribuidores, redes sociais.</a:t>
            </a:r>
          </a:p>
          <a:p>
            <a:pPr algn="l" indent="0" marL="0">
              <a:lnSpc>
                <a:spcPct val="130000"/>
              </a:lnSpc>
              <a:buNone/>
            </a:pPr>
            <a:r>
              <a:rPr lang="pt-BR" sz="1100" b="1" dirty="0">
                <a:solidFill>
                  <a:srgbClr val="00BCD4"/>
                </a:solidFill>
                <a:latin typeface="Inter Bold" pitchFamily="34" charset="0"/>
              </a:rPr>
              <a:t>Relacionamento com Clientes</a:t>
            </a:r>
          </a:p>
          <a:p>
            <a:pPr algn="l" indent="0" marL="0">
              <a:lnSpc>
                <a:spcPct val="120000"/>
              </a:lnSpc>
              <a:buNone/>
            </a:pPr>
            <a:r>
              <a:rPr lang="pt-BR" sz="1000" dirty="0">
                <a:solidFill>
                  <a:srgbClr val="CCCCCC"/>
                </a:solidFill>
                <a:latin typeface="Inter" pitchFamily="34" charset="0"/>
              </a:rPr>
              <a:t>Como atrair, reter e fidelizar clientes: suporte, comunidade, automacao, atendimento exclusivo.</a:t>
            </a:r>
          </a:p>
          <a:endParaRPr lang="pt-BR" sz="1000" dirty="0"/>
        </p:txBody>
      </p:sp>
      <p:sp>
        <p:nvSpPr>
          <p:cNvPr id="8" name="Shape 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4647009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Os Blocos do Lado Esquerdo: Operações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57250" y="1000125"/>
            <a:ext cx="77152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Visão Geral:</a:t>
            </a: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Os quatro blocos operacionais sustentam toda a entrega de valor: Atividades-Chave, Recursos-Chave, Parcerias e </a:t>
            </a: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de Custos.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140223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Atividades-Chave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 as ações mais importantes que a empresa deve executar para que seu modelo de negócio funcione (ex: produção, marketing, logística).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140223"/>
            <a:ext cx="342900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7185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Recursos-Chave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7185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ativos fundamentais para criar e entregar a proposta de valor: físicos, intelectuais, humanos ou financeiros.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2140223"/>
            <a:ext cx="342900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7220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Parcerias Principais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7220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rede de fornecedores e parceiros que otimizam o modelo, reduzem riscos e permitem acessar recursos externos.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6" name="Text 10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40576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Vantagens do Business Model Canvas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8583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7250" y="928688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Visão Sistêmica do Negócio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57250" y="1234083"/>
            <a:ext cx="72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enxergar o negócio completo em uma página, identificando lacunas e oportunidades estratégicas.</a:t>
            </a:r>
            <a:endParaRPr lang="en-US" sz="11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993106"/>
            <a:ext cx="17145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7250" y="1935956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Facilidade de Comunicação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57250" y="2241352"/>
            <a:ext cx="72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visual que facilita apresentar o modelo de negócio a investidores e equipes sem longos documentos.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57250" y="2480667"/>
            <a:ext cx="85903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1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000375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7250" y="2943225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Adaptação e Iteração Ágil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57250" y="3225403"/>
            <a:ext cx="78581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O Canvas é uma ferramenta viva: pode ser atualizado rapidamente conforme o negócio evolui, valida hipóteses com </a:t>
            </a:r>
            <a:r>
              <a:rPr lang="en-US" sz="115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 custo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e orienta o 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pivô estratégico quando necessário.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9" name="Text 23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395228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Passo a Passo: Como Preencher o Canvas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785813"/>
            <a:ext cx="8286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Siga esta sequência lógica para mapear seu modelo de negócio com clareza e consistência.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28625" y="1117997"/>
            <a:ext cx="8286750" cy="31432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117997"/>
            <a:ext cx="8286750" cy="3143250"/>
          </a:xfrm>
          <a:prstGeom prst="rect">
            <a:avLst/>
          </a:prstGeom>
          <a:noFill/>
          <a:ln/>
        </p:spPr>
        <p:txBody>
          <a:bodyPr wrap="square" lIns="255143" tIns="170053" rIns="255143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1. Segmentos de Clientes: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Para quem estamos criando valor?</a:t>
            </a:r>
          </a:p>
          <a:p>
            <a:pPr algn="l" indent="0" marL="0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2. Proposta de Valor: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Que problema resolvemos? Que benefício entregamos?</a:t>
            </a:r>
          </a:p>
          <a:p>
            <a:pPr algn="l" indent="0" marL="0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3. Canais: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Como o cliente nos encontra e recebe o valor?</a:t>
            </a:r>
          </a:p>
          <a:p>
            <a:pPr algn="l" indent="0" marL="0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4. Relacionamento: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Como conquistamos e fidelizamos clientes?</a:t>
            </a:r>
          </a:p>
          <a:p>
            <a:pPr algn="l" indent="0" marL="0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5. Fontes de Receita: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Como e quanto o cliente paga pelo valor recebido?</a:t>
            </a:r>
          </a:p>
          <a:p>
            <a:pPr algn="l" indent="0" marL="0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6. Recursos-Chave: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Quais ativos são essenciais para operar?</a:t>
            </a:r>
          </a:p>
          <a:p>
            <a:pPr algn="l" indent="0" marL="0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7. Atividades-Chave: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O que a empresa faz de mais importante?</a:t>
            </a:r>
          </a:p>
          <a:p>
            <a:pPr algn="l" indent="0" marL="0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8. Parcerias: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Quem nos ajuda a operar e crescer?</a:t>
            </a:r>
          </a:p>
          <a:p>
            <a:pPr algn="l" indent="0" marL="0">
              <a:lnSpc>
                <a:spcPct val="140000"/>
              </a:lnSpc>
              <a:buNone/>
            </a:pPr>
            <a:r>
              <a:rPr lang="pt-BR" sz="950" b="1" dirty="0">
                <a:solidFill>
                  <a:srgbClr val="00BCD4"/>
                </a:solidFill>
                <a:latin typeface="Inter Bold" pitchFamily="34" charset="0"/>
              </a:rPr>
              <a:t xml:space="preserve">9. Estrutura de Custos: </a:t>
            </a:r>
            <a:r>
              <a:rPr lang="pt-BR" sz="950" dirty="0">
                <a:solidFill>
                  <a:srgbClr val="CCCCCC"/>
                </a:solidFill>
                <a:latin typeface="Inter" pitchFamily="34" charset="0"/>
              </a:rPr>
              <a:t>Quais são os maiores custos do modelo?</a:t>
            </a:r>
          </a:p>
          <a:endParaRPr lang="pt-BR" sz="950" dirty="0"/>
        </p:txBody>
      </p:sp>
      <p:sp>
        <p:nvSpPr>
          <p:cNvPr id="8" name="Shape 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134302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71500" y="1030123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31" y="1165854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1594" y="1000125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Business Model Canvas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é uma ferramenta estratégica indispensável para 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empreendedores, gestores e analistas que desejam modelar, comunicar e inovar seus negócios.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71500" y="1911651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" y="204738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1594" y="1881653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A </a:t>
            </a: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Modelagem de Negócios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vai além do planejamento: ela revela conexões entre os 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blocos e orienta decisões estratégicas com base em evidências.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71500" y="2793178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2928910"/>
            <a:ext cx="17145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1594" y="2763180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Passos: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Pratique preenchendo o Canvas para um negócio real ou fictício, valide com clientes e 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 continuamente à medida que o negócio evolui.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5" name="Text 9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1099356"/>
            <a:ext cx="857250" cy="857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72730" y="2553807"/>
            <a:ext cx="2598539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Dúvidas?</a:t>
            </a:r>
            <a:endParaRPr lang="en-US" sz="4150" dirty="0"/>
          </a:p>
        </p:txBody>
      </p:sp>
      <p:sp>
        <p:nvSpPr>
          <p:cNvPr id="5" name="Text 1"/>
          <p:cNvSpPr/>
          <p:nvPr/>
        </p:nvSpPr>
        <p:spPr>
          <a:xfrm>
            <a:off x="3309342" y="3577568"/>
            <a:ext cx="252531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 pela atenção!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715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2368" y="1971926"/>
            <a:ext cx="839926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Situação de Aprendizagem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572518" y="2801020"/>
            <a:ext cx="5998964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e Administração Industrial — Curso Técnico SENAI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0" y="4586288"/>
            <a:ext cx="9144000" cy="4572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0" y="45862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Mizael Carlos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8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SA: Estrutura e Componentes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0729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8719" y="10287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Tema Gerador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78719" y="1271588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Otimização de processos produtivos em uma indústria de manufatura com foco em redução de desperdícios.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57750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484" y="1207294"/>
            <a:ext cx="250031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07844" y="928688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Desafio / Problema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607844" y="1171575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 empresa pode reduzir custos operacionais e aumentar a produtividade sem comprometer a qualidade?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28625" y="2193131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36006"/>
            <a:ext cx="285750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8719" y="2157413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Produto Final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78719" y="2400300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melhoria de processos utilizando ferramentas de gestão industrial (Canvas, 5S, Lean).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857750" y="2193131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2336006"/>
            <a:ext cx="285750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07844" y="20574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Área de Conhecimento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607844" y="2300288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Produção, Modelagem de Sistemas, Qualidade Industrial e Empreendedorismo.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2" name="Text 1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8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SA: Competências e Avaliação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71500" y="1030123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31" y="1165854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1594" y="1000125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endParaRPr lang="en-US" sz="1400" dirty="0"/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Planejar e controlar processos produtivos, aplicar ferramentas de gestão, analisar indicadores e propor melhorias contínuas.</a:t>
            </a:r>
          </a:p>
        </p:txBody>
      </p:sp>
      <p:sp>
        <p:nvSpPr>
          <p:cNvPr id="8" name="Shape 4"/>
          <p:cNvSpPr/>
          <p:nvPr/>
        </p:nvSpPr>
        <p:spPr>
          <a:xfrm>
            <a:off x="571500" y="1911651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" y="204738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1594" y="1881653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A </a:t>
            </a: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Metodologia Ativa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(PBL): 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Alunos atuam como consultores industriais, diagnosticando problemas reais e propondo soluções.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71500" y="2793178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2928910"/>
            <a:ext cx="17145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1594" y="2763180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endParaRPr lang="en-US" sz="1400" dirty="0"/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Diagnóstico do processo (20%), Plano de melhoria com BMC (40%), Apresentação para banca (30%) e Autoavaliação (10%).</a:t>
            </a:r>
          </a:p>
        </p:txBody>
      </p:sp>
      <p:sp>
        <p:nvSpPr>
          <p:cNvPr id="14" name="Shape 8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5" name="Text 9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nvas BM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2026-05-07T12:55:45Z</dcterms:created>
  <dcterms:modified xsi:type="dcterms:W3CDTF">2026-05-07T12:55:45Z</dcterms:modified>
</cp:coreProperties>
</file>