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47A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47A1"/>
          </a:solidFill>
          <a:ln w="12700">
            <a:solidFill>
              <a:srgbClr val="0D47A1"/>
            </a:solidFill>
            <a:prstDash val="solid"/>
          </a:ln>
        </p:spPr>
      </p:sp>
      <p:sp>
        <p:nvSpPr>
          <p:cNvPr id="3" name="Shape 1"/>
          <p:cNvSpPr/>
          <p:nvPr/>
        </p:nvSpPr>
        <p:spPr>
          <a:xfrm>
            <a:off x="0" y="0"/>
            <a:ext cx="457200" cy="5143500"/>
          </a:xfrm>
          <a:prstGeom prst="rect">
            <a:avLst/>
          </a:prstGeom>
          <a:solidFill>
            <a:srgbClr val="00979C"/>
          </a:solidFill>
          <a:ln w="12700">
            <a:solidFill>
              <a:srgbClr val="00979C"/>
            </a:solidFill>
            <a:prstDash val="solid"/>
          </a:ln>
        </p:spPr>
      </p:sp>
      <p:sp>
        <p:nvSpPr>
          <p:cNvPr id="4" name="Shape 2"/>
          <p:cNvSpPr/>
          <p:nvPr/>
        </p:nvSpPr>
        <p:spPr>
          <a:xfrm>
            <a:off x="0" y="3474720"/>
            <a:ext cx="9144000" cy="1668780"/>
          </a:xfrm>
          <a:prstGeom prst="rect">
            <a:avLst/>
          </a:prstGeom>
          <a:solidFill>
            <a:srgbClr val="0A3A7A"/>
          </a:solidFill>
          <a:ln w="12700">
            <a:solidFill>
              <a:srgbClr val="0A3A7A"/>
            </a:solidFill>
            <a:prstDash val="solid"/>
          </a:ln>
        </p:spPr>
      </p:sp>
      <p:sp>
        <p:nvSpPr>
          <p:cNvPr id="5" name="Text 3"/>
          <p:cNvSpPr/>
          <p:nvPr/>
        </p:nvSpPr>
        <p:spPr>
          <a:xfrm>
            <a:off x="731520" y="457200"/>
            <a:ext cx="8229600" cy="548640"/>
          </a:xfrm>
          <a:prstGeom prst="rect">
            <a:avLst/>
          </a:prstGeom>
          <a:noFill/>
          <a:ln/>
        </p:spPr>
        <p:txBody>
          <a:bodyPr wrap="square" rtlCol="0" anchor="ctr"/>
          <a:lstStyle/>
          <a:p>
            <a:pPr indent="0" marL="0">
              <a:buNone/>
            </a:pPr>
            <a:r>
              <a:rPr lang="en-US" sz="1800" i="1" dirty="0">
                <a:solidFill>
                  <a:srgbClr val="90CAF9"/>
                </a:solidFill>
              </a:rPr>
              <a:t>Internet das Coisas</a:t>
            </a:r>
            <a:endParaRPr lang="en-US" sz="1800" dirty="0"/>
          </a:p>
        </p:txBody>
      </p:sp>
      <p:sp>
        <p:nvSpPr>
          <p:cNvPr id="6" name="Text 4"/>
          <p:cNvSpPr/>
          <p:nvPr/>
        </p:nvSpPr>
        <p:spPr>
          <a:xfrm>
            <a:off x="731520" y="1097280"/>
            <a:ext cx="8229600" cy="1005840"/>
          </a:xfrm>
          <a:prstGeom prst="rect">
            <a:avLst/>
          </a:prstGeom>
          <a:noFill/>
          <a:ln/>
        </p:spPr>
        <p:txBody>
          <a:bodyPr wrap="square" rtlCol="0" anchor="ctr"/>
          <a:lstStyle/>
          <a:p>
            <a:pPr indent="0" marL="0">
              <a:buNone/>
            </a:pPr>
            <a:r>
              <a:rPr lang="en-US" sz="5400" b="1" dirty="0">
                <a:solidFill>
                  <a:srgbClr val="FFFFFF"/>
                </a:solidFill>
              </a:rPr>
              <a:t>Arduino</a:t>
            </a:r>
            <a:endParaRPr lang="en-US" sz="5400" dirty="0"/>
          </a:p>
        </p:txBody>
      </p:sp>
      <p:sp>
        <p:nvSpPr>
          <p:cNvPr id="7" name="Text 5"/>
          <p:cNvSpPr/>
          <p:nvPr/>
        </p:nvSpPr>
        <p:spPr>
          <a:xfrm>
            <a:off x="731520" y="2103120"/>
            <a:ext cx="8229600" cy="1097280"/>
          </a:xfrm>
          <a:prstGeom prst="rect">
            <a:avLst/>
          </a:prstGeom>
          <a:noFill/>
          <a:ln/>
        </p:spPr>
        <p:txBody>
          <a:bodyPr wrap="square" rtlCol="0" anchor="ctr"/>
          <a:lstStyle/>
          <a:p>
            <a:pPr indent="0" marL="0">
              <a:buNone/>
            </a:pPr>
            <a:r>
              <a:rPr lang="en-US" sz="2600" dirty="0">
                <a:solidFill>
                  <a:srgbClr val="90CAF9"/>
                </a:solidFill>
              </a:rPr>
              <a:t>Linguagem de Programação</a:t>
            </a:r>
            <a:endParaRPr lang="en-US" sz="2600" dirty="0"/>
          </a:p>
          <a:p>
            <a:pPr indent="0" marL="0">
              <a:buNone/>
            </a:pPr>
            <a:r>
              <a:rPr lang="en-US" sz="2600" dirty="0">
                <a:solidFill>
                  <a:srgbClr val="90CAF9"/>
                </a:solidFill>
              </a:rPr>
              <a:t>de Baixo Nível</a:t>
            </a:r>
            <a:endParaRPr lang="en-US" sz="2600" dirty="0"/>
          </a:p>
        </p:txBody>
      </p:sp>
      <p:sp>
        <p:nvSpPr>
          <p:cNvPr id="8" name="Text 6"/>
          <p:cNvSpPr/>
          <p:nvPr/>
        </p:nvSpPr>
        <p:spPr>
          <a:xfrm>
            <a:off x="731520" y="3657600"/>
            <a:ext cx="8229600" cy="457200"/>
          </a:xfrm>
          <a:prstGeom prst="rect">
            <a:avLst/>
          </a:prstGeom>
          <a:noFill/>
          <a:ln/>
        </p:spPr>
        <p:txBody>
          <a:bodyPr wrap="square" rtlCol="0" anchor="ctr"/>
          <a:lstStyle/>
          <a:p>
            <a:pPr indent="0" marL="0">
              <a:buNone/>
            </a:pPr>
            <a:r>
              <a:rPr lang="en-US" sz="1600" b="1" dirty="0">
                <a:solidFill>
                  <a:srgbClr val="FFFFFF"/>
                </a:solidFill>
              </a:rPr>
              <a:t>Prof. Mizael Carlos</a:t>
            </a:r>
            <a:endParaRPr lang="en-US" sz="1600" dirty="0"/>
          </a:p>
        </p:txBody>
      </p:sp>
      <p:sp>
        <p:nvSpPr>
          <p:cNvPr id="9" name="Shape 7"/>
          <p:cNvSpPr/>
          <p:nvPr/>
        </p:nvSpPr>
        <p:spPr>
          <a:xfrm>
            <a:off x="6858000" y="457200"/>
            <a:ext cx="1828800" cy="1828800"/>
          </a:xfrm>
          <a:prstGeom prst="ellipse">
            <a:avLst/>
          </a:prstGeom>
          <a:solidFill>
            <a:srgbClr val="00979C">
              <a:alpha val="30000"/>
            </a:srgbClr>
          </a:solidFill>
          <a:ln w="12700">
            <a:solidFill>
              <a:srgbClr val="00979C">
                <a:alpha val="50000"/>
              </a:srgbClr>
            </a:solidFill>
            <a:prstDash val="solid"/>
          </a:ln>
        </p:spPr>
      </p:sp>
      <p:sp>
        <p:nvSpPr>
          <p:cNvPr id="10" name="Shape 8"/>
          <p:cNvSpPr/>
          <p:nvPr/>
        </p:nvSpPr>
        <p:spPr>
          <a:xfrm>
            <a:off x="7315200" y="1371600"/>
            <a:ext cx="1371600" cy="1371600"/>
          </a:xfrm>
          <a:prstGeom prst="ellipse">
            <a:avLst/>
          </a:prstGeom>
          <a:solidFill>
            <a:srgbClr val="00979C">
              <a:alpha val="50000"/>
            </a:srgbClr>
          </a:solidFill>
          <a:ln w="12700">
            <a:solidFill>
              <a:srgbClr val="00979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O que é Linguagem de Baixo Nível?</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88720"/>
            <a:ext cx="4114800" cy="3383280"/>
          </a:xfrm>
          <a:prstGeom prst="rect">
            <a:avLst/>
          </a:prstGeom>
          <a:solidFill>
            <a:srgbClr val="E3F2FD"/>
          </a:solidFill>
          <a:ln w="12700">
            <a:solidFill>
              <a:srgbClr val="2196F3"/>
            </a:solidFill>
            <a:prstDash val="solid"/>
          </a:ln>
        </p:spPr>
      </p:sp>
      <p:sp>
        <p:nvSpPr>
          <p:cNvPr id="8" name="Text 6"/>
          <p:cNvSpPr/>
          <p:nvPr/>
        </p:nvSpPr>
        <p:spPr>
          <a:xfrm>
            <a:off x="457200" y="1280160"/>
            <a:ext cx="3931920" cy="365760"/>
          </a:xfrm>
          <a:prstGeom prst="rect">
            <a:avLst/>
          </a:prstGeom>
          <a:noFill/>
          <a:ln/>
        </p:spPr>
        <p:txBody>
          <a:bodyPr wrap="square" rtlCol="0" anchor="ctr"/>
          <a:lstStyle/>
          <a:p>
            <a:pPr indent="0" marL="0">
              <a:buNone/>
            </a:pPr>
            <a:r>
              <a:rPr lang="en-US" sz="1600" b="1" dirty="0">
                <a:solidFill>
                  <a:srgbClr val="0D47A1"/>
                </a:solidFill>
              </a:rPr>
              <a:t>Definição</a:t>
            </a:r>
            <a:endParaRPr lang="en-US" sz="1600" dirty="0"/>
          </a:p>
        </p:txBody>
      </p:sp>
      <p:sp>
        <p:nvSpPr>
          <p:cNvPr id="9" name="Text 7"/>
          <p:cNvSpPr/>
          <p:nvPr/>
        </p:nvSpPr>
        <p:spPr>
          <a:xfrm>
            <a:off x="457200" y="1691640"/>
            <a:ext cx="3931920" cy="2651760"/>
          </a:xfrm>
          <a:prstGeom prst="rect">
            <a:avLst/>
          </a:prstGeom>
          <a:noFill/>
          <a:ln/>
        </p:spPr>
        <p:txBody>
          <a:bodyPr wrap="square" rtlCol="0" anchor="ctr"/>
          <a:lstStyle/>
          <a:p>
            <a:pPr indent="0" marL="0">
              <a:buNone/>
            </a:pPr>
            <a:r>
              <a:rPr lang="en-US" sz="1300" dirty="0">
                <a:solidFill>
                  <a:srgbClr val="1565C0"/>
                </a:solidFill>
              </a:rPr>
              <a:t>Linguagem de baixo nível é aquela que está mais próxima do hardware do computador. Ela oferece pouca ou nenhuma abstração em relação ao conjunto de instruções do processador, permitindo controle direto sobre os recursos do sistema.</a:t>
            </a:r>
            <a:endParaRPr lang="en-US" sz="1300" dirty="0"/>
          </a:p>
        </p:txBody>
      </p:sp>
      <p:sp>
        <p:nvSpPr>
          <p:cNvPr id="10" name="Shape 8"/>
          <p:cNvSpPr/>
          <p:nvPr/>
        </p:nvSpPr>
        <p:spPr>
          <a:xfrm>
            <a:off x="4663440" y="1188720"/>
            <a:ext cx="4114800" cy="1554480"/>
          </a:xfrm>
          <a:prstGeom prst="rect">
            <a:avLst/>
          </a:prstGeom>
          <a:solidFill>
            <a:srgbClr val="E8F5E9"/>
          </a:solidFill>
          <a:ln w="12700">
            <a:solidFill>
              <a:srgbClr val="4CAF50"/>
            </a:solidFill>
            <a:prstDash val="solid"/>
          </a:ln>
        </p:spPr>
      </p:sp>
      <p:sp>
        <p:nvSpPr>
          <p:cNvPr id="11" name="Text 9"/>
          <p:cNvSpPr/>
          <p:nvPr/>
        </p:nvSpPr>
        <p:spPr>
          <a:xfrm>
            <a:off x="4754880" y="1234440"/>
            <a:ext cx="3931920" cy="320040"/>
          </a:xfrm>
          <a:prstGeom prst="rect">
            <a:avLst/>
          </a:prstGeom>
          <a:noFill/>
          <a:ln/>
        </p:spPr>
        <p:txBody>
          <a:bodyPr wrap="square" rtlCol="0" anchor="ctr"/>
          <a:lstStyle/>
          <a:p>
            <a:pPr indent="0" marL="0">
              <a:buNone/>
            </a:pPr>
            <a:r>
              <a:rPr lang="en-US" sz="1400" b="1" dirty="0">
                <a:solidFill>
                  <a:srgbClr val="2E7D32"/>
                </a:solidFill>
              </a:rPr>
              <a:t>✔ Vantagens</a:t>
            </a:r>
            <a:endParaRPr lang="en-US" sz="1400" dirty="0"/>
          </a:p>
        </p:txBody>
      </p:sp>
      <p:sp>
        <p:nvSpPr>
          <p:cNvPr id="12" name="Text 10"/>
          <p:cNvSpPr/>
          <p:nvPr/>
        </p:nvSpPr>
        <p:spPr>
          <a:xfrm>
            <a:off x="4754880" y="1600200"/>
            <a:ext cx="3931920" cy="1005840"/>
          </a:xfrm>
          <a:prstGeom prst="rect">
            <a:avLst/>
          </a:prstGeom>
          <a:noFill/>
          <a:ln/>
        </p:spPr>
        <p:txBody>
          <a:bodyPr wrap="square" rtlCol="0" anchor="ctr"/>
          <a:lstStyle/>
          <a:p>
            <a:pPr indent="0" marL="0">
              <a:buNone/>
            </a:pPr>
            <a:r>
              <a:rPr lang="en-US" sz="1200" dirty="0">
                <a:solidFill>
                  <a:srgbClr val="2E7D32"/>
                </a:solidFill>
              </a:rPr>
              <a:t>• Alto desempenho e velocidade</a:t>
            </a:r>
            <a:endParaRPr lang="en-US" sz="1200" dirty="0"/>
          </a:p>
          <a:p>
            <a:pPr indent="0" marL="0">
              <a:buNone/>
            </a:pPr>
            <a:r>
              <a:rPr lang="en-US" sz="1200" dirty="0">
                <a:solidFill>
                  <a:srgbClr val="2E7D32"/>
                </a:solidFill>
              </a:rPr>
              <a:t>• Acesso direto ao hardware</a:t>
            </a:r>
            <a:endParaRPr lang="en-US" sz="1200" dirty="0"/>
          </a:p>
          <a:p>
            <a:pPr indent="0" marL="0">
              <a:buNone/>
            </a:pPr>
            <a:r>
              <a:rPr lang="en-US" sz="1200" dirty="0">
                <a:solidFill>
                  <a:srgbClr val="2E7D32"/>
                </a:solidFill>
              </a:rPr>
              <a:t>• Menor consumo de memória</a:t>
            </a:r>
            <a:endParaRPr lang="en-US" sz="1200" dirty="0"/>
          </a:p>
        </p:txBody>
      </p:sp>
      <p:sp>
        <p:nvSpPr>
          <p:cNvPr id="13" name="Shape 11"/>
          <p:cNvSpPr/>
          <p:nvPr/>
        </p:nvSpPr>
        <p:spPr>
          <a:xfrm>
            <a:off x="4663440" y="2880360"/>
            <a:ext cx="4114800" cy="1691640"/>
          </a:xfrm>
          <a:prstGeom prst="rect">
            <a:avLst/>
          </a:prstGeom>
          <a:solidFill>
            <a:srgbClr val="FFF3E0"/>
          </a:solidFill>
          <a:ln w="12700">
            <a:solidFill>
              <a:srgbClr val="FF9800"/>
            </a:solidFill>
            <a:prstDash val="solid"/>
          </a:ln>
        </p:spPr>
      </p:sp>
      <p:sp>
        <p:nvSpPr>
          <p:cNvPr id="14" name="Text 12"/>
          <p:cNvSpPr/>
          <p:nvPr/>
        </p:nvSpPr>
        <p:spPr>
          <a:xfrm>
            <a:off x="4754880" y="2926080"/>
            <a:ext cx="3931920" cy="320040"/>
          </a:xfrm>
          <a:prstGeom prst="rect">
            <a:avLst/>
          </a:prstGeom>
          <a:noFill/>
          <a:ln/>
        </p:spPr>
        <p:txBody>
          <a:bodyPr wrap="square" rtlCol="0" anchor="ctr"/>
          <a:lstStyle/>
          <a:p>
            <a:pPr indent="0" marL="0">
              <a:buNone/>
            </a:pPr>
            <a:r>
              <a:rPr lang="en-US" sz="1400" b="1" dirty="0">
                <a:solidFill>
                  <a:srgbClr val="E65100"/>
                </a:solidFill>
              </a:rPr>
              <a:t>⚠ Desafios</a:t>
            </a:r>
            <a:endParaRPr lang="en-US" sz="1400" dirty="0"/>
          </a:p>
        </p:txBody>
      </p:sp>
      <p:sp>
        <p:nvSpPr>
          <p:cNvPr id="15" name="Text 13"/>
          <p:cNvSpPr/>
          <p:nvPr/>
        </p:nvSpPr>
        <p:spPr>
          <a:xfrm>
            <a:off x="4754880" y="3291840"/>
            <a:ext cx="3931920" cy="1097280"/>
          </a:xfrm>
          <a:prstGeom prst="rect">
            <a:avLst/>
          </a:prstGeom>
          <a:noFill/>
          <a:ln/>
        </p:spPr>
        <p:txBody>
          <a:bodyPr wrap="square" rtlCol="0" anchor="ctr"/>
          <a:lstStyle/>
          <a:p>
            <a:pPr indent="0" marL="0">
              <a:buNone/>
            </a:pPr>
            <a:r>
              <a:rPr lang="en-US" sz="1200" dirty="0">
                <a:solidFill>
                  <a:srgbClr val="E65100"/>
                </a:solidFill>
              </a:rPr>
              <a:t>• Mais complexa de programar</a:t>
            </a:r>
            <a:endParaRPr lang="en-US" sz="1200" dirty="0"/>
          </a:p>
          <a:p>
            <a:pPr indent="0" marL="0">
              <a:buNone/>
            </a:pPr>
            <a:r>
              <a:rPr lang="en-US" sz="1200" dirty="0">
                <a:solidFill>
                  <a:srgbClr val="E65100"/>
                </a:solidFill>
              </a:rPr>
              <a:t>• Menos portável entre plataformas</a:t>
            </a:r>
            <a:endParaRPr lang="en-US" sz="1200" dirty="0"/>
          </a:p>
          <a:p>
            <a:pPr indent="0" marL="0">
              <a:buNone/>
            </a:pPr>
            <a:r>
              <a:rPr lang="en-US" sz="1200" dirty="0">
                <a:solidFill>
                  <a:srgbClr val="E65100"/>
                </a:solidFill>
              </a:rPr>
              <a:t>• Manutenção mais difícil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Hierarquia de Linguagens de Programação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685800" y="1188720"/>
            <a:ext cx="7772400" cy="548640"/>
          </a:xfrm>
          <a:prstGeom prst="rect">
            <a:avLst/>
          </a:prstGeom>
          <a:solidFill>
            <a:srgbClr val="1565C0"/>
          </a:solidFill>
          <a:ln w="12700">
            <a:solidFill>
              <a:srgbClr val="1565C0"/>
            </a:solidFill>
            <a:prstDash val="solid"/>
          </a:ln>
        </p:spPr>
      </p:sp>
      <p:sp>
        <p:nvSpPr>
          <p:cNvPr id="8" name="Text 6"/>
          <p:cNvSpPr/>
          <p:nvPr/>
        </p:nvSpPr>
        <p:spPr>
          <a:xfrm>
            <a:off x="685800" y="1188720"/>
            <a:ext cx="7772400" cy="548640"/>
          </a:xfrm>
          <a:prstGeom prst="rect">
            <a:avLst/>
          </a:prstGeom>
          <a:noFill/>
          <a:ln/>
        </p:spPr>
        <p:txBody>
          <a:bodyPr wrap="square" rtlCol="0" anchor="ctr"/>
          <a:lstStyle/>
          <a:p>
            <a:pPr algn="ctr" indent="0" marL="0">
              <a:buNone/>
            </a:pPr>
            <a:r>
              <a:rPr lang="en-US" sz="1200" b="1" dirty="0">
                <a:solidFill>
                  <a:srgbClr val="FFFFFF"/>
                </a:solidFill>
              </a:rPr>
              <a:t>Linguagem Natural (humana)   —   Ex: Português, Inglês</a:t>
            </a:r>
            <a:endParaRPr lang="en-US" sz="1200" dirty="0"/>
          </a:p>
        </p:txBody>
      </p:sp>
      <p:sp>
        <p:nvSpPr>
          <p:cNvPr id="9" name="Shape 7"/>
          <p:cNvSpPr/>
          <p:nvPr/>
        </p:nvSpPr>
        <p:spPr>
          <a:xfrm>
            <a:off x="914400" y="1920240"/>
            <a:ext cx="7315200" cy="548640"/>
          </a:xfrm>
          <a:prstGeom prst="rect">
            <a:avLst/>
          </a:prstGeom>
          <a:solidFill>
            <a:srgbClr val="1976D2"/>
          </a:solidFill>
          <a:ln w="12700">
            <a:solidFill>
              <a:srgbClr val="1976D2"/>
            </a:solidFill>
            <a:prstDash val="solid"/>
          </a:ln>
        </p:spPr>
      </p:sp>
      <p:sp>
        <p:nvSpPr>
          <p:cNvPr id="10" name="Text 8"/>
          <p:cNvSpPr/>
          <p:nvPr/>
        </p:nvSpPr>
        <p:spPr>
          <a:xfrm>
            <a:off x="914400" y="1920240"/>
            <a:ext cx="7315200" cy="548640"/>
          </a:xfrm>
          <a:prstGeom prst="rect">
            <a:avLst/>
          </a:prstGeom>
          <a:noFill/>
          <a:ln/>
        </p:spPr>
        <p:txBody>
          <a:bodyPr wrap="square" rtlCol="0" anchor="ctr"/>
          <a:lstStyle/>
          <a:p>
            <a:pPr algn="ctr" indent="0" marL="0">
              <a:buNone/>
            </a:pPr>
            <a:r>
              <a:rPr lang="en-US" sz="1200" b="1" dirty="0">
                <a:solidFill>
                  <a:srgbClr val="FFFFFF"/>
                </a:solidFill>
              </a:rPr>
              <a:t>Linguagem de Alto Nível   —   Ex: Python, Java, JavaScript</a:t>
            </a:r>
            <a:endParaRPr lang="en-US" sz="1200" dirty="0"/>
          </a:p>
        </p:txBody>
      </p:sp>
      <p:sp>
        <p:nvSpPr>
          <p:cNvPr id="11" name="Shape 9"/>
          <p:cNvSpPr/>
          <p:nvPr/>
        </p:nvSpPr>
        <p:spPr>
          <a:xfrm>
            <a:off x="1143000" y="2651760"/>
            <a:ext cx="6858000" cy="548640"/>
          </a:xfrm>
          <a:prstGeom prst="rect">
            <a:avLst/>
          </a:prstGeom>
          <a:solidFill>
            <a:srgbClr val="2196F3"/>
          </a:solidFill>
          <a:ln w="12700">
            <a:solidFill>
              <a:srgbClr val="2196F3"/>
            </a:solidFill>
            <a:prstDash val="solid"/>
          </a:ln>
        </p:spPr>
      </p:sp>
      <p:sp>
        <p:nvSpPr>
          <p:cNvPr id="12" name="Text 10"/>
          <p:cNvSpPr/>
          <p:nvPr/>
        </p:nvSpPr>
        <p:spPr>
          <a:xfrm>
            <a:off x="1143000" y="2651760"/>
            <a:ext cx="6858000" cy="548640"/>
          </a:xfrm>
          <a:prstGeom prst="rect">
            <a:avLst/>
          </a:prstGeom>
          <a:noFill/>
          <a:ln/>
        </p:spPr>
        <p:txBody>
          <a:bodyPr wrap="square" rtlCol="0" anchor="ctr"/>
          <a:lstStyle/>
          <a:p>
            <a:pPr algn="ctr" indent="0" marL="0">
              <a:buNone/>
            </a:pPr>
            <a:r>
              <a:rPr lang="en-US" sz="1200" dirty="0">
                <a:solidFill>
                  <a:srgbClr val="FFFFFF"/>
                </a:solidFill>
              </a:rPr>
              <a:t>Linguagem de Médio Nível   —   Ex: C, C++</a:t>
            </a:r>
            <a:endParaRPr lang="en-US" sz="1200" dirty="0"/>
          </a:p>
        </p:txBody>
      </p:sp>
      <p:sp>
        <p:nvSpPr>
          <p:cNvPr id="13" name="Shape 11"/>
          <p:cNvSpPr/>
          <p:nvPr/>
        </p:nvSpPr>
        <p:spPr>
          <a:xfrm>
            <a:off x="1371600" y="3383280"/>
            <a:ext cx="6400800" cy="548640"/>
          </a:xfrm>
          <a:prstGeom prst="rect">
            <a:avLst/>
          </a:prstGeom>
          <a:solidFill>
            <a:srgbClr val="42A5F5"/>
          </a:solidFill>
          <a:ln w="12700">
            <a:solidFill>
              <a:srgbClr val="42A5F5"/>
            </a:solidFill>
            <a:prstDash val="solid"/>
          </a:ln>
        </p:spPr>
      </p:sp>
      <p:sp>
        <p:nvSpPr>
          <p:cNvPr id="14" name="Text 12"/>
          <p:cNvSpPr/>
          <p:nvPr/>
        </p:nvSpPr>
        <p:spPr>
          <a:xfrm>
            <a:off x="1371600" y="3383280"/>
            <a:ext cx="6400800" cy="548640"/>
          </a:xfrm>
          <a:prstGeom prst="rect">
            <a:avLst/>
          </a:prstGeom>
          <a:noFill/>
          <a:ln/>
        </p:spPr>
        <p:txBody>
          <a:bodyPr wrap="square" rtlCol="0" anchor="ctr"/>
          <a:lstStyle/>
          <a:p>
            <a:pPr algn="ctr" indent="0" marL="0">
              <a:buNone/>
            </a:pPr>
            <a:r>
              <a:rPr lang="en-US" sz="1200" dirty="0">
                <a:solidFill>
                  <a:srgbClr val="FFFFFF"/>
                </a:solidFill>
              </a:rPr>
              <a:t>Linguagem de Baixo Nível   —   Ex: Assembly</a:t>
            </a:r>
            <a:endParaRPr lang="en-US" sz="1200" dirty="0"/>
          </a:p>
        </p:txBody>
      </p:sp>
      <p:sp>
        <p:nvSpPr>
          <p:cNvPr id="15" name="Shape 13"/>
          <p:cNvSpPr/>
          <p:nvPr/>
        </p:nvSpPr>
        <p:spPr>
          <a:xfrm>
            <a:off x="1600200" y="4114800"/>
            <a:ext cx="5943600" cy="548640"/>
          </a:xfrm>
          <a:prstGeom prst="rect">
            <a:avLst/>
          </a:prstGeom>
          <a:solidFill>
            <a:srgbClr val="90CAF9"/>
          </a:solidFill>
          <a:ln w="12700">
            <a:solidFill>
              <a:srgbClr val="90CAF9"/>
            </a:solidFill>
            <a:prstDash val="solid"/>
          </a:ln>
        </p:spPr>
      </p:sp>
      <p:sp>
        <p:nvSpPr>
          <p:cNvPr id="16" name="Text 14"/>
          <p:cNvSpPr/>
          <p:nvPr/>
        </p:nvSpPr>
        <p:spPr>
          <a:xfrm>
            <a:off x="1600200" y="4114800"/>
            <a:ext cx="5943600" cy="548640"/>
          </a:xfrm>
          <a:prstGeom prst="rect">
            <a:avLst/>
          </a:prstGeom>
          <a:noFill/>
          <a:ln/>
        </p:spPr>
        <p:txBody>
          <a:bodyPr wrap="square" rtlCol="0" anchor="ctr"/>
          <a:lstStyle/>
          <a:p>
            <a:pPr algn="ctr" indent="0" marL="0">
              <a:buNone/>
            </a:pPr>
            <a:r>
              <a:rPr lang="en-US" sz="1200" dirty="0">
                <a:solidFill>
                  <a:srgbClr val="FFFFFF"/>
                </a:solidFill>
              </a:rPr>
              <a:t>Linguagem de Máquina   —   Ex: 01001011 (binário)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O que é o 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5212080" cy="1645920"/>
          </a:xfrm>
          <a:prstGeom prst="rect">
            <a:avLst/>
          </a:prstGeom>
          <a:noFill/>
          <a:ln/>
        </p:spPr>
        <p:txBody>
          <a:bodyPr wrap="square" rtlCol="0" anchor="ctr"/>
          <a:lstStyle/>
          <a:p>
            <a:pPr indent="0" marL="0">
              <a:buNone/>
            </a:pPr>
            <a:r>
              <a:rPr lang="en-US" sz="1300" dirty="0">
                <a:solidFill>
                  <a:srgbClr val="1565C0"/>
                </a:solidFill>
              </a:rPr>
              <a:t>O Arduino é uma plataforma de prototipagem eletrônica de código aberto baseada em hardware e software fáceis de usar. É utilizado para criar objetos e dispositivos interativos capazes de ler entradas — como sensores — e transformá-las em saídas, como acionar motores e LEDs.</a:t>
            </a:r>
            <a:endParaRPr lang="en-US" sz="1300" dirty="0"/>
          </a:p>
        </p:txBody>
      </p:sp>
      <p:sp>
        <p:nvSpPr>
          <p:cNvPr id="8" name="Shape 6"/>
          <p:cNvSpPr/>
          <p:nvPr/>
        </p:nvSpPr>
        <p:spPr>
          <a:xfrm>
            <a:off x="365760" y="2926080"/>
            <a:ext cx="2468880" cy="731520"/>
          </a:xfrm>
          <a:prstGeom prst="rect">
            <a:avLst/>
          </a:prstGeom>
          <a:solidFill>
            <a:srgbClr val="E3F2FD"/>
          </a:solidFill>
          <a:ln w="12700">
            <a:solidFill>
              <a:srgbClr val="2196F3"/>
            </a:solidFill>
            <a:prstDash val="solid"/>
          </a:ln>
        </p:spPr>
      </p:sp>
      <p:sp>
        <p:nvSpPr>
          <p:cNvPr id="9" name="Text 7"/>
          <p:cNvSpPr/>
          <p:nvPr/>
        </p:nvSpPr>
        <p:spPr>
          <a:xfrm>
            <a:off x="457200" y="2926080"/>
            <a:ext cx="2377440" cy="731520"/>
          </a:xfrm>
          <a:prstGeom prst="rect">
            <a:avLst/>
          </a:prstGeom>
          <a:noFill/>
          <a:ln/>
        </p:spPr>
        <p:txBody>
          <a:bodyPr wrap="square" rtlCol="0" anchor="ctr"/>
          <a:lstStyle/>
          <a:p>
            <a:pPr indent="0" marL="0">
              <a:buNone/>
            </a:pPr>
            <a:r>
              <a:rPr lang="en-US" sz="1300" dirty="0">
                <a:solidFill>
                  <a:srgbClr val="0D47A1"/>
                </a:solidFill>
              </a:rPr>
              <a:t>🔌  Hardware open-source</a:t>
            </a:r>
            <a:endParaRPr lang="en-US" sz="1300" dirty="0"/>
          </a:p>
        </p:txBody>
      </p:sp>
      <p:sp>
        <p:nvSpPr>
          <p:cNvPr id="10" name="Shape 8"/>
          <p:cNvSpPr/>
          <p:nvPr/>
        </p:nvSpPr>
        <p:spPr>
          <a:xfrm>
            <a:off x="3017520" y="2926080"/>
            <a:ext cx="2468880" cy="731520"/>
          </a:xfrm>
          <a:prstGeom prst="rect">
            <a:avLst/>
          </a:prstGeom>
          <a:solidFill>
            <a:srgbClr val="E3F2FD"/>
          </a:solidFill>
          <a:ln w="12700">
            <a:solidFill>
              <a:srgbClr val="2196F3"/>
            </a:solidFill>
            <a:prstDash val="solid"/>
          </a:ln>
        </p:spPr>
      </p:sp>
      <p:sp>
        <p:nvSpPr>
          <p:cNvPr id="11" name="Text 9"/>
          <p:cNvSpPr/>
          <p:nvPr/>
        </p:nvSpPr>
        <p:spPr>
          <a:xfrm>
            <a:off x="3108960" y="2926080"/>
            <a:ext cx="2377440" cy="731520"/>
          </a:xfrm>
          <a:prstGeom prst="rect">
            <a:avLst/>
          </a:prstGeom>
          <a:noFill/>
          <a:ln/>
        </p:spPr>
        <p:txBody>
          <a:bodyPr wrap="square" rtlCol="0" anchor="ctr"/>
          <a:lstStyle/>
          <a:p>
            <a:pPr indent="0" marL="0">
              <a:buNone/>
            </a:pPr>
            <a:r>
              <a:rPr lang="en-US" sz="1300" dirty="0">
                <a:solidFill>
                  <a:srgbClr val="0D47A1"/>
                </a:solidFill>
              </a:rPr>
              <a:t>💻  IDE própria (gratuita)</a:t>
            </a:r>
            <a:endParaRPr lang="en-US" sz="1300" dirty="0"/>
          </a:p>
        </p:txBody>
      </p:sp>
      <p:sp>
        <p:nvSpPr>
          <p:cNvPr id="12" name="Shape 10"/>
          <p:cNvSpPr/>
          <p:nvPr/>
        </p:nvSpPr>
        <p:spPr>
          <a:xfrm>
            <a:off x="365760" y="3794760"/>
            <a:ext cx="2468880" cy="731520"/>
          </a:xfrm>
          <a:prstGeom prst="rect">
            <a:avLst/>
          </a:prstGeom>
          <a:solidFill>
            <a:srgbClr val="E3F2FD"/>
          </a:solidFill>
          <a:ln w="12700">
            <a:solidFill>
              <a:srgbClr val="2196F3"/>
            </a:solidFill>
            <a:prstDash val="solid"/>
          </a:ln>
        </p:spPr>
      </p:sp>
      <p:sp>
        <p:nvSpPr>
          <p:cNvPr id="13" name="Text 11"/>
          <p:cNvSpPr/>
          <p:nvPr/>
        </p:nvSpPr>
        <p:spPr>
          <a:xfrm>
            <a:off x="457200" y="3794760"/>
            <a:ext cx="2377440" cy="731520"/>
          </a:xfrm>
          <a:prstGeom prst="rect">
            <a:avLst/>
          </a:prstGeom>
          <a:noFill/>
          <a:ln/>
        </p:spPr>
        <p:txBody>
          <a:bodyPr wrap="square" rtlCol="0" anchor="ctr"/>
          <a:lstStyle/>
          <a:p>
            <a:pPr indent="0" marL="0">
              <a:buNone/>
            </a:pPr>
            <a:r>
              <a:rPr lang="en-US" sz="1300" dirty="0">
                <a:solidFill>
                  <a:srgbClr val="0D47A1"/>
                </a:solidFill>
              </a:rPr>
              <a:t>🌍  Grande comunidade global</a:t>
            </a:r>
            <a:endParaRPr lang="en-US" sz="1300" dirty="0"/>
          </a:p>
        </p:txBody>
      </p:sp>
      <p:sp>
        <p:nvSpPr>
          <p:cNvPr id="14" name="Shape 12"/>
          <p:cNvSpPr/>
          <p:nvPr/>
        </p:nvSpPr>
        <p:spPr>
          <a:xfrm>
            <a:off x="3017520" y="3794760"/>
            <a:ext cx="2468880" cy="731520"/>
          </a:xfrm>
          <a:prstGeom prst="rect">
            <a:avLst/>
          </a:prstGeom>
          <a:solidFill>
            <a:srgbClr val="E3F2FD"/>
          </a:solidFill>
          <a:ln w="12700">
            <a:solidFill>
              <a:srgbClr val="2196F3"/>
            </a:solidFill>
            <a:prstDash val="solid"/>
          </a:ln>
        </p:spPr>
      </p:sp>
      <p:sp>
        <p:nvSpPr>
          <p:cNvPr id="15" name="Text 13"/>
          <p:cNvSpPr/>
          <p:nvPr/>
        </p:nvSpPr>
        <p:spPr>
          <a:xfrm>
            <a:off x="3108960" y="3794760"/>
            <a:ext cx="2377440" cy="731520"/>
          </a:xfrm>
          <a:prstGeom prst="rect">
            <a:avLst/>
          </a:prstGeom>
          <a:noFill/>
          <a:ln/>
        </p:spPr>
        <p:txBody>
          <a:bodyPr wrap="square" rtlCol="0" anchor="ctr"/>
          <a:lstStyle/>
          <a:p>
            <a:pPr indent="0" marL="0">
              <a:buNone/>
            </a:pPr>
            <a:r>
              <a:rPr lang="en-US" sz="1300" dirty="0">
                <a:solidFill>
                  <a:srgbClr val="0D47A1"/>
                </a:solidFill>
              </a:rPr>
              <a:t>📦  Bibliotecas abundantes</a:t>
            </a:r>
            <a:endParaRPr lang="en-US" sz="1300" dirty="0"/>
          </a:p>
        </p:txBody>
      </p:sp>
      <p:sp>
        <p:nvSpPr>
          <p:cNvPr id="16" name="Shape 14"/>
          <p:cNvSpPr/>
          <p:nvPr/>
        </p:nvSpPr>
        <p:spPr>
          <a:xfrm>
            <a:off x="5760720" y="1143000"/>
            <a:ext cx="3017520" cy="3429000"/>
          </a:xfrm>
          <a:prstGeom prst="rect">
            <a:avLst/>
          </a:prstGeom>
          <a:solidFill>
            <a:srgbClr val="F5F5F5"/>
          </a:solidFill>
          <a:ln w="12700">
            <a:solidFill>
              <a:srgbClr val="2196F3"/>
            </a:solidFill>
            <a:prstDash val="solid"/>
          </a:ln>
        </p:spPr>
      </p:sp>
      <p:sp>
        <p:nvSpPr>
          <p:cNvPr id="17" name="Text 15"/>
          <p:cNvSpPr/>
          <p:nvPr/>
        </p:nvSpPr>
        <p:spPr>
          <a:xfrm>
            <a:off x="5852160" y="1188720"/>
            <a:ext cx="2834640" cy="3291840"/>
          </a:xfrm>
          <a:prstGeom prst="rect">
            <a:avLst/>
          </a:prstGeom>
          <a:noFill/>
          <a:ln/>
        </p:spPr>
        <p:txBody>
          <a:bodyPr wrap="square" rtlCol="0" anchor="t"/>
          <a:lstStyle/>
          <a:p>
            <a:pPr indent="0" marL="0">
              <a:buNone/>
            </a:pPr>
            <a:r>
              <a:rPr lang="en-US" sz="1200" dirty="0">
                <a:solidFill>
                  <a:srgbClr val="0D47A1"/>
                </a:solidFill>
              </a:rPr>
              <a:t>💡 Arduino Uno</a:t>
            </a:r>
            <a:endParaRPr lang="en-US" sz="1200" dirty="0"/>
          </a:p>
          <a:p>
            <a:pPr indent="0" marL="0">
              <a:buNone/>
            </a:pPr>
            <a:endParaRPr lang="en-US" sz="1200" dirty="0"/>
          </a:p>
          <a:p>
            <a:pPr indent="0" marL="0">
              <a:buNone/>
            </a:pPr>
            <a:r>
              <a:rPr lang="en-US" sz="1200" dirty="0">
                <a:solidFill>
                  <a:srgbClr val="0D47A1"/>
                </a:solidFill>
              </a:rPr>
              <a:t>• Microcontrolador ATmega328P</a:t>
            </a:r>
            <a:endParaRPr lang="en-US" sz="1200" dirty="0"/>
          </a:p>
          <a:p>
            <a:pPr indent="0" marL="0">
              <a:buNone/>
            </a:pPr>
            <a:r>
              <a:rPr lang="en-US" sz="1200" dirty="0">
                <a:solidFill>
                  <a:srgbClr val="0D47A1"/>
                </a:solidFill>
              </a:rPr>
              <a:t>• 14 pinos digitais I/O</a:t>
            </a:r>
            <a:endParaRPr lang="en-US" sz="1200" dirty="0"/>
          </a:p>
          <a:p>
            <a:pPr indent="0" marL="0">
              <a:buNone/>
            </a:pPr>
            <a:r>
              <a:rPr lang="en-US" sz="1200" dirty="0">
                <a:solidFill>
                  <a:srgbClr val="0D47A1"/>
                </a:solidFill>
              </a:rPr>
              <a:t>• 6 entradas analógicas</a:t>
            </a:r>
            <a:endParaRPr lang="en-US" sz="1200" dirty="0"/>
          </a:p>
          <a:p>
            <a:pPr indent="0" marL="0">
              <a:buNone/>
            </a:pPr>
            <a:r>
              <a:rPr lang="en-US" sz="1200" dirty="0">
                <a:solidFill>
                  <a:srgbClr val="0D47A1"/>
                </a:solidFill>
              </a:rPr>
              <a:t>• Clock: 16 MHz</a:t>
            </a:r>
            <a:endParaRPr lang="en-US" sz="1200" dirty="0"/>
          </a:p>
          <a:p>
            <a:pPr indent="0" marL="0">
              <a:buNone/>
            </a:pPr>
            <a:r>
              <a:rPr lang="en-US" sz="1200" dirty="0">
                <a:solidFill>
                  <a:srgbClr val="0D47A1"/>
                </a:solidFill>
              </a:rPr>
              <a:t>• Memória Flash: 32 KB</a:t>
            </a:r>
            <a:endParaRPr lang="en-US" sz="1200" dirty="0"/>
          </a:p>
          <a:p>
            <a:pPr indent="0" marL="0">
              <a:buNone/>
            </a:pPr>
            <a:r>
              <a:rPr lang="en-US" sz="1200" dirty="0">
                <a:solidFill>
                  <a:srgbClr val="0D47A1"/>
                </a:solidFill>
              </a:rPr>
              <a:t>• RAM: 2 KB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Histórico do 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234440"/>
            <a:ext cx="1097280" cy="457200"/>
          </a:xfrm>
          <a:prstGeom prst="rect">
            <a:avLst/>
          </a:prstGeom>
          <a:solidFill>
            <a:srgbClr val="0D47A1"/>
          </a:solidFill>
          <a:ln w="12700">
            <a:solidFill>
              <a:srgbClr val="0D47A1"/>
            </a:solidFill>
            <a:prstDash val="solid"/>
          </a:ln>
        </p:spPr>
      </p:sp>
      <p:sp>
        <p:nvSpPr>
          <p:cNvPr id="8" name="Text 6"/>
          <p:cNvSpPr/>
          <p:nvPr/>
        </p:nvSpPr>
        <p:spPr>
          <a:xfrm>
            <a:off x="365760" y="1234440"/>
            <a:ext cx="1097280" cy="457200"/>
          </a:xfrm>
          <a:prstGeom prst="rect">
            <a:avLst/>
          </a:prstGeom>
          <a:noFill/>
          <a:ln/>
        </p:spPr>
        <p:txBody>
          <a:bodyPr wrap="square" rtlCol="0" anchor="ctr"/>
          <a:lstStyle/>
          <a:p>
            <a:pPr algn="ctr" indent="0" marL="0">
              <a:buNone/>
            </a:pPr>
            <a:r>
              <a:rPr lang="en-US" sz="1300" b="1" dirty="0">
                <a:solidFill>
                  <a:srgbClr val="FFFFFF"/>
                </a:solidFill>
              </a:rPr>
              <a:t>2003</a:t>
            </a:r>
            <a:endParaRPr lang="en-US" sz="1300" dirty="0"/>
          </a:p>
        </p:txBody>
      </p:sp>
      <p:sp>
        <p:nvSpPr>
          <p:cNvPr id="9" name="Shape 7"/>
          <p:cNvSpPr/>
          <p:nvPr/>
        </p:nvSpPr>
        <p:spPr>
          <a:xfrm>
            <a:off x="1463040" y="1417320"/>
            <a:ext cx="274320" cy="45720"/>
          </a:xfrm>
          <a:prstGeom prst="rect">
            <a:avLst/>
          </a:prstGeom>
          <a:solidFill>
            <a:srgbClr val="2196F3"/>
          </a:solidFill>
          <a:ln w="12700">
            <a:solidFill>
              <a:srgbClr val="2196F3"/>
            </a:solidFill>
            <a:prstDash val="solid"/>
          </a:ln>
        </p:spPr>
      </p:sp>
      <p:sp>
        <p:nvSpPr>
          <p:cNvPr id="10" name="Text 8"/>
          <p:cNvSpPr/>
          <p:nvPr/>
        </p:nvSpPr>
        <p:spPr>
          <a:xfrm>
            <a:off x="1828800" y="1234440"/>
            <a:ext cx="7040880" cy="457200"/>
          </a:xfrm>
          <a:prstGeom prst="rect">
            <a:avLst/>
          </a:prstGeom>
          <a:noFill/>
          <a:ln/>
        </p:spPr>
        <p:txBody>
          <a:bodyPr wrap="square" rtlCol="0" anchor="ctr"/>
          <a:lstStyle/>
          <a:p>
            <a:pPr indent="0" marL="0">
              <a:buNone/>
            </a:pPr>
            <a:r>
              <a:rPr lang="en-US" sz="1300" dirty="0">
                <a:solidFill>
                  <a:srgbClr val="1565C0"/>
                </a:solidFill>
              </a:rPr>
              <a:t>Início do projeto no Instituto de Design de Ivrea, Itália</a:t>
            </a:r>
            <a:endParaRPr lang="en-US" sz="1300" dirty="0"/>
          </a:p>
        </p:txBody>
      </p:sp>
      <p:sp>
        <p:nvSpPr>
          <p:cNvPr id="11" name="Shape 9"/>
          <p:cNvSpPr/>
          <p:nvPr/>
        </p:nvSpPr>
        <p:spPr>
          <a:xfrm>
            <a:off x="365760" y="1828800"/>
            <a:ext cx="1097280" cy="457200"/>
          </a:xfrm>
          <a:prstGeom prst="rect">
            <a:avLst/>
          </a:prstGeom>
          <a:solidFill>
            <a:srgbClr val="0D47A1"/>
          </a:solidFill>
          <a:ln w="12700">
            <a:solidFill>
              <a:srgbClr val="0D47A1"/>
            </a:solidFill>
            <a:prstDash val="solid"/>
          </a:ln>
        </p:spPr>
      </p:sp>
      <p:sp>
        <p:nvSpPr>
          <p:cNvPr id="12" name="Text 10"/>
          <p:cNvSpPr/>
          <p:nvPr/>
        </p:nvSpPr>
        <p:spPr>
          <a:xfrm>
            <a:off x="365760" y="1828800"/>
            <a:ext cx="1097280" cy="457200"/>
          </a:xfrm>
          <a:prstGeom prst="rect">
            <a:avLst/>
          </a:prstGeom>
          <a:noFill/>
          <a:ln/>
        </p:spPr>
        <p:txBody>
          <a:bodyPr wrap="square" rtlCol="0" anchor="ctr"/>
          <a:lstStyle/>
          <a:p>
            <a:pPr algn="ctr" indent="0" marL="0">
              <a:buNone/>
            </a:pPr>
            <a:r>
              <a:rPr lang="en-US" sz="1300" b="1" dirty="0">
                <a:solidFill>
                  <a:srgbClr val="FFFFFF"/>
                </a:solidFill>
              </a:rPr>
              <a:t>2005</a:t>
            </a:r>
            <a:endParaRPr lang="en-US" sz="1300" dirty="0"/>
          </a:p>
        </p:txBody>
      </p:sp>
      <p:sp>
        <p:nvSpPr>
          <p:cNvPr id="13" name="Shape 11"/>
          <p:cNvSpPr/>
          <p:nvPr/>
        </p:nvSpPr>
        <p:spPr>
          <a:xfrm>
            <a:off x="1463040" y="2011680"/>
            <a:ext cx="274320" cy="45720"/>
          </a:xfrm>
          <a:prstGeom prst="rect">
            <a:avLst/>
          </a:prstGeom>
          <a:solidFill>
            <a:srgbClr val="2196F3"/>
          </a:solidFill>
          <a:ln w="12700">
            <a:solidFill>
              <a:srgbClr val="2196F3"/>
            </a:solidFill>
            <a:prstDash val="solid"/>
          </a:ln>
        </p:spPr>
      </p:sp>
      <p:sp>
        <p:nvSpPr>
          <p:cNvPr id="14" name="Text 12"/>
          <p:cNvSpPr/>
          <p:nvPr/>
        </p:nvSpPr>
        <p:spPr>
          <a:xfrm>
            <a:off x="1828800" y="1828800"/>
            <a:ext cx="7040880" cy="457200"/>
          </a:xfrm>
          <a:prstGeom prst="rect">
            <a:avLst/>
          </a:prstGeom>
          <a:noFill/>
          <a:ln/>
        </p:spPr>
        <p:txBody>
          <a:bodyPr wrap="square" rtlCol="0" anchor="ctr"/>
          <a:lstStyle/>
          <a:p>
            <a:pPr indent="0" marL="0">
              <a:buNone/>
            </a:pPr>
            <a:r>
              <a:rPr lang="en-US" sz="1300" dirty="0">
                <a:solidFill>
                  <a:srgbClr val="1565C0"/>
                </a:solidFill>
              </a:rPr>
              <a:t>Lançamento oficial da primeira versão do Arduino</a:t>
            </a:r>
            <a:endParaRPr lang="en-US" sz="1300" dirty="0"/>
          </a:p>
        </p:txBody>
      </p:sp>
      <p:sp>
        <p:nvSpPr>
          <p:cNvPr id="15" name="Shape 13"/>
          <p:cNvSpPr/>
          <p:nvPr/>
        </p:nvSpPr>
        <p:spPr>
          <a:xfrm>
            <a:off x="365760" y="2423160"/>
            <a:ext cx="1097280" cy="457200"/>
          </a:xfrm>
          <a:prstGeom prst="rect">
            <a:avLst/>
          </a:prstGeom>
          <a:solidFill>
            <a:srgbClr val="0D47A1"/>
          </a:solidFill>
          <a:ln w="12700">
            <a:solidFill>
              <a:srgbClr val="0D47A1"/>
            </a:solidFill>
            <a:prstDash val="solid"/>
          </a:ln>
        </p:spPr>
      </p:sp>
      <p:sp>
        <p:nvSpPr>
          <p:cNvPr id="16" name="Text 14"/>
          <p:cNvSpPr/>
          <p:nvPr/>
        </p:nvSpPr>
        <p:spPr>
          <a:xfrm>
            <a:off x="365760" y="2423160"/>
            <a:ext cx="1097280" cy="457200"/>
          </a:xfrm>
          <a:prstGeom prst="rect">
            <a:avLst/>
          </a:prstGeom>
          <a:noFill/>
          <a:ln/>
        </p:spPr>
        <p:txBody>
          <a:bodyPr wrap="square" rtlCol="0" anchor="ctr"/>
          <a:lstStyle/>
          <a:p>
            <a:pPr algn="ctr" indent="0" marL="0">
              <a:buNone/>
            </a:pPr>
            <a:r>
              <a:rPr lang="en-US" sz="1300" b="1" dirty="0">
                <a:solidFill>
                  <a:srgbClr val="FFFFFF"/>
                </a:solidFill>
              </a:rPr>
              <a:t>2008</a:t>
            </a:r>
            <a:endParaRPr lang="en-US" sz="1300" dirty="0"/>
          </a:p>
        </p:txBody>
      </p:sp>
      <p:sp>
        <p:nvSpPr>
          <p:cNvPr id="17" name="Shape 15"/>
          <p:cNvSpPr/>
          <p:nvPr/>
        </p:nvSpPr>
        <p:spPr>
          <a:xfrm>
            <a:off x="1463040" y="2606040"/>
            <a:ext cx="274320" cy="45720"/>
          </a:xfrm>
          <a:prstGeom prst="rect">
            <a:avLst/>
          </a:prstGeom>
          <a:solidFill>
            <a:srgbClr val="2196F3"/>
          </a:solidFill>
          <a:ln w="12700">
            <a:solidFill>
              <a:srgbClr val="2196F3"/>
            </a:solidFill>
            <a:prstDash val="solid"/>
          </a:ln>
        </p:spPr>
      </p:sp>
      <p:sp>
        <p:nvSpPr>
          <p:cNvPr id="18" name="Text 16"/>
          <p:cNvSpPr/>
          <p:nvPr/>
        </p:nvSpPr>
        <p:spPr>
          <a:xfrm>
            <a:off x="1828800" y="2423160"/>
            <a:ext cx="7040880" cy="457200"/>
          </a:xfrm>
          <a:prstGeom prst="rect">
            <a:avLst/>
          </a:prstGeom>
          <a:noFill/>
          <a:ln/>
        </p:spPr>
        <p:txBody>
          <a:bodyPr wrap="square" rtlCol="0" anchor="ctr"/>
          <a:lstStyle/>
          <a:p>
            <a:pPr indent="0" marL="0">
              <a:buNone/>
            </a:pPr>
            <a:r>
              <a:rPr lang="en-US" sz="1300" dirty="0">
                <a:solidFill>
                  <a:srgbClr val="1565C0"/>
                </a:solidFill>
              </a:rPr>
              <a:t>Arduino Duemilanove — modelo muito popular</a:t>
            </a:r>
            <a:endParaRPr lang="en-US" sz="1300" dirty="0"/>
          </a:p>
        </p:txBody>
      </p:sp>
      <p:sp>
        <p:nvSpPr>
          <p:cNvPr id="19" name="Shape 17"/>
          <p:cNvSpPr/>
          <p:nvPr/>
        </p:nvSpPr>
        <p:spPr>
          <a:xfrm>
            <a:off x="365760" y="3017520"/>
            <a:ext cx="1097280" cy="457200"/>
          </a:xfrm>
          <a:prstGeom prst="rect">
            <a:avLst/>
          </a:prstGeom>
          <a:solidFill>
            <a:srgbClr val="0D47A1"/>
          </a:solidFill>
          <a:ln w="12700">
            <a:solidFill>
              <a:srgbClr val="0D47A1"/>
            </a:solidFill>
            <a:prstDash val="solid"/>
          </a:ln>
        </p:spPr>
      </p:sp>
      <p:sp>
        <p:nvSpPr>
          <p:cNvPr id="20" name="Text 18"/>
          <p:cNvSpPr/>
          <p:nvPr/>
        </p:nvSpPr>
        <p:spPr>
          <a:xfrm>
            <a:off x="365760" y="3017520"/>
            <a:ext cx="1097280" cy="457200"/>
          </a:xfrm>
          <a:prstGeom prst="rect">
            <a:avLst/>
          </a:prstGeom>
          <a:noFill/>
          <a:ln/>
        </p:spPr>
        <p:txBody>
          <a:bodyPr wrap="square" rtlCol="0" anchor="ctr"/>
          <a:lstStyle/>
          <a:p>
            <a:pPr algn="ctr" indent="0" marL="0">
              <a:buNone/>
            </a:pPr>
            <a:r>
              <a:rPr lang="en-US" sz="1300" b="1" dirty="0">
                <a:solidFill>
                  <a:srgbClr val="FFFFFF"/>
                </a:solidFill>
              </a:rPr>
              <a:t>2010</a:t>
            </a:r>
            <a:endParaRPr lang="en-US" sz="1300" dirty="0"/>
          </a:p>
        </p:txBody>
      </p:sp>
      <p:sp>
        <p:nvSpPr>
          <p:cNvPr id="21" name="Shape 19"/>
          <p:cNvSpPr/>
          <p:nvPr/>
        </p:nvSpPr>
        <p:spPr>
          <a:xfrm>
            <a:off x="1463040" y="3200400"/>
            <a:ext cx="274320" cy="45720"/>
          </a:xfrm>
          <a:prstGeom prst="rect">
            <a:avLst/>
          </a:prstGeom>
          <a:solidFill>
            <a:srgbClr val="2196F3"/>
          </a:solidFill>
          <a:ln w="12700">
            <a:solidFill>
              <a:srgbClr val="2196F3"/>
            </a:solidFill>
            <a:prstDash val="solid"/>
          </a:ln>
        </p:spPr>
      </p:sp>
      <p:sp>
        <p:nvSpPr>
          <p:cNvPr id="22" name="Text 20"/>
          <p:cNvSpPr/>
          <p:nvPr/>
        </p:nvSpPr>
        <p:spPr>
          <a:xfrm>
            <a:off x="1828800" y="3017520"/>
            <a:ext cx="7040880" cy="457200"/>
          </a:xfrm>
          <a:prstGeom prst="rect">
            <a:avLst/>
          </a:prstGeom>
          <a:noFill/>
          <a:ln/>
        </p:spPr>
        <p:txBody>
          <a:bodyPr wrap="square" rtlCol="0" anchor="ctr"/>
          <a:lstStyle/>
          <a:p>
            <a:pPr indent="0" marL="0">
              <a:buNone/>
            </a:pPr>
            <a:r>
              <a:rPr lang="en-US" sz="1300" dirty="0">
                <a:solidFill>
                  <a:srgbClr val="1565C0"/>
                </a:solidFill>
              </a:rPr>
              <a:t>Arduino Uno — o modelo mais utilizado no mundo</a:t>
            </a:r>
            <a:endParaRPr lang="en-US" sz="1300" dirty="0"/>
          </a:p>
        </p:txBody>
      </p:sp>
      <p:sp>
        <p:nvSpPr>
          <p:cNvPr id="23" name="Shape 21"/>
          <p:cNvSpPr/>
          <p:nvPr/>
        </p:nvSpPr>
        <p:spPr>
          <a:xfrm>
            <a:off x="365760" y="3611880"/>
            <a:ext cx="1097280" cy="457200"/>
          </a:xfrm>
          <a:prstGeom prst="rect">
            <a:avLst/>
          </a:prstGeom>
          <a:solidFill>
            <a:srgbClr val="0D47A1"/>
          </a:solidFill>
          <a:ln w="12700">
            <a:solidFill>
              <a:srgbClr val="0D47A1"/>
            </a:solidFill>
            <a:prstDash val="solid"/>
          </a:ln>
        </p:spPr>
      </p:sp>
      <p:sp>
        <p:nvSpPr>
          <p:cNvPr id="24" name="Text 22"/>
          <p:cNvSpPr/>
          <p:nvPr/>
        </p:nvSpPr>
        <p:spPr>
          <a:xfrm>
            <a:off x="365760" y="3611880"/>
            <a:ext cx="1097280" cy="457200"/>
          </a:xfrm>
          <a:prstGeom prst="rect">
            <a:avLst/>
          </a:prstGeom>
          <a:noFill/>
          <a:ln/>
        </p:spPr>
        <p:txBody>
          <a:bodyPr wrap="square" rtlCol="0" anchor="ctr"/>
          <a:lstStyle/>
          <a:p>
            <a:pPr algn="ctr" indent="0" marL="0">
              <a:buNone/>
            </a:pPr>
            <a:r>
              <a:rPr lang="en-US" sz="1300" b="1" dirty="0">
                <a:solidFill>
                  <a:srgbClr val="FFFFFF"/>
                </a:solidFill>
              </a:rPr>
              <a:t>2015</a:t>
            </a:r>
            <a:endParaRPr lang="en-US" sz="1300" dirty="0"/>
          </a:p>
        </p:txBody>
      </p:sp>
      <p:sp>
        <p:nvSpPr>
          <p:cNvPr id="25" name="Shape 23"/>
          <p:cNvSpPr/>
          <p:nvPr/>
        </p:nvSpPr>
        <p:spPr>
          <a:xfrm>
            <a:off x="1463040" y="3794760"/>
            <a:ext cx="274320" cy="45720"/>
          </a:xfrm>
          <a:prstGeom prst="rect">
            <a:avLst/>
          </a:prstGeom>
          <a:solidFill>
            <a:srgbClr val="2196F3"/>
          </a:solidFill>
          <a:ln w="12700">
            <a:solidFill>
              <a:srgbClr val="2196F3"/>
            </a:solidFill>
            <a:prstDash val="solid"/>
          </a:ln>
        </p:spPr>
      </p:sp>
      <p:sp>
        <p:nvSpPr>
          <p:cNvPr id="26" name="Text 24"/>
          <p:cNvSpPr/>
          <p:nvPr/>
        </p:nvSpPr>
        <p:spPr>
          <a:xfrm>
            <a:off x="1828800" y="3611880"/>
            <a:ext cx="7040880" cy="457200"/>
          </a:xfrm>
          <a:prstGeom prst="rect">
            <a:avLst/>
          </a:prstGeom>
          <a:noFill/>
          <a:ln/>
        </p:spPr>
        <p:txBody>
          <a:bodyPr wrap="square" rtlCol="0" anchor="ctr"/>
          <a:lstStyle/>
          <a:p>
            <a:pPr indent="0" marL="0">
              <a:buNone/>
            </a:pPr>
            <a:r>
              <a:rPr lang="en-US" sz="1300" dirty="0">
                <a:solidFill>
                  <a:srgbClr val="1565C0"/>
                </a:solidFill>
              </a:rPr>
              <a:t>Arduino MKR e modelos com Wi-Fi e Bluetooth</a:t>
            </a:r>
            <a:endParaRPr lang="en-US" sz="1300" dirty="0"/>
          </a:p>
        </p:txBody>
      </p:sp>
      <p:sp>
        <p:nvSpPr>
          <p:cNvPr id="27" name="Shape 25"/>
          <p:cNvSpPr/>
          <p:nvPr/>
        </p:nvSpPr>
        <p:spPr>
          <a:xfrm>
            <a:off x="365760" y="4206240"/>
            <a:ext cx="1097280" cy="457200"/>
          </a:xfrm>
          <a:prstGeom prst="rect">
            <a:avLst/>
          </a:prstGeom>
          <a:solidFill>
            <a:srgbClr val="0D47A1"/>
          </a:solidFill>
          <a:ln w="12700">
            <a:solidFill>
              <a:srgbClr val="0D47A1"/>
            </a:solidFill>
            <a:prstDash val="solid"/>
          </a:ln>
        </p:spPr>
      </p:sp>
      <p:sp>
        <p:nvSpPr>
          <p:cNvPr id="28" name="Text 26"/>
          <p:cNvSpPr/>
          <p:nvPr/>
        </p:nvSpPr>
        <p:spPr>
          <a:xfrm>
            <a:off x="365760" y="4206240"/>
            <a:ext cx="1097280" cy="457200"/>
          </a:xfrm>
          <a:prstGeom prst="rect">
            <a:avLst/>
          </a:prstGeom>
          <a:noFill/>
          <a:ln/>
        </p:spPr>
        <p:txBody>
          <a:bodyPr wrap="square" rtlCol="0" anchor="ctr"/>
          <a:lstStyle/>
          <a:p>
            <a:pPr algn="ctr" indent="0" marL="0">
              <a:buNone/>
            </a:pPr>
            <a:r>
              <a:rPr lang="en-US" sz="1300" b="1" dirty="0">
                <a:solidFill>
                  <a:srgbClr val="FFFFFF"/>
                </a:solidFill>
              </a:rPr>
              <a:t>2020+</a:t>
            </a:r>
            <a:endParaRPr lang="en-US" sz="1300" dirty="0"/>
          </a:p>
        </p:txBody>
      </p:sp>
      <p:sp>
        <p:nvSpPr>
          <p:cNvPr id="29" name="Shape 27"/>
          <p:cNvSpPr/>
          <p:nvPr/>
        </p:nvSpPr>
        <p:spPr>
          <a:xfrm>
            <a:off x="1463040" y="4389120"/>
            <a:ext cx="274320" cy="45720"/>
          </a:xfrm>
          <a:prstGeom prst="rect">
            <a:avLst/>
          </a:prstGeom>
          <a:solidFill>
            <a:srgbClr val="2196F3"/>
          </a:solidFill>
          <a:ln w="12700">
            <a:solidFill>
              <a:srgbClr val="2196F3"/>
            </a:solidFill>
            <a:prstDash val="solid"/>
          </a:ln>
        </p:spPr>
      </p:sp>
      <p:sp>
        <p:nvSpPr>
          <p:cNvPr id="30" name="Text 28"/>
          <p:cNvSpPr/>
          <p:nvPr/>
        </p:nvSpPr>
        <p:spPr>
          <a:xfrm>
            <a:off x="1828800" y="4206240"/>
            <a:ext cx="7040880" cy="457200"/>
          </a:xfrm>
          <a:prstGeom prst="rect">
            <a:avLst/>
          </a:prstGeom>
          <a:noFill/>
          <a:ln/>
        </p:spPr>
        <p:txBody>
          <a:bodyPr wrap="square" rtlCol="0" anchor="ctr"/>
          <a:lstStyle/>
          <a:p>
            <a:pPr indent="0" marL="0">
              <a:buNone/>
            </a:pPr>
            <a:r>
              <a:rPr lang="en-US" sz="1300" dirty="0">
                <a:solidFill>
                  <a:srgbClr val="1565C0"/>
                </a:solidFill>
              </a:rPr>
              <a:t>Integração com IoT, machine learning e nuvem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Arquitetura do Microcontrolador</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88720"/>
            <a:ext cx="1828800" cy="548640"/>
          </a:xfrm>
          <a:prstGeom prst="rect">
            <a:avLst/>
          </a:prstGeom>
          <a:solidFill>
            <a:srgbClr val="0D47A1"/>
          </a:solidFill>
          <a:ln w="12700">
            <a:solidFill>
              <a:srgbClr val="0D47A1"/>
            </a:solidFill>
            <a:prstDash val="solid"/>
          </a:ln>
        </p:spPr>
      </p:sp>
      <p:sp>
        <p:nvSpPr>
          <p:cNvPr id="8" name="Text 6"/>
          <p:cNvSpPr/>
          <p:nvPr/>
        </p:nvSpPr>
        <p:spPr>
          <a:xfrm>
            <a:off x="365760" y="1188720"/>
            <a:ext cx="1828800" cy="548640"/>
          </a:xfrm>
          <a:prstGeom prst="rect">
            <a:avLst/>
          </a:prstGeom>
          <a:noFill/>
          <a:ln/>
        </p:spPr>
        <p:txBody>
          <a:bodyPr wrap="square" rtlCol="0" anchor="ctr"/>
          <a:lstStyle/>
          <a:p>
            <a:pPr algn="ctr" indent="0" marL="0">
              <a:buNone/>
            </a:pPr>
            <a:r>
              <a:rPr lang="en-US" sz="1400" b="1" dirty="0">
                <a:solidFill>
                  <a:srgbClr val="FFFFFF"/>
                </a:solidFill>
              </a:rPr>
              <a:t>CPU</a:t>
            </a:r>
            <a:endParaRPr lang="en-US" sz="1400" dirty="0"/>
          </a:p>
        </p:txBody>
      </p:sp>
      <p:sp>
        <p:nvSpPr>
          <p:cNvPr id="9" name="Text 7"/>
          <p:cNvSpPr/>
          <p:nvPr/>
        </p:nvSpPr>
        <p:spPr>
          <a:xfrm>
            <a:off x="2286000" y="1188720"/>
            <a:ext cx="6492240" cy="548640"/>
          </a:xfrm>
          <a:prstGeom prst="rect">
            <a:avLst/>
          </a:prstGeom>
          <a:noFill/>
          <a:ln/>
        </p:spPr>
        <p:txBody>
          <a:bodyPr wrap="square" rtlCol="0" anchor="ctr"/>
          <a:lstStyle/>
          <a:p>
            <a:pPr indent="0" marL="0">
              <a:buNone/>
            </a:pPr>
            <a:r>
              <a:rPr lang="en-US" sz="1300" dirty="0">
                <a:solidFill>
                  <a:srgbClr val="1565C0"/>
                </a:solidFill>
              </a:rPr>
              <a:t>Unidade Central de Processamento — executa instruções</a:t>
            </a:r>
            <a:endParaRPr lang="en-US" sz="1300" dirty="0"/>
          </a:p>
        </p:txBody>
      </p:sp>
      <p:sp>
        <p:nvSpPr>
          <p:cNvPr id="10" name="Shape 8"/>
          <p:cNvSpPr/>
          <p:nvPr/>
        </p:nvSpPr>
        <p:spPr>
          <a:xfrm>
            <a:off x="365760" y="1892808"/>
            <a:ext cx="1828800" cy="548640"/>
          </a:xfrm>
          <a:prstGeom prst="rect">
            <a:avLst/>
          </a:prstGeom>
          <a:solidFill>
            <a:srgbClr val="1976D2"/>
          </a:solidFill>
          <a:ln w="12700">
            <a:solidFill>
              <a:srgbClr val="1976D2"/>
            </a:solidFill>
            <a:prstDash val="solid"/>
          </a:ln>
        </p:spPr>
      </p:sp>
      <p:sp>
        <p:nvSpPr>
          <p:cNvPr id="11" name="Text 9"/>
          <p:cNvSpPr/>
          <p:nvPr/>
        </p:nvSpPr>
        <p:spPr>
          <a:xfrm>
            <a:off x="365760" y="1892808"/>
            <a:ext cx="1828800" cy="548640"/>
          </a:xfrm>
          <a:prstGeom prst="rect">
            <a:avLst/>
          </a:prstGeom>
          <a:noFill/>
          <a:ln/>
        </p:spPr>
        <p:txBody>
          <a:bodyPr wrap="square" rtlCol="0" anchor="ctr"/>
          <a:lstStyle/>
          <a:p>
            <a:pPr algn="ctr" indent="0" marL="0">
              <a:buNone/>
            </a:pPr>
            <a:r>
              <a:rPr lang="en-US" sz="1400" b="1" dirty="0">
                <a:solidFill>
                  <a:srgbClr val="FFFFFF"/>
                </a:solidFill>
              </a:rPr>
              <a:t>Flash</a:t>
            </a:r>
            <a:endParaRPr lang="en-US" sz="1400" dirty="0"/>
          </a:p>
        </p:txBody>
      </p:sp>
      <p:sp>
        <p:nvSpPr>
          <p:cNvPr id="12" name="Text 10"/>
          <p:cNvSpPr/>
          <p:nvPr/>
        </p:nvSpPr>
        <p:spPr>
          <a:xfrm>
            <a:off x="2286000" y="1892808"/>
            <a:ext cx="6492240" cy="548640"/>
          </a:xfrm>
          <a:prstGeom prst="rect">
            <a:avLst/>
          </a:prstGeom>
          <a:noFill/>
          <a:ln/>
        </p:spPr>
        <p:txBody>
          <a:bodyPr wrap="square" rtlCol="0" anchor="ctr"/>
          <a:lstStyle/>
          <a:p>
            <a:pPr indent="0" marL="0">
              <a:buNone/>
            </a:pPr>
            <a:r>
              <a:rPr lang="en-US" sz="1300" dirty="0">
                <a:solidFill>
                  <a:srgbClr val="1565C0"/>
                </a:solidFill>
              </a:rPr>
              <a:t>Memória de programa (armazena o código)</a:t>
            </a:r>
            <a:endParaRPr lang="en-US" sz="1300" dirty="0"/>
          </a:p>
        </p:txBody>
      </p:sp>
      <p:sp>
        <p:nvSpPr>
          <p:cNvPr id="13" name="Shape 11"/>
          <p:cNvSpPr/>
          <p:nvPr/>
        </p:nvSpPr>
        <p:spPr>
          <a:xfrm>
            <a:off x="365760" y="2596896"/>
            <a:ext cx="1828800" cy="548640"/>
          </a:xfrm>
          <a:prstGeom prst="rect">
            <a:avLst/>
          </a:prstGeom>
          <a:solidFill>
            <a:srgbClr val="2196F3"/>
          </a:solidFill>
          <a:ln w="12700">
            <a:solidFill>
              <a:srgbClr val="2196F3"/>
            </a:solidFill>
            <a:prstDash val="solid"/>
          </a:ln>
        </p:spPr>
      </p:sp>
      <p:sp>
        <p:nvSpPr>
          <p:cNvPr id="14" name="Text 12"/>
          <p:cNvSpPr/>
          <p:nvPr/>
        </p:nvSpPr>
        <p:spPr>
          <a:xfrm>
            <a:off x="365760" y="2596896"/>
            <a:ext cx="1828800" cy="548640"/>
          </a:xfrm>
          <a:prstGeom prst="rect">
            <a:avLst/>
          </a:prstGeom>
          <a:noFill/>
          <a:ln/>
        </p:spPr>
        <p:txBody>
          <a:bodyPr wrap="square" rtlCol="0" anchor="ctr"/>
          <a:lstStyle/>
          <a:p>
            <a:pPr algn="ctr" indent="0" marL="0">
              <a:buNone/>
            </a:pPr>
            <a:r>
              <a:rPr lang="en-US" sz="1400" b="1" dirty="0">
                <a:solidFill>
                  <a:srgbClr val="FFFFFF"/>
                </a:solidFill>
              </a:rPr>
              <a:t>SRAM</a:t>
            </a:r>
            <a:endParaRPr lang="en-US" sz="1400" dirty="0"/>
          </a:p>
        </p:txBody>
      </p:sp>
      <p:sp>
        <p:nvSpPr>
          <p:cNvPr id="15" name="Text 13"/>
          <p:cNvSpPr/>
          <p:nvPr/>
        </p:nvSpPr>
        <p:spPr>
          <a:xfrm>
            <a:off x="2286000" y="2596896"/>
            <a:ext cx="6492240" cy="548640"/>
          </a:xfrm>
          <a:prstGeom prst="rect">
            <a:avLst/>
          </a:prstGeom>
          <a:noFill/>
          <a:ln/>
        </p:spPr>
        <p:txBody>
          <a:bodyPr wrap="square" rtlCol="0" anchor="ctr"/>
          <a:lstStyle/>
          <a:p>
            <a:pPr indent="0" marL="0">
              <a:buNone/>
            </a:pPr>
            <a:r>
              <a:rPr lang="en-US" sz="1300" dirty="0">
                <a:solidFill>
                  <a:srgbClr val="1565C0"/>
                </a:solidFill>
              </a:rPr>
              <a:t>Memória RAM — armazena variáveis em execução</a:t>
            </a:r>
            <a:endParaRPr lang="en-US" sz="1300" dirty="0"/>
          </a:p>
        </p:txBody>
      </p:sp>
      <p:sp>
        <p:nvSpPr>
          <p:cNvPr id="16" name="Shape 14"/>
          <p:cNvSpPr/>
          <p:nvPr/>
        </p:nvSpPr>
        <p:spPr>
          <a:xfrm>
            <a:off x="365760" y="3300984"/>
            <a:ext cx="1828800" cy="548640"/>
          </a:xfrm>
          <a:prstGeom prst="rect">
            <a:avLst/>
          </a:prstGeom>
          <a:solidFill>
            <a:srgbClr val="42A5F5"/>
          </a:solidFill>
          <a:ln w="12700">
            <a:solidFill>
              <a:srgbClr val="42A5F5"/>
            </a:solidFill>
            <a:prstDash val="solid"/>
          </a:ln>
        </p:spPr>
      </p:sp>
      <p:sp>
        <p:nvSpPr>
          <p:cNvPr id="17" name="Text 15"/>
          <p:cNvSpPr/>
          <p:nvPr/>
        </p:nvSpPr>
        <p:spPr>
          <a:xfrm>
            <a:off x="365760" y="3300984"/>
            <a:ext cx="1828800" cy="548640"/>
          </a:xfrm>
          <a:prstGeom prst="rect">
            <a:avLst/>
          </a:prstGeom>
          <a:noFill/>
          <a:ln/>
        </p:spPr>
        <p:txBody>
          <a:bodyPr wrap="square" rtlCol="0" anchor="ctr"/>
          <a:lstStyle/>
          <a:p>
            <a:pPr algn="ctr" indent="0" marL="0">
              <a:buNone/>
            </a:pPr>
            <a:r>
              <a:rPr lang="en-US" sz="1400" b="1" dirty="0">
                <a:solidFill>
                  <a:srgbClr val="FFFFFF"/>
                </a:solidFill>
              </a:rPr>
              <a:t>EEPROM</a:t>
            </a:r>
            <a:endParaRPr lang="en-US" sz="1400" dirty="0"/>
          </a:p>
        </p:txBody>
      </p:sp>
      <p:sp>
        <p:nvSpPr>
          <p:cNvPr id="18" name="Text 16"/>
          <p:cNvSpPr/>
          <p:nvPr/>
        </p:nvSpPr>
        <p:spPr>
          <a:xfrm>
            <a:off x="2286000" y="3300984"/>
            <a:ext cx="6492240" cy="548640"/>
          </a:xfrm>
          <a:prstGeom prst="rect">
            <a:avLst/>
          </a:prstGeom>
          <a:noFill/>
          <a:ln/>
        </p:spPr>
        <p:txBody>
          <a:bodyPr wrap="square" rtlCol="0" anchor="ctr"/>
          <a:lstStyle/>
          <a:p>
            <a:pPr indent="0" marL="0">
              <a:buNone/>
            </a:pPr>
            <a:r>
              <a:rPr lang="en-US" sz="1300" dirty="0">
                <a:solidFill>
                  <a:srgbClr val="1565C0"/>
                </a:solidFill>
              </a:rPr>
              <a:t>Memória não volátil — dados persistentes</a:t>
            </a:r>
            <a:endParaRPr lang="en-US" sz="1300" dirty="0"/>
          </a:p>
        </p:txBody>
      </p:sp>
      <p:sp>
        <p:nvSpPr>
          <p:cNvPr id="19" name="Shape 17"/>
          <p:cNvSpPr/>
          <p:nvPr/>
        </p:nvSpPr>
        <p:spPr>
          <a:xfrm>
            <a:off x="365760" y="4005072"/>
            <a:ext cx="1828800" cy="548640"/>
          </a:xfrm>
          <a:prstGeom prst="rect">
            <a:avLst/>
          </a:prstGeom>
          <a:solidFill>
            <a:srgbClr val="90CAF9"/>
          </a:solidFill>
          <a:ln w="12700">
            <a:solidFill>
              <a:srgbClr val="90CAF9"/>
            </a:solidFill>
            <a:prstDash val="solid"/>
          </a:ln>
        </p:spPr>
      </p:sp>
      <p:sp>
        <p:nvSpPr>
          <p:cNvPr id="20" name="Text 18"/>
          <p:cNvSpPr/>
          <p:nvPr/>
        </p:nvSpPr>
        <p:spPr>
          <a:xfrm>
            <a:off x="365760" y="4005072"/>
            <a:ext cx="1828800" cy="548640"/>
          </a:xfrm>
          <a:prstGeom prst="rect">
            <a:avLst/>
          </a:prstGeom>
          <a:noFill/>
          <a:ln/>
        </p:spPr>
        <p:txBody>
          <a:bodyPr wrap="square" rtlCol="0" anchor="ctr"/>
          <a:lstStyle/>
          <a:p>
            <a:pPr algn="ctr" indent="0" marL="0">
              <a:buNone/>
            </a:pPr>
            <a:r>
              <a:rPr lang="en-US" sz="1400" b="1" dirty="0">
                <a:solidFill>
                  <a:srgbClr val="FFFFFF"/>
                </a:solidFill>
              </a:rPr>
              <a:t>I/O Pins</a:t>
            </a:r>
            <a:endParaRPr lang="en-US" sz="1400" dirty="0"/>
          </a:p>
        </p:txBody>
      </p:sp>
      <p:sp>
        <p:nvSpPr>
          <p:cNvPr id="21" name="Text 19"/>
          <p:cNvSpPr/>
          <p:nvPr/>
        </p:nvSpPr>
        <p:spPr>
          <a:xfrm>
            <a:off x="2286000" y="4005072"/>
            <a:ext cx="6492240" cy="548640"/>
          </a:xfrm>
          <a:prstGeom prst="rect">
            <a:avLst/>
          </a:prstGeom>
          <a:noFill/>
          <a:ln/>
        </p:spPr>
        <p:txBody>
          <a:bodyPr wrap="square" rtlCol="0" anchor="ctr"/>
          <a:lstStyle/>
          <a:p>
            <a:pPr indent="0" marL="0">
              <a:buNone/>
            </a:pPr>
            <a:r>
              <a:rPr lang="en-US" sz="1300" dirty="0">
                <a:solidFill>
                  <a:srgbClr val="1565C0"/>
                </a:solidFill>
              </a:rPr>
              <a:t>Pinos de entrada e saída digital e analógica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Por que C/C++ no 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1188720"/>
          </a:xfrm>
          <a:prstGeom prst="rect">
            <a:avLst/>
          </a:prstGeom>
          <a:noFill/>
          <a:ln/>
        </p:spPr>
        <p:txBody>
          <a:bodyPr wrap="square" rtlCol="0" anchor="ctr"/>
          <a:lstStyle/>
          <a:p>
            <a:pPr indent="0" marL="0">
              <a:buNone/>
            </a:pPr>
            <a:r>
              <a:rPr lang="en-US" sz="1300" dirty="0">
                <a:solidFill>
                  <a:srgbClr val="1565C0"/>
                </a:solidFill>
              </a:rPr>
              <a:t>O Arduino utiliza uma variante da linguagem C/C++. Esta é considerada uma linguagem de nível médio-baixo, pois permite manipular diretamente registradores do hardware, ponteiros de memória e portas de entrada/saída — características típicas de linguagens de baixo nível.</a:t>
            </a:r>
            <a:endParaRPr lang="en-US" sz="1300" dirty="0"/>
          </a:p>
        </p:txBody>
      </p:sp>
      <p:sp>
        <p:nvSpPr>
          <p:cNvPr id="8" name="Shape 6"/>
          <p:cNvSpPr/>
          <p:nvPr/>
        </p:nvSpPr>
        <p:spPr>
          <a:xfrm>
            <a:off x="365760" y="2468880"/>
            <a:ext cx="4114800" cy="1005840"/>
          </a:xfrm>
          <a:prstGeom prst="rect">
            <a:avLst/>
          </a:prstGeom>
          <a:solidFill>
            <a:srgbClr val="E3F2FD"/>
          </a:solidFill>
          <a:ln w="12700">
            <a:solidFill>
              <a:srgbClr val="2196F3"/>
            </a:solidFill>
            <a:prstDash val="solid"/>
          </a:ln>
        </p:spPr>
      </p:sp>
      <p:sp>
        <p:nvSpPr>
          <p:cNvPr id="9" name="Text 7"/>
          <p:cNvSpPr/>
          <p:nvPr/>
        </p:nvSpPr>
        <p:spPr>
          <a:xfrm>
            <a:off x="457200" y="2514600"/>
            <a:ext cx="3931920" cy="320040"/>
          </a:xfrm>
          <a:prstGeom prst="rect">
            <a:avLst/>
          </a:prstGeom>
          <a:noFill/>
          <a:ln/>
        </p:spPr>
        <p:txBody>
          <a:bodyPr wrap="square" rtlCol="0" anchor="ctr"/>
          <a:lstStyle/>
          <a:p>
            <a:pPr indent="0" marL="0">
              <a:buNone/>
            </a:pPr>
            <a:r>
              <a:rPr lang="en-US" sz="1400" b="1" dirty="0">
                <a:solidFill>
                  <a:srgbClr val="0D47A1"/>
                </a:solidFill>
              </a:rPr>
              <a:t>⚡ Eficiência</a:t>
            </a:r>
            <a:endParaRPr lang="en-US" sz="1400" dirty="0"/>
          </a:p>
        </p:txBody>
      </p:sp>
      <p:sp>
        <p:nvSpPr>
          <p:cNvPr id="10" name="Text 8"/>
          <p:cNvSpPr/>
          <p:nvPr/>
        </p:nvSpPr>
        <p:spPr>
          <a:xfrm>
            <a:off x="457200" y="2834640"/>
            <a:ext cx="3931920" cy="502920"/>
          </a:xfrm>
          <a:prstGeom prst="rect">
            <a:avLst/>
          </a:prstGeom>
          <a:noFill/>
          <a:ln/>
        </p:spPr>
        <p:txBody>
          <a:bodyPr wrap="square" rtlCol="0" anchor="ctr"/>
          <a:lstStyle/>
          <a:p>
            <a:pPr indent="0" marL="0">
              <a:buNone/>
            </a:pPr>
            <a:r>
              <a:rPr lang="en-US" sz="1200" dirty="0">
                <a:solidFill>
                  <a:srgbClr val="546E7A"/>
                </a:solidFill>
              </a:rPr>
              <a:t>Código rápido e com baixo overhead</a:t>
            </a:r>
            <a:endParaRPr lang="en-US" sz="1200" dirty="0"/>
          </a:p>
        </p:txBody>
      </p:sp>
      <p:sp>
        <p:nvSpPr>
          <p:cNvPr id="11" name="Shape 9"/>
          <p:cNvSpPr/>
          <p:nvPr/>
        </p:nvSpPr>
        <p:spPr>
          <a:xfrm>
            <a:off x="4754880" y="2468880"/>
            <a:ext cx="4114800" cy="1005840"/>
          </a:xfrm>
          <a:prstGeom prst="rect">
            <a:avLst/>
          </a:prstGeom>
          <a:solidFill>
            <a:srgbClr val="E3F2FD"/>
          </a:solidFill>
          <a:ln w="12700">
            <a:solidFill>
              <a:srgbClr val="2196F3"/>
            </a:solidFill>
            <a:prstDash val="solid"/>
          </a:ln>
        </p:spPr>
      </p:sp>
      <p:sp>
        <p:nvSpPr>
          <p:cNvPr id="12" name="Text 10"/>
          <p:cNvSpPr/>
          <p:nvPr/>
        </p:nvSpPr>
        <p:spPr>
          <a:xfrm>
            <a:off x="4846320" y="2514600"/>
            <a:ext cx="3931920" cy="320040"/>
          </a:xfrm>
          <a:prstGeom prst="rect">
            <a:avLst/>
          </a:prstGeom>
          <a:noFill/>
          <a:ln/>
        </p:spPr>
        <p:txBody>
          <a:bodyPr wrap="square" rtlCol="0" anchor="ctr"/>
          <a:lstStyle/>
          <a:p>
            <a:pPr indent="0" marL="0">
              <a:buNone/>
            </a:pPr>
            <a:r>
              <a:rPr lang="en-US" sz="1400" b="1" dirty="0">
                <a:solidFill>
                  <a:srgbClr val="0D47A1"/>
                </a:solidFill>
              </a:rPr>
              <a:t>🔧 Controle</a:t>
            </a:r>
            <a:endParaRPr lang="en-US" sz="1400" dirty="0"/>
          </a:p>
        </p:txBody>
      </p:sp>
      <p:sp>
        <p:nvSpPr>
          <p:cNvPr id="13" name="Text 11"/>
          <p:cNvSpPr/>
          <p:nvPr/>
        </p:nvSpPr>
        <p:spPr>
          <a:xfrm>
            <a:off x="4846320" y="2834640"/>
            <a:ext cx="3931920" cy="502920"/>
          </a:xfrm>
          <a:prstGeom prst="rect">
            <a:avLst/>
          </a:prstGeom>
          <a:noFill/>
          <a:ln/>
        </p:spPr>
        <p:txBody>
          <a:bodyPr wrap="square" rtlCol="0" anchor="ctr"/>
          <a:lstStyle/>
          <a:p>
            <a:pPr indent="0" marL="0">
              <a:buNone/>
            </a:pPr>
            <a:r>
              <a:rPr lang="en-US" sz="1200" dirty="0">
                <a:solidFill>
                  <a:srgbClr val="546E7A"/>
                </a:solidFill>
              </a:rPr>
              <a:t>Acesso direto a registradores e portas</a:t>
            </a:r>
            <a:endParaRPr lang="en-US" sz="1200" dirty="0"/>
          </a:p>
        </p:txBody>
      </p:sp>
      <p:sp>
        <p:nvSpPr>
          <p:cNvPr id="14" name="Shape 12"/>
          <p:cNvSpPr/>
          <p:nvPr/>
        </p:nvSpPr>
        <p:spPr>
          <a:xfrm>
            <a:off x="365760" y="3657600"/>
            <a:ext cx="4114800" cy="1005840"/>
          </a:xfrm>
          <a:prstGeom prst="rect">
            <a:avLst/>
          </a:prstGeom>
          <a:solidFill>
            <a:srgbClr val="E3F2FD"/>
          </a:solidFill>
          <a:ln w="12700">
            <a:solidFill>
              <a:srgbClr val="2196F3"/>
            </a:solidFill>
            <a:prstDash val="solid"/>
          </a:ln>
        </p:spPr>
      </p:sp>
      <p:sp>
        <p:nvSpPr>
          <p:cNvPr id="15" name="Text 13"/>
          <p:cNvSpPr/>
          <p:nvPr/>
        </p:nvSpPr>
        <p:spPr>
          <a:xfrm>
            <a:off x="457200" y="3703320"/>
            <a:ext cx="3931920" cy="320040"/>
          </a:xfrm>
          <a:prstGeom prst="rect">
            <a:avLst/>
          </a:prstGeom>
          <a:noFill/>
          <a:ln/>
        </p:spPr>
        <p:txBody>
          <a:bodyPr wrap="square" rtlCol="0" anchor="ctr"/>
          <a:lstStyle/>
          <a:p>
            <a:pPr indent="0" marL="0">
              <a:buNone/>
            </a:pPr>
            <a:r>
              <a:rPr lang="en-US" sz="1400" b="1" dirty="0">
                <a:solidFill>
                  <a:srgbClr val="0D47A1"/>
                </a:solidFill>
              </a:rPr>
              <a:t>📚 Suporte</a:t>
            </a:r>
            <a:endParaRPr lang="en-US" sz="1400" dirty="0"/>
          </a:p>
        </p:txBody>
      </p:sp>
      <p:sp>
        <p:nvSpPr>
          <p:cNvPr id="16" name="Text 14"/>
          <p:cNvSpPr/>
          <p:nvPr/>
        </p:nvSpPr>
        <p:spPr>
          <a:xfrm>
            <a:off x="457200" y="4023360"/>
            <a:ext cx="3931920" cy="502920"/>
          </a:xfrm>
          <a:prstGeom prst="rect">
            <a:avLst/>
          </a:prstGeom>
          <a:noFill/>
          <a:ln/>
        </p:spPr>
        <p:txBody>
          <a:bodyPr wrap="square" rtlCol="0" anchor="ctr"/>
          <a:lstStyle/>
          <a:p>
            <a:pPr indent="0" marL="0">
              <a:buNone/>
            </a:pPr>
            <a:r>
              <a:rPr lang="en-US" sz="1200" dirty="0">
                <a:solidFill>
                  <a:srgbClr val="546E7A"/>
                </a:solidFill>
              </a:rPr>
              <a:t>Enorme base de bibliotecas e exemplos</a:t>
            </a:r>
            <a:endParaRPr lang="en-US" sz="1200" dirty="0"/>
          </a:p>
        </p:txBody>
      </p:sp>
      <p:sp>
        <p:nvSpPr>
          <p:cNvPr id="17" name="Shape 15"/>
          <p:cNvSpPr/>
          <p:nvPr/>
        </p:nvSpPr>
        <p:spPr>
          <a:xfrm>
            <a:off x="4754880" y="3657600"/>
            <a:ext cx="4114800" cy="1005840"/>
          </a:xfrm>
          <a:prstGeom prst="rect">
            <a:avLst/>
          </a:prstGeom>
          <a:solidFill>
            <a:srgbClr val="E3F2FD"/>
          </a:solidFill>
          <a:ln w="12700">
            <a:solidFill>
              <a:srgbClr val="2196F3"/>
            </a:solidFill>
            <a:prstDash val="solid"/>
          </a:ln>
        </p:spPr>
      </p:sp>
      <p:sp>
        <p:nvSpPr>
          <p:cNvPr id="18" name="Text 16"/>
          <p:cNvSpPr/>
          <p:nvPr/>
        </p:nvSpPr>
        <p:spPr>
          <a:xfrm>
            <a:off x="4846320" y="3703320"/>
            <a:ext cx="3931920" cy="320040"/>
          </a:xfrm>
          <a:prstGeom prst="rect">
            <a:avLst/>
          </a:prstGeom>
          <a:noFill/>
          <a:ln/>
        </p:spPr>
        <p:txBody>
          <a:bodyPr wrap="square" rtlCol="0" anchor="ctr"/>
          <a:lstStyle/>
          <a:p>
            <a:pPr indent="0" marL="0">
              <a:buNone/>
            </a:pPr>
            <a:r>
              <a:rPr lang="en-US" sz="1400" b="1" dirty="0">
                <a:solidFill>
                  <a:srgbClr val="0D47A1"/>
                </a:solidFill>
              </a:rPr>
              <a:t>🎓 Didático</a:t>
            </a:r>
            <a:endParaRPr lang="en-US" sz="1400" dirty="0"/>
          </a:p>
        </p:txBody>
      </p:sp>
      <p:sp>
        <p:nvSpPr>
          <p:cNvPr id="19" name="Text 17"/>
          <p:cNvSpPr/>
          <p:nvPr/>
        </p:nvSpPr>
        <p:spPr>
          <a:xfrm>
            <a:off x="4846320" y="4023360"/>
            <a:ext cx="3931920" cy="502920"/>
          </a:xfrm>
          <a:prstGeom prst="rect">
            <a:avLst/>
          </a:prstGeom>
          <a:noFill/>
          <a:ln/>
        </p:spPr>
        <p:txBody>
          <a:bodyPr wrap="square" rtlCol="0" anchor="ctr"/>
          <a:lstStyle/>
          <a:p>
            <a:pPr indent="0" marL="0">
              <a:buNone/>
            </a:pPr>
            <a:r>
              <a:rPr lang="en-US" sz="1200" dirty="0">
                <a:solidFill>
                  <a:srgbClr val="546E7A"/>
                </a:solidFill>
              </a:rPr>
              <a:t>Base sólida para programação embarcada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Estrutura Básica de um Programa 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3520440"/>
          </a:xfrm>
          <a:prstGeom prst="rect">
            <a:avLst/>
          </a:prstGeom>
          <a:solidFill>
            <a:srgbClr val="1E1E1E"/>
          </a:solidFill>
          <a:ln w="12700">
            <a:solidFill>
              <a:srgbClr val="333333"/>
            </a:solidFill>
            <a:prstDash val="solid"/>
          </a:ln>
        </p:spPr>
      </p:sp>
      <p:sp>
        <p:nvSpPr>
          <p:cNvPr id="8" name="Text 6"/>
          <p:cNvSpPr/>
          <p:nvPr/>
        </p:nvSpPr>
        <p:spPr>
          <a:xfrm>
            <a:off x="548640" y="1234440"/>
            <a:ext cx="8138160" cy="3337560"/>
          </a:xfrm>
          <a:prstGeom prst="rect">
            <a:avLst/>
          </a:prstGeom>
          <a:noFill/>
          <a:ln/>
        </p:spPr>
        <p:txBody>
          <a:bodyPr wrap="square" rtlCol="0" anchor="t"/>
          <a:lstStyle/>
          <a:p>
            <a:pPr indent="0" marL="0">
              <a:buNone/>
            </a:pPr>
            <a:r>
              <a:rPr lang="en-US" sz="1300" dirty="0">
                <a:solidFill>
                  <a:srgbClr val="6A9955"/>
                </a:solidFill>
                <a:latin typeface="Consolas" pitchFamily="34" charset="0"/>
                <a:ea typeface="Consolas" pitchFamily="34" charset="-122"/>
                <a:cs typeface="Consolas" pitchFamily="34" charset="-120"/>
              </a:rPr>
              <a:t>// Meu primeiro programa Arduino
</a:t>
            </a:r>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setup() {
</a:t>
            </a:r>
            <a:pPr indent="0" marL="0">
              <a:buNone/>
            </a:pPr>
            <a:r>
              <a:rPr lang="en-US" sz="1300" dirty="0">
                <a:solidFill>
                  <a:srgbClr val="6A9955"/>
                </a:solidFill>
                <a:latin typeface="Consolas" pitchFamily="34" charset="0"/>
                <a:ea typeface="Consolas" pitchFamily="34" charset="-122"/>
                <a:cs typeface="Consolas" pitchFamily="34" charset="-120"/>
              </a:rPr>
              <a:t>  // Executado uma vez ao iniciar
</a:t>
            </a:r>
            <a:pPr indent="0" marL="0">
              <a:buNone/>
            </a:pPr>
            <a:r>
              <a:rPr lang="en-US" sz="1300" dirty="0">
                <a:solidFill>
                  <a:srgbClr val="DCDCAA"/>
                </a:solidFill>
                <a:latin typeface="Consolas" pitchFamily="34" charset="0"/>
                <a:ea typeface="Consolas" pitchFamily="34" charset="-122"/>
                <a:cs typeface="Consolas" pitchFamily="34" charset="-120"/>
              </a:rPr>
              <a:t>  pinMode</a:t>
            </a:r>
            <a:pPr indent="0" marL="0">
              <a:buNone/>
            </a:pPr>
            <a:r>
              <a:rPr lang="en-US" sz="1300" dirty="0">
                <a:solidFill>
                  <a:srgbClr val="D4D4D4"/>
                </a:solidFill>
                <a:latin typeface="Consolas" pitchFamily="34" charset="0"/>
                <a:ea typeface="Consolas" pitchFamily="34" charset="-122"/>
                <a:cs typeface="Consolas" pitchFamily="34" charset="-120"/>
              </a:rPr>
              <a:t>(13, OUTPUT);  // Define pino 13 como saída
</a:t>
            </a:r>
            <a:pPr indent="0" marL="0">
              <a:buNone/>
            </a:pPr>
            <a:r>
              <a:rPr lang="en-US" sz="1300" dirty="0">
                <a:solidFill>
                  <a:srgbClr val="4EC9B0"/>
                </a:solidFill>
                <a:latin typeface="Consolas" pitchFamily="34" charset="0"/>
                <a:ea typeface="Consolas" pitchFamily="34" charset="-122"/>
                <a:cs typeface="Consolas" pitchFamily="34" charset="-120"/>
              </a:rPr>
              <a:t>}
</a:t>
            </a:r>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loop() {
</a:t>
            </a:r>
            <a:pPr indent="0" marL="0">
              <a:buNone/>
            </a:pPr>
            <a:r>
              <a:rPr lang="en-US" sz="1300" dirty="0">
                <a:solidFill>
                  <a:srgbClr val="6A9955"/>
                </a:solidFill>
                <a:latin typeface="Consolas" pitchFamily="34" charset="0"/>
                <a:ea typeface="Consolas" pitchFamily="34" charset="-122"/>
                <a:cs typeface="Consolas" pitchFamily="34" charset="-120"/>
              </a:rPr>
              <a:t>  // Executado continuamente
</a:t>
            </a:r>
            <a:pPr indent="0" marL="0">
              <a:buNone/>
            </a:pPr>
            <a:r>
              <a:rPr lang="en-US" sz="1300" dirty="0">
                <a:solidFill>
                  <a:srgbClr val="DCDCAA"/>
                </a:solidFill>
                <a:latin typeface="Consolas" pitchFamily="34" charset="0"/>
                <a:ea typeface="Consolas" pitchFamily="34" charset="-122"/>
                <a:cs typeface="Consolas" pitchFamily="34" charset="-120"/>
              </a:rPr>
              <a:t>  digitalWrite</a:t>
            </a:r>
            <a:pPr indent="0" marL="0">
              <a:buNone/>
            </a:pPr>
            <a:r>
              <a:rPr lang="en-US" sz="1300" dirty="0">
                <a:solidFill>
                  <a:srgbClr val="D4D4D4"/>
                </a:solidFill>
                <a:latin typeface="Consolas" pitchFamily="34" charset="0"/>
                <a:ea typeface="Consolas" pitchFamily="34" charset="-122"/>
                <a:cs typeface="Consolas" pitchFamily="34" charset="-120"/>
              </a:rPr>
              <a:t>(13, HIGH);  // Liga o LED
</a:t>
            </a:r>
            <a:pPr indent="0" marL="0">
              <a:buNone/>
            </a:pPr>
            <a:r>
              <a:rPr lang="en-US" sz="1300" dirty="0">
                <a:solidFill>
                  <a:srgbClr val="DCDCAA"/>
                </a:solidFill>
                <a:latin typeface="Consolas" pitchFamily="34" charset="0"/>
                <a:ea typeface="Consolas" pitchFamily="34" charset="-122"/>
                <a:cs typeface="Consolas" pitchFamily="34" charset="-120"/>
              </a:rPr>
              <a:t>  delay</a:t>
            </a:r>
            <a:pPr indent="0" marL="0">
              <a:buNone/>
            </a:pPr>
            <a:r>
              <a:rPr lang="en-US" sz="1300" dirty="0">
                <a:solidFill>
                  <a:srgbClr val="D4D4D4"/>
                </a:solidFill>
                <a:latin typeface="Consolas" pitchFamily="34" charset="0"/>
                <a:ea typeface="Consolas" pitchFamily="34" charset="-122"/>
                <a:cs typeface="Consolas" pitchFamily="34" charset="-120"/>
              </a:rPr>
              <a:t>(1000);           // Espera 1 segundo
</a:t>
            </a:r>
            <a:pPr indent="0" marL="0">
              <a:buNone/>
            </a:pPr>
            <a:r>
              <a:rPr lang="en-US" sz="1300" dirty="0">
                <a:solidFill>
                  <a:srgbClr val="DCDCAA"/>
                </a:solidFill>
                <a:latin typeface="Consolas" pitchFamily="34" charset="0"/>
                <a:ea typeface="Consolas" pitchFamily="34" charset="-122"/>
                <a:cs typeface="Consolas" pitchFamily="34" charset="-120"/>
              </a:rPr>
              <a:t>  digitalWrite</a:t>
            </a:r>
            <a:pPr indent="0" marL="0">
              <a:buNone/>
            </a:pPr>
            <a:r>
              <a:rPr lang="en-US" sz="1300" dirty="0">
                <a:solidFill>
                  <a:srgbClr val="D4D4D4"/>
                </a:solidFill>
                <a:latin typeface="Consolas" pitchFamily="34" charset="0"/>
                <a:ea typeface="Consolas" pitchFamily="34" charset="-122"/>
                <a:cs typeface="Consolas" pitchFamily="34" charset="-120"/>
              </a:rPr>
              <a:t>(13, LOW);   // Desliga o LED
</a:t>
            </a:r>
            <a:pPr indent="0" marL="0">
              <a:buNone/>
            </a:pPr>
            <a:r>
              <a:rPr lang="en-US" sz="1300" dirty="0">
                <a:solidFill>
                  <a:srgbClr val="DCDCAA"/>
                </a:solidFill>
                <a:latin typeface="Consolas" pitchFamily="34" charset="0"/>
                <a:ea typeface="Consolas" pitchFamily="34" charset="-122"/>
                <a:cs typeface="Consolas" pitchFamily="34" charset="-120"/>
              </a:rPr>
              <a:t>  delay</a:t>
            </a:r>
            <a:pPr indent="0" marL="0">
              <a:buNone/>
            </a:pPr>
            <a:r>
              <a:rPr lang="en-US" sz="1300" dirty="0">
                <a:solidFill>
                  <a:srgbClr val="D4D4D4"/>
                </a:solidFill>
                <a:latin typeface="Consolas" pitchFamily="34" charset="0"/>
                <a:ea typeface="Consolas" pitchFamily="34" charset="-122"/>
                <a:cs typeface="Consolas" pitchFamily="34" charset="-120"/>
              </a:rPr>
              <a:t>(1000);
</a:t>
            </a:r>
            <a:pPr indent="0" marL="0">
              <a:buNone/>
            </a:pPr>
            <a:r>
              <a:rPr lang="en-US" sz="1300" dirty="0">
                <a:solidFill>
                  <a:srgbClr val="4EC9B0"/>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Funções setup() e loop()</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4114800" cy="3429000"/>
          </a:xfrm>
          <a:prstGeom prst="rect">
            <a:avLst/>
          </a:prstGeom>
          <a:solidFill>
            <a:srgbClr val="E3F2FD"/>
          </a:solidFill>
          <a:ln w="25400">
            <a:solidFill>
              <a:srgbClr val="0D47A1"/>
            </a:solidFill>
            <a:prstDash val="solid"/>
          </a:ln>
        </p:spPr>
      </p:sp>
      <p:sp>
        <p:nvSpPr>
          <p:cNvPr id="8" name="Shape 6"/>
          <p:cNvSpPr/>
          <p:nvPr/>
        </p:nvSpPr>
        <p:spPr>
          <a:xfrm>
            <a:off x="365760" y="1143000"/>
            <a:ext cx="4114800" cy="502920"/>
          </a:xfrm>
          <a:prstGeom prst="rect">
            <a:avLst/>
          </a:prstGeom>
          <a:solidFill>
            <a:srgbClr val="0D47A1"/>
          </a:solidFill>
          <a:ln w="12700">
            <a:solidFill>
              <a:srgbClr val="0D47A1"/>
            </a:solidFill>
            <a:prstDash val="solid"/>
          </a:ln>
        </p:spPr>
      </p:sp>
      <p:sp>
        <p:nvSpPr>
          <p:cNvPr id="9" name="Text 7"/>
          <p:cNvSpPr/>
          <p:nvPr/>
        </p:nvSpPr>
        <p:spPr>
          <a:xfrm>
            <a:off x="457200" y="1143000"/>
            <a:ext cx="3931920" cy="502920"/>
          </a:xfrm>
          <a:prstGeom prst="rect">
            <a:avLst/>
          </a:prstGeom>
          <a:noFill/>
          <a:ln/>
        </p:spPr>
        <p:txBody>
          <a:bodyPr wrap="square" rtlCol="0" anchor="ctr"/>
          <a:lstStyle/>
          <a:p>
            <a:pPr indent="0" marL="0">
              <a:buNone/>
            </a:pPr>
            <a:r>
              <a:rPr lang="en-US" sz="1800" b="1" dirty="0">
                <a:solidFill>
                  <a:srgbClr val="FFFFFF"/>
                </a:solidFill>
              </a:rPr>
              <a:t>setup()</a:t>
            </a:r>
            <a:endParaRPr lang="en-US" sz="1800" dirty="0"/>
          </a:p>
        </p:txBody>
      </p:sp>
      <p:sp>
        <p:nvSpPr>
          <p:cNvPr id="10" name="Text 8"/>
          <p:cNvSpPr/>
          <p:nvPr/>
        </p:nvSpPr>
        <p:spPr>
          <a:xfrm>
            <a:off x="457200" y="1737360"/>
            <a:ext cx="3840480" cy="2651760"/>
          </a:xfrm>
          <a:prstGeom prst="rect">
            <a:avLst/>
          </a:prstGeom>
          <a:noFill/>
          <a:ln/>
        </p:spPr>
        <p:txBody>
          <a:bodyPr wrap="square" rtlCol="0" anchor="t"/>
          <a:lstStyle/>
          <a:p>
            <a:pPr indent="0" marL="0">
              <a:buNone/>
            </a:pPr>
            <a:r>
              <a:rPr lang="en-US" sz="1300" dirty="0">
                <a:solidFill>
                  <a:srgbClr val="0D47A1"/>
                </a:solidFill>
              </a:rPr>
              <a:t>• Executado apenas UMA vez</a:t>
            </a:r>
            <a:endParaRPr lang="en-US" sz="1300" dirty="0"/>
          </a:p>
          <a:p>
            <a:pPr indent="0" marL="0">
              <a:buNone/>
            </a:pPr>
            <a:r>
              <a:rPr lang="en-US" sz="1300" dirty="0">
                <a:solidFill>
                  <a:srgbClr val="0D47A1"/>
                </a:solidFill>
              </a:rPr>
              <a:t>• Ao ligar ou reiniciar o Arduino</a:t>
            </a:r>
            <a:endParaRPr lang="en-US" sz="1300" dirty="0"/>
          </a:p>
          <a:p>
            <a:pPr indent="0" marL="0">
              <a:buNone/>
            </a:pPr>
            <a:r>
              <a:rPr lang="en-US" sz="1300" dirty="0">
                <a:solidFill>
                  <a:srgbClr val="0D47A1"/>
                </a:solidFill>
              </a:rPr>
              <a:t>• Usado para configurações iniciais</a:t>
            </a:r>
            <a:endParaRPr lang="en-US" sz="1300" dirty="0"/>
          </a:p>
          <a:p>
            <a:pPr indent="0" marL="0">
              <a:buNone/>
            </a:pPr>
            <a:r>
              <a:rPr lang="en-US" sz="1300" dirty="0">
                <a:solidFill>
                  <a:srgbClr val="0D47A1"/>
                </a:solidFill>
              </a:rPr>
              <a:t>• Definir pinos como entrada/saída</a:t>
            </a:r>
            <a:endParaRPr lang="en-US" sz="1300" dirty="0"/>
          </a:p>
          <a:p>
            <a:pPr indent="0" marL="0">
              <a:buNone/>
            </a:pPr>
            <a:r>
              <a:rPr lang="en-US" sz="1300" dirty="0">
                <a:solidFill>
                  <a:srgbClr val="0D47A1"/>
                </a:solidFill>
              </a:rPr>
              <a:t>• Inicializar comunicação serial</a:t>
            </a:r>
            <a:endParaRPr lang="en-US" sz="1300" dirty="0"/>
          </a:p>
          <a:p>
            <a:pPr indent="0" marL="0">
              <a:buNone/>
            </a:pPr>
            <a:r>
              <a:rPr lang="en-US" sz="1300" dirty="0">
                <a:solidFill>
                  <a:srgbClr val="0D47A1"/>
                </a:solidFill>
              </a:rPr>
              <a:t>• Configurar bibliotecas e sensores</a:t>
            </a:r>
            <a:endParaRPr lang="en-US" sz="1300" dirty="0"/>
          </a:p>
        </p:txBody>
      </p:sp>
      <p:sp>
        <p:nvSpPr>
          <p:cNvPr id="11" name="Shape 9"/>
          <p:cNvSpPr/>
          <p:nvPr/>
        </p:nvSpPr>
        <p:spPr>
          <a:xfrm>
            <a:off x="4663440" y="1143000"/>
            <a:ext cx="4114800" cy="3429000"/>
          </a:xfrm>
          <a:prstGeom prst="rect">
            <a:avLst/>
          </a:prstGeom>
          <a:solidFill>
            <a:srgbClr val="E8F5E9"/>
          </a:solidFill>
          <a:ln w="25400">
            <a:solidFill>
              <a:srgbClr val="2E7D32"/>
            </a:solidFill>
            <a:prstDash val="solid"/>
          </a:ln>
        </p:spPr>
      </p:sp>
      <p:sp>
        <p:nvSpPr>
          <p:cNvPr id="12" name="Shape 10"/>
          <p:cNvSpPr/>
          <p:nvPr/>
        </p:nvSpPr>
        <p:spPr>
          <a:xfrm>
            <a:off x="4663440" y="1143000"/>
            <a:ext cx="4114800" cy="502920"/>
          </a:xfrm>
          <a:prstGeom prst="rect">
            <a:avLst/>
          </a:prstGeom>
          <a:solidFill>
            <a:srgbClr val="2E7D32"/>
          </a:solidFill>
          <a:ln w="12700">
            <a:solidFill>
              <a:srgbClr val="2E7D32"/>
            </a:solidFill>
            <a:prstDash val="solid"/>
          </a:ln>
        </p:spPr>
      </p:sp>
      <p:sp>
        <p:nvSpPr>
          <p:cNvPr id="13" name="Text 11"/>
          <p:cNvSpPr/>
          <p:nvPr/>
        </p:nvSpPr>
        <p:spPr>
          <a:xfrm>
            <a:off x="4754880" y="1143000"/>
            <a:ext cx="3931920" cy="502920"/>
          </a:xfrm>
          <a:prstGeom prst="rect">
            <a:avLst/>
          </a:prstGeom>
          <a:noFill/>
          <a:ln/>
        </p:spPr>
        <p:txBody>
          <a:bodyPr wrap="square" rtlCol="0" anchor="ctr"/>
          <a:lstStyle/>
          <a:p>
            <a:pPr indent="0" marL="0">
              <a:buNone/>
            </a:pPr>
            <a:r>
              <a:rPr lang="en-US" sz="1800" b="1" dirty="0">
                <a:solidFill>
                  <a:srgbClr val="FFFFFF"/>
                </a:solidFill>
              </a:rPr>
              <a:t>loop()</a:t>
            </a:r>
            <a:endParaRPr lang="en-US" sz="1800" dirty="0"/>
          </a:p>
        </p:txBody>
      </p:sp>
      <p:sp>
        <p:nvSpPr>
          <p:cNvPr id="14" name="Text 12"/>
          <p:cNvSpPr/>
          <p:nvPr/>
        </p:nvSpPr>
        <p:spPr>
          <a:xfrm>
            <a:off x="4754880" y="1737360"/>
            <a:ext cx="3840480" cy="2651760"/>
          </a:xfrm>
          <a:prstGeom prst="rect">
            <a:avLst/>
          </a:prstGeom>
          <a:noFill/>
          <a:ln/>
        </p:spPr>
        <p:txBody>
          <a:bodyPr wrap="square" rtlCol="0" anchor="t"/>
          <a:lstStyle/>
          <a:p>
            <a:pPr indent="0" marL="0">
              <a:buNone/>
            </a:pPr>
            <a:r>
              <a:rPr lang="en-US" sz="1300" dirty="0">
                <a:solidFill>
                  <a:srgbClr val="2E7D32"/>
                </a:solidFill>
              </a:rPr>
              <a:t>• Executado CONTINUAMENTE</a:t>
            </a:r>
            <a:endParaRPr lang="en-US" sz="1300" dirty="0"/>
          </a:p>
          <a:p>
            <a:pPr indent="0" marL="0">
              <a:buNone/>
            </a:pPr>
            <a:r>
              <a:rPr lang="en-US" sz="1300" dirty="0">
                <a:solidFill>
                  <a:srgbClr val="2E7D32"/>
                </a:solidFill>
              </a:rPr>
              <a:t>• Repete infinitamente enquanto ligado</a:t>
            </a:r>
            <a:endParaRPr lang="en-US" sz="1300" dirty="0"/>
          </a:p>
          <a:p>
            <a:pPr indent="0" marL="0">
              <a:buNone/>
            </a:pPr>
            <a:r>
              <a:rPr lang="en-US" sz="1300" dirty="0">
                <a:solidFill>
                  <a:srgbClr val="2E7D32"/>
                </a:solidFill>
              </a:rPr>
              <a:t>• Contém a lógica principal do programa</a:t>
            </a:r>
            <a:endParaRPr lang="en-US" sz="1300" dirty="0"/>
          </a:p>
          <a:p>
            <a:pPr indent="0" marL="0">
              <a:buNone/>
            </a:pPr>
            <a:r>
              <a:rPr lang="en-US" sz="1300" dirty="0">
                <a:solidFill>
                  <a:srgbClr val="2E7D32"/>
                </a:solidFill>
              </a:rPr>
              <a:t>• Leitura de sensores</a:t>
            </a:r>
            <a:endParaRPr lang="en-US" sz="1300" dirty="0"/>
          </a:p>
          <a:p>
            <a:pPr indent="0" marL="0">
              <a:buNone/>
            </a:pPr>
            <a:r>
              <a:rPr lang="en-US" sz="1300" dirty="0">
                <a:solidFill>
                  <a:srgbClr val="2E7D32"/>
                </a:solidFill>
              </a:rPr>
              <a:t>• Tomada de decisões</a:t>
            </a:r>
            <a:endParaRPr lang="en-US" sz="1300" dirty="0"/>
          </a:p>
          <a:p>
            <a:pPr indent="0" marL="0">
              <a:buNone/>
            </a:pPr>
            <a:r>
              <a:rPr lang="en-US" sz="1300" dirty="0">
                <a:solidFill>
                  <a:srgbClr val="2E7D32"/>
                </a:solidFill>
              </a:rPr>
              <a:t>• Controle de atuadores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Tipos de Dados em C/Arduino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143000"/>
          <a:ext cx="8595360" cy="3657600"/>
        </p:xfrm>
        <a:graphic>
          <a:graphicData uri="http://schemas.openxmlformats.org/drawingml/2006/table">
            <a:tbl>
              <a:tblPr/>
              <a:tblGrid>
                <a:gridCol w="1280160"/>
                <a:gridCol w="1188720"/>
                <a:gridCol w="2011680"/>
                <a:gridCol w="4114800"/>
              </a:tblGrid>
              <a:tr h="406400">
                <a:tc>
                  <a:txBody>
                    <a:bodyPr/>
                    <a:lstStyle/>
                    <a:p>
                      <a:pPr indent="0" marL="0">
                        <a:buNone/>
                      </a:pPr>
                      <a:r>
                        <a:rPr lang="en-US" sz="1200" b="1" dirty="0">
                          <a:solidFill>
                            <a:srgbClr val="FFFFFF"/>
                          </a:solidFill>
                        </a:rPr>
                        <a:t>Tipo</a:t>
                      </a:r>
                      <a:endParaRPr lang="en-US" sz="12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c>
                  <a:txBody>
                    <a:bodyPr/>
                    <a:lstStyle/>
                    <a:p>
                      <a:pPr indent="0" marL="0">
                        <a:buNone/>
                      </a:pPr>
                      <a:r>
                        <a:rPr lang="en-US" sz="1200" b="1" dirty="0">
                          <a:solidFill>
                            <a:srgbClr val="FFFFFF"/>
                          </a:solidFill>
                        </a:rPr>
                        <a:t>Tamanho</a:t>
                      </a:r>
                      <a:endParaRPr lang="en-US" sz="12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c>
                  <a:txBody>
                    <a:bodyPr/>
                    <a:lstStyle/>
                    <a:p>
                      <a:pPr indent="0" marL="0">
                        <a:buNone/>
                      </a:pPr>
                      <a:r>
                        <a:rPr lang="en-US" sz="1200" b="1" dirty="0">
                          <a:solidFill>
                            <a:srgbClr val="FFFFFF"/>
                          </a:solidFill>
                        </a:rPr>
                        <a:t>Intervalo</a:t>
                      </a:r>
                      <a:endParaRPr lang="en-US" sz="12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c>
                  <a:txBody>
                    <a:bodyPr/>
                    <a:lstStyle/>
                    <a:p>
                      <a:pPr indent="0" marL="0">
                        <a:buNone/>
                      </a:pPr>
                      <a:r>
                        <a:rPr lang="en-US" sz="1200" b="1" dirty="0">
                          <a:solidFill>
                            <a:srgbClr val="FFFFFF"/>
                          </a:solidFill>
                        </a:rPr>
                        <a:t>Exemplo</a:t>
                      </a:r>
                      <a:endParaRPr lang="en-US" sz="12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r>
              <a:tr h="406400">
                <a:tc>
                  <a:txBody>
                    <a:bodyPr/>
                    <a:lstStyle/>
                    <a:p>
                      <a:pPr indent="0" marL="0">
                        <a:buNone/>
                      </a:pPr>
                      <a:r>
                        <a:rPr lang="en-US" sz="1100" dirty="0">
                          <a:solidFill>
                            <a:srgbClr val="1565C0"/>
                          </a:solidFill>
                        </a:rPr>
                        <a:t>bool</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1 byte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true / false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bool ativo = true;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406400">
                <a:tc>
                  <a:txBody>
                    <a:bodyPr/>
                    <a:lstStyle/>
                    <a:p>
                      <a:pPr indent="0" marL="0">
                        <a:buNone/>
                      </a:pPr>
                      <a:r>
                        <a:rPr lang="en-US" sz="1100" dirty="0">
                          <a:solidFill>
                            <a:srgbClr val="1565C0"/>
                          </a:solidFill>
                        </a:rPr>
                        <a:t>byte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1 byte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0 a 255</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byte led = 13;</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406400">
                <a:tc>
                  <a:txBody>
                    <a:bodyPr/>
                    <a:lstStyle/>
                    <a:p>
                      <a:pPr indent="0" marL="0">
                        <a:buNone/>
                      </a:pPr>
                      <a:r>
                        <a:rPr lang="en-US" sz="1100" dirty="0">
                          <a:solidFill>
                            <a:srgbClr val="1565C0"/>
                          </a:solidFill>
                        </a:rPr>
                        <a:t>int</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2 bytes</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-32768 a 32767</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int temp = -10;</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406400">
                <a:tc>
                  <a:txBody>
                    <a:bodyPr/>
                    <a:lstStyle/>
                    <a:p>
                      <a:pPr indent="0" marL="0">
                        <a:buNone/>
                      </a:pPr>
                      <a:r>
                        <a:rPr lang="en-US" sz="1100" dirty="0">
                          <a:solidFill>
                            <a:srgbClr val="1565C0"/>
                          </a:solidFill>
                        </a:rPr>
                        <a:t>unsigned int</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2 bytes</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0 a 65535</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unsigned int cnt = 0;</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406400">
                <a:tc>
                  <a:txBody>
                    <a:bodyPr/>
                    <a:lstStyle/>
                    <a:p>
                      <a:pPr indent="0" marL="0">
                        <a:buNone/>
                      </a:pPr>
                      <a:r>
                        <a:rPr lang="en-US" sz="1100" dirty="0">
                          <a:solidFill>
                            <a:srgbClr val="1565C0"/>
                          </a:solidFill>
                        </a:rPr>
                        <a:t>long</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4 bytes</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±2.147 bilhões</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long dist = 100000;</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406400">
                <a:tc>
                  <a:txBody>
                    <a:bodyPr/>
                    <a:lstStyle/>
                    <a:p>
                      <a:pPr indent="0" marL="0">
                        <a:buNone/>
                      </a:pPr>
                      <a:r>
                        <a:rPr lang="en-US" sz="1100" dirty="0">
                          <a:solidFill>
                            <a:srgbClr val="1565C0"/>
                          </a:solidFill>
                        </a:rPr>
                        <a:t>float</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4 bytes</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3.4028235E+38</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float volt = 3.14;</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406400">
                <a:tc>
                  <a:txBody>
                    <a:bodyPr/>
                    <a:lstStyle/>
                    <a:p>
                      <a:pPr indent="0" marL="0">
                        <a:buNone/>
                      </a:pPr>
                      <a:r>
                        <a:rPr lang="en-US" sz="1100" dirty="0">
                          <a:solidFill>
                            <a:srgbClr val="1565C0"/>
                          </a:solidFill>
                        </a:rPr>
                        <a:t>char</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1 byte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-128 a 127</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100" dirty="0">
                          <a:solidFill>
                            <a:srgbClr val="1565C0"/>
                          </a:solidFill>
                        </a:rPr>
                        <a:t>char letra = 'A';</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406400">
                <a:tc>
                  <a:txBody>
                    <a:bodyPr/>
                    <a:lstStyle/>
                    <a:p>
                      <a:pPr indent="0" marL="0">
                        <a:buNone/>
                      </a:pPr>
                      <a:r>
                        <a:rPr lang="en-US" sz="1100" dirty="0">
                          <a:solidFill>
                            <a:srgbClr val="1565C0"/>
                          </a:solidFill>
                        </a:rPr>
                        <a:t>String</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variável</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texto</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100" dirty="0">
                          <a:solidFill>
                            <a:srgbClr val="1565C0"/>
                          </a:solidFill>
                        </a:rPr>
                        <a:t>String nome = "Oi";</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Declaração de Variáveis</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3520440"/>
          </a:xfrm>
          <a:prstGeom prst="rect">
            <a:avLst/>
          </a:prstGeom>
          <a:solidFill>
            <a:srgbClr val="1E1E1E"/>
          </a:solidFill>
          <a:ln w="12700">
            <a:solidFill>
              <a:srgbClr val="333333"/>
            </a:solidFill>
            <a:prstDash val="solid"/>
          </a:ln>
        </p:spPr>
      </p:sp>
      <p:sp>
        <p:nvSpPr>
          <p:cNvPr id="8" name="Text 6"/>
          <p:cNvSpPr/>
          <p:nvPr/>
        </p:nvSpPr>
        <p:spPr>
          <a:xfrm>
            <a:off x="548640" y="1234440"/>
            <a:ext cx="8138160" cy="3337560"/>
          </a:xfrm>
          <a:prstGeom prst="rect">
            <a:avLst/>
          </a:prstGeom>
          <a:noFill/>
          <a:ln/>
        </p:spPr>
        <p:txBody>
          <a:bodyPr wrap="square" rtlCol="0" anchor="t"/>
          <a:lstStyle/>
          <a:p>
            <a:pPr indent="0" marL="0">
              <a:buNone/>
            </a:pPr>
            <a:r>
              <a:rPr lang="en-US" sz="1300" dirty="0">
                <a:solidFill>
                  <a:srgbClr val="6A9955"/>
                </a:solidFill>
                <a:latin typeface="Consolas" pitchFamily="34" charset="0"/>
                <a:ea typeface="Consolas" pitchFamily="34" charset="-122"/>
                <a:cs typeface="Consolas" pitchFamily="34" charset="-120"/>
              </a:rPr>
              <a:t>// Declaração e inicialização de variáveis
</a:t>
            </a:r>
            <a:pPr indent="0" marL="0">
              <a:buNone/>
            </a:pPr>
            <a:r>
              <a:rPr lang="en-US" sz="1300" dirty="0">
                <a:solidFill>
                  <a:srgbClr val="4EC9B0"/>
                </a:solidFill>
                <a:latin typeface="Consolas" pitchFamily="34" charset="0"/>
                <a:ea typeface="Consolas" pitchFamily="34" charset="-122"/>
                <a:cs typeface="Consolas" pitchFamily="34" charset="-120"/>
              </a:rPr>
              <a:t>int </a:t>
            </a:r>
            <a:pPr indent="0" marL="0">
              <a:buNone/>
            </a:pPr>
            <a:r>
              <a:rPr lang="en-US" sz="1300" dirty="0">
                <a:solidFill>
                  <a:srgbClr val="D4D4D4"/>
                </a:solidFill>
                <a:latin typeface="Consolas" pitchFamily="34" charset="0"/>
                <a:ea typeface="Consolas" pitchFamily="34" charset="-122"/>
                <a:cs typeface="Consolas" pitchFamily="34" charset="-120"/>
              </a:rPr>
              <a:t>pinoLED = 13;          </a:t>
            </a:r>
            <a:pPr indent="0" marL="0">
              <a:buNone/>
            </a:pPr>
            <a:r>
              <a:rPr lang="en-US" sz="1300" dirty="0">
                <a:solidFill>
                  <a:srgbClr val="6A9955"/>
                </a:solidFill>
                <a:latin typeface="Consolas" pitchFamily="34" charset="0"/>
                <a:ea typeface="Consolas" pitchFamily="34" charset="-122"/>
                <a:cs typeface="Consolas" pitchFamily="34" charset="-120"/>
              </a:rPr>
              <a:t>// inteiro
</a:t>
            </a:r>
            <a:pPr indent="0" marL="0">
              <a:buNone/>
            </a:pPr>
            <a:r>
              <a:rPr lang="en-US" sz="1300" dirty="0">
                <a:solidFill>
                  <a:srgbClr val="4EC9B0"/>
                </a:solidFill>
                <a:latin typeface="Consolas" pitchFamily="34" charset="0"/>
                <a:ea typeface="Consolas" pitchFamily="34" charset="-122"/>
                <a:cs typeface="Consolas" pitchFamily="34" charset="-120"/>
              </a:rPr>
              <a:t>float </a:t>
            </a:r>
            <a:pPr indent="0" marL="0">
              <a:buNone/>
            </a:pPr>
            <a:r>
              <a:rPr lang="en-US" sz="1300" dirty="0">
                <a:solidFill>
                  <a:srgbClr val="D4D4D4"/>
                </a:solidFill>
                <a:latin typeface="Consolas" pitchFamily="34" charset="0"/>
                <a:ea typeface="Consolas" pitchFamily="34" charset="-122"/>
                <a:cs typeface="Consolas" pitchFamily="34" charset="-120"/>
              </a:rPr>
              <a:t>temperatura = 25.5;   </a:t>
            </a:r>
            <a:pPr indent="0" marL="0">
              <a:buNone/>
            </a:pPr>
            <a:r>
              <a:rPr lang="en-US" sz="1300" dirty="0">
                <a:solidFill>
                  <a:srgbClr val="6A9955"/>
                </a:solidFill>
                <a:latin typeface="Consolas" pitchFamily="34" charset="0"/>
                <a:ea typeface="Consolas" pitchFamily="34" charset="-122"/>
                <a:cs typeface="Consolas" pitchFamily="34" charset="-120"/>
              </a:rPr>
              <a:t>// ponto flutuante
</a:t>
            </a:r>
            <a:pPr indent="0" marL="0">
              <a:buNone/>
            </a:pPr>
            <a:r>
              <a:rPr lang="en-US" sz="1300" dirty="0">
                <a:solidFill>
                  <a:srgbClr val="4EC9B0"/>
                </a:solidFill>
                <a:latin typeface="Consolas" pitchFamily="34" charset="0"/>
                <a:ea typeface="Consolas" pitchFamily="34" charset="-122"/>
                <a:cs typeface="Consolas" pitchFamily="34" charset="-120"/>
              </a:rPr>
              <a:t>bool </a:t>
            </a:r>
            <a:pPr indent="0" marL="0">
              <a:buNone/>
            </a:pPr>
            <a:r>
              <a:rPr lang="en-US" sz="1300" dirty="0">
                <a:solidFill>
                  <a:srgbClr val="D4D4D4"/>
                </a:solidFill>
                <a:latin typeface="Consolas" pitchFamily="34" charset="0"/>
                <a:ea typeface="Consolas" pitchFamily="34" charset="-122"/>
                <a:cs typeface="Consolas" pitchFamily="34" charset="-120"/>
              </a:rPr>
              <a:t>estadoLED = </a:t>
            </a:r>
            <a:pPr indent="0" marL="0">
              <a:buNone/>
            </a:pPr>
            <a:r>
              <a:rPr lang="en-US" sz="1300" dirty="0">
                <a:solidFill>
                  <a:srgbClr val="569CD6"/>
                </a:solidFill>
                <a:latin typeface="Consolas" pitchFamily="34" charset="0"/>
                <a:ea typeface="Consolas" pitchFamily="34" charset="-122"/>
                <a:cs typeface="Consolas" pitchFamily="34" charset="-120"/>
              </a:rPr>
              <a:t>false</a:t>
            </a:r>
            <a:pPr indent="0" marL="0">
              <a:buNone/>
            </a:pPr>
            <a:r>
              <a:rPr lang="en-US" sz="1300" dirty="0">
                <a:solidFill>
                  <a:srgbClr val="D4D4D4"/>
                </a:solidFill>
                <a:latin typeface="Consolas" pitchFamily="34" charset="0"/>
                <a:ea typeface="Consolas" pitchFamily="34" charset="-122"/>
                <a:cs typeface="Consolas" pitchFamily="34" charset="-120"/>
              </a:rPr>
              <a:t>;      </a:t>
            </a:r>
            <a:pPr indent="0" marL="0">
              <a:buNone/>
            </a:pPr>
            <a:r>
              <a:rPr lang="en-US" sz="1300" dirty="0">
                <a:solidFill>
                  <a:srgbClr val="6A9955"/>
                </a:solidFill>
                <a:latin typeface="Consolas" pitchFamily="34" charset="0"/>
                <a:ea typeface="Consolas" pitchFamily="34" charset="-122"/>
                <a:cs typeface="Consolas" pitchFamily="34" charset="-120"/>
              </a:rPr>
              <a:t>// booleano
</a:t>
            </a:r>
            <a:pPr indent="0" marL="0">
              <a:buNone/>
            </a:pPr>
            <a:r>
              <a:rPr lang="en-US" sz="1300" dirty="0">
                <a:solidFill>
                  <a:srgbClr val="4EC9B0"/>
                </a:solidFill>
                <a:latin typeface="Consolas" pitchFamily="34" charset="0"/>
                <a:ea typeface="Consolas" pitchFamily="34" charset="-122"/>
                <a:cs typeface="Consolas" pitchFamily="34" charset="-120"/>
              </a:rPr>
              <a:t>char </a:t>
            </a:r>
            <a:pPr indent="0" marL="0">
              <a:buNone/>
            </a:pPr>
            <a:r>
              <a:rPr lang="en-US" sz="1300" dirty="0">
                <a:solidFill>
                  <a:srgbClr val="D4D4D4"/>
                </a:solidFill>
                <a:latin typeface="Consolas" pitchFamily="34" charset="0"/>
                <a:ea typeface="Consolas" pitchFamily="34" charset="-122"/>
                <a:cs typeface="Consolas" pitchFamily="34" charset="-120"/>
              </a:rPr>
              <a:t>letra = </a:t>
            </a:r>
            <a:pPr indent="0" marL="0">
              <a:buNone/>
            </a:pPr>
            <a:r>
              <a:rPr lang="en-US" sz="1300" dirty="0">
                <a:solidFill>
                  <a:srgbClr val="CE9178"/>
                </a:solidFill>
                <a:latin typeface="Consolas" pitchFamily="34" charset="0"/>
                <a:ea typeface="Consolas" pitchFamily="34" charset="-122"/>
                <a:cs typeface="Consolas" pitchFamily="34" charset="-120"/>
              </a:rPr>
              <a:t>'A'</a:t>
            </a:r>
            <a:pPr indent="0" marL="0">
              <a:buNone/>
            </a:pPr>
            <a:r>
              <a:rPr lang="en-US" sz="1300" dirty="0">
                <a:solidFill>
                  <a:srgbClr val="D4D4D4"/>
                </a:solidFill>
                <a:latin typeface="Consolas" pitchFamily="34" charset="0"/>
                <a:ea typeface="Consolas" pitchFamily="34" charset="-122"/>
                <a:cs typeface="Consolas" pitchFamily="34" charset="-120"/>
              </a:rPr>
              <a:t>;             </a:t>
            </a:r>
            <a:pPr indent="0" marL="0">
              <a:buNone/>
            </a:pPr>
            <a:r>
              <a:rPr lang="en-US" sz="1300" dirty="0">
                <a:solidFill>
                  <a:srgbClr val="6A9955"/>
                </a:solidFill>
                <a:latin typeface="Consolas" pitchFamily="34" charset="0"/>
                <a:ea typeface="Consolas" pitchFamily="34" charset="-122"/>
                <a:cs typeface="Consolas" pitchFamily="34" charset="-120"/>
              </a:rPr>
              <a:t>// caractere
</a:t>
            </a:r>
            <a:pPr indent="0" marL="0">
              <a:buNone/>
            </a:pPr>
            <a:r>
              <a:rPr lang="en-US" sz="1300" dirty="0">
                <a:solidFill>
                  <a:srgbClr val="4EC9B0"/>
                </a:solidFill>
                <a:latin typeface="Consolas" pitchFamily="34" charset="0"/>
                <a:ea typeface="Consolas" pitchFamily="34" charset="-122"/>
                <a:cs typeface="Consolas" pitchFamily="34" charset="-120"/>
              </a:rPr>
              <a:t>String </a:t>
            </a:r>
            <a:pPr indent="0" marL="0">
              <a:buNone/>
            </a:pPr>
            <a:r>
              <a:rPr lang="en-US" sz="1300" dirty="0">
                <a:solidFill>
                  <a:srgbClr val="D4D4D4"/>
                </a:solidFill>
                <a:latin typeface="Consolas" pitchFamily="34" charset="0"/>
                <a:ea typeface="Consolas" pitchFamily="34" charset="-122"/>
                <a:cs typeface="Consolas" pitchFamily="34" charset="-120"/>
              </a:rPr>
              <a:t>nome = </a:t>
            </a:r>
            <a:pPr indent="0" marL="0">
              <a:buNone/>
            </a:pPr>
            <a:r>
              <a:rPr lang="en-US" sz="1300" dirty="0">
                <a:solidFill>
                  <a:srgbClr val="CE9178"/>
                </a:solidFill>
                <a:latin typeface="Consolas" pitchFamily="34" charset="0"/>
                <a:ea typeface="Consolas" pitchFamily="34" charset="-122"/>
                <a:cs typeface="Consolas" pitchFamily="34" charset="-120"/>
              </a:rPr>
              <a:t>"Arduino"</a:t>
            </a:r>
            <a:pPr indent="0" marL="0">
              <a:buNone/>
            </a:pPr>
            <a:r>
              <a:rPr lang="en-US" sz="1300" dirty="0">
                <a:solidFill>
                  <a:srgbClr val="D4D4D4"/>
                </a:solidFill>
                <a:latin typeface="Consolas" pitchFamily="34" charset="0"/>
                <a:ea typeface="Consolas" pitchFamily="34" charset="-122"/>
                <a:cs typeface="Consolas" pitchFamily="34" charset="-120"/>
              </a:rPr>
              <a:t>;      </a:t>
            </a:r>
            <a:pPr indent="0" marL="0">
              <a:buNone/>
            </a:pPr>
            <a:r>
              <a:rPr lang="en-US" sz="1300" dirty="0">
                <a:solidFill>
                  <a:srgbClr val="6A9955"/>
                </a:solidFill>
                <a:latin typeface="Consolas" pitchFamily="34" charset="0"/>
                <a:ea typeface="Consolas" pitchFamily="34" charset="-122"/>
                <a:cs typeface="Consolas" pitchFamily="34" charset="-120"/>
              </a:rPr>
              <a:t>// texto
</a:t>
            </a:r>
            <a:pPr indent="0" marL="0">
              <a:buNone/>
            </a:pPr>
            <a:r>
              <a:rPr lang="en-US" sz="1300" dirty="0">
                <a:solidFill>
                  <a:srgbClr val="4EC9B0"/>
                </a:solidFill>
                <a:latin typeface="Consolas" pitchFamily="34" charset="0"/>
                <a:ea typeface="Consolas" pitchFamily="34" charset="-122"/>
                <a:cs typeface="Consolas" pitchFamily="34" charset="-120"/>
              </a:rPr>
              <a:t>const int </a:t>
            </a:r>
            <a:pPr indent="0" marL="0">
              <a:buNone/>
            </a:pPr>
            <a:r>
              <a:rPr lang="en-US" sz="1300" dirty="0">
                <a:solidFill>
                  <a:srgbClr val="D4D4D4"/>
                </a:solidFill>
                <a:latin typeface="Consolas" pitchFamily="34" charset="0"/>
                <a:ea typeface="Consolas" pitchFamily="34" charset="-122"/>
                <a:cs typeface="Consolas" pitchFamily="34" charset="-120"/>
              </a:rPr>
              <a:t>BAUD = 9600;  </a:t>
            </a:r>
            <a:pPr indent="0" marL="0">
              <a:buNone/>
            </a:pPr>
            <a:r>
              <a:rPr lang="en-US" sz="1300" dirty="0">
                <a:solidFill>
                  <a:srgbClr val="6A9955"/>
                </a:solidFill>
                <a:latin typeface="Consolas" pitchFamily="34" charset="0"/>
                <a:ea typeface="Consolas" pitchFamily="34" charset="-122"/>
                <a:cs typeface="Consolas" pitchFamily="34" charset="-120"/>
              </a:rPr>
              <a:t>// constante (não muda)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Operadores em C/C++</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88720"/>
            <a:ext cx="4114800" cy="1737360"/>
          </a:xfrm>
          <a:prstGeom prst="rect">
            <a:avLst/>
          </a:prstGeom>
          <a:solidFill>
            <a:srgbClr val="E3F2FD"/>
          </a:solidFill>
          <a:ln w="12700">
            <a:solidFill>
              <a:srgbClr val="0D47A1"/>
            </a:solidFill>
            <a:prstDash val="solid"/>
          </a:ln>
        </p:spPr>
      </p:sp>
      <p:sp>
        <p:nvSpPr>
          <p:cNvPr id="8" name="Shape 6"/>
          <p:cNvSpPr/>
          <p:nvPr/>
        </p:nvSpPr>
        <p:spPr>
          <a:xfrm>
            <a:off x="365760" y="1188720"/>
            <a:ext cx="4114800" cy="411480"/>
          </a:xfrm>
          <a:prstGeom prst="rect">
            <a:avLst/>
          </a:prstGeom>
          <a:solidFill>
            <a:srgbClr val="0D47A1"/>
          </a:solidFill>
          <a:ln w="12700">
            <a:solidFill>
              <a:srgbClr val="0D47A1"/>
            </a:solidFill>
            <a:prstDash val="solid"/>
          </a:ln>
        </p:spPr>
      </p:sp>
      <p:sp>
        <p:nvSpPr>
          <p:cNvPr id="9" name="Text 7"/>
          <p:cNvSpPr/>
          <p:nvPr/>
        </p:nvSpPr>
        <p:spPr>
          <a:xfrm>
            <a:off x="457200" y="1188720"/>
            <a:ext cx="3931920" cy="411480"/>
          </a:xfrm>
          <a:prstGeom prst="rect">
            <a:avLst/>
          </a:prstGeom>
          <a:noFill/>
          <a:ln/>
        </p:spPr>
        <p:txBody>
          <a:bodyPr wrap="square" rtlCol="0" anchor="ctr"/>
          <a:lstStyle/>
          <a:p>
            <a:pPr indent="0" marL="0">
              <a:buNone/>
            </a:pPr>
            <a:r>
              <a:rPr lang="en-US" sz="1300" b="1" dirty="0">
                <a:solidFill>
                  <a:srgbClr val="FFFFFF"/>
                </a:solidFill>
              </a:rPr>
              <a:t>Aritméticos</a:t>
            </a:r>
            <a:endParaRPr lang="en-US" sz="1300" dirty="0"/>
          </a:p>
        </p:txBody>
      </p:sp>
      <p:sp>
        <p:nvSpPr>
          <p:cNvPr id="10" name="Text 8"/>
          <p:cNvSpPr/>
          <p:nvPr/>
        </p:nvSpPr>
        <p:spPr>
          <a:xfrm>
            <a:off x="502920" y="1645920"/>
            <a:ext cx="3840480" cy="1188720"/>
          </a:xfrm>
          <a:prstGeom prst="rect">
            <a:avLst/>
          </a:prstGeom>
          <a:noFill/>
          <a:ln/>
        </p:spPr>
        <p:txBody>
          <a:bodyPr wrap="square" rtlCol="0" anchor="t"/>
          <a:lstStyle/>
          <a:p>
            <a:pPr indent="0" marL="0">
              <a:buNone/>
            </a:pPr>
            <a:r>
              <a:rPr lang="en-US" sz="1100" dirty="0">
                <a:solidFill>
                  <a:srgbClr val="0D47A1"/>
                </a:solidFill>
                <a:latin typeface="Consolas" pitchFamily="34" charset="0"/>
                <a:ea typeface="Consolas" pitchFamily="34" charset="-122"/>
                <a:cs typeface="Consolas" pitchFamily="34" charset="-120"/>
              </a:rPr>
              <a:t>+ Adição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Subtração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Multiplicação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Divisão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Módulo</a:t>
            </a:r>
            <a:endParaRPr lang="en-US" sz="1100" dirty="0"/>
          </a:p>
        </p:txBody>
      </p:sp>
      <p:sp>
        <p:nvSpPr>
          <p:cNvPr id="11" name="Shape 9"/>
          <p:cNvSpPr/>
          <p:nvPr/>
        </p:nvSpPr>
        <p:spPr>
          <a:xfrm>
            <a:off x="4754880" y="1188720"/>
            <a:ext cx="4114800" cy="1737360"/>
          </a:xfrm>
          <a:prstGeom prst="rect">
            <a:avLst/>
          </a:prstGeom>
          <a:solidFill>
            <a:srgbClr val="E3F2FD"/>
          </a:solidFill>
          <a:ln w="12700">
            <a:solidFill>
              <a:srgbClr val="1976D2"/>
            </a:solidFill>
            <a:prstDash val="solid"/>
          </a:ln>
        </p:spPr>
      </p:sp>
      <p:sp>
        <p:nvSpPr>
          <p:cNvPr id="12" name="Shape 10"/>
          <p:cNvSpPr/>
          <p:nvPr/>
        </p:nvSpPr>
        <p:spPr>
          <a:xfrm>
            <a:off x="4754880" y="1188720"/>
            <a:ext cx="4114800" cy="411480"/>
          </a:xfrm>
          <a:prstGeom prst="rect">
            <a:avLst/>
          </a:prstGeom>
          <a:solidFill>
            <a:srgbClr val="1976D2"/>
          </a:solidFill>
          <a:ln w="12700">
            <a:solidFill>
              <a:srgbClr val="1976D2"/>
            </a:solidFill>
            <a:prstDash val="solid"/>
          </a:ln>
        </p:spPr>
      </p:sp>
      <p:sp>
        <p:nvSpPr>
          <p:cNvPr id="13" name="Text 11"/>
          <p:cNvSpPr/>
          <p:nvPr/>
        </p:nvSpPr>
        <p:spPr>
          <a:xfrm>
            <a:off x="4846320" y="1188720"/>
            <a:ext cx="3931920" cy="411480"/>
          </a:xfrm>
          <a:prstGeom prst="rect">
            <a:avLst/>
          </a:prstGeom>
          <a:noFill/>
          <a:ln/>
        </p:spPr>
        <p:txBody>
          <a:bodyPr wrap="square" rtlCol="0" anchor="ctr"/>
          <a:lstStyle/>
          <a:p>
            <a:pPr indent="0" marL="0">
              <a:buNone/>
            </a:pPr>
            <a:r>
              <a:rPr lang="en-US" sz="1300" b="1" dirty="0">
                <a:solidFill>
                  <a:srgbClr val="FFFFFF"/>
                </a:solidFill>
              </a:rPr>
              <a:t>Relacionais</a:t>
            </a:r>
            <a:endParaRPr lang="en-US" sz="1300" dirty="0"/>
          </a:p>
        </p:txBody>
      </p:sp>
      <p:sp>
        <p:nvSpPr>
          <p:cNvPr id="14" name="Text 12"/>
          <p:cNvSpPr/>
          <p:nvPr/>
        </p:nvSpPr>
        <p:spPr>
          <a:xfrm>
            <a:off x="4892040" y="1645920"/>
            <a:ext cx="3840480" cy="1188720"/>
          </a:xfrm>
          <a:prstGeom prst="rect">
            <a:avLst/>
          </a:prstGeom>
          <a:noFill/>
          <a:ln/>
        </p:spPr>
        <p:txBody>
          <a:bodyPr wrap="square" rtlCol="0" anchor="t"/>
          <a:lstStyle/>
          <a:p>
            <a:pPr indent="0" marL="0">
              <a:buNone/>
            </a:pPr>
            <a:r>
              <a:rPr lang="en-US" sz="1100" dirty="0">
                <a:solidFill>
                  <a:srgbClr val="0D47A1"/>
                </a:solidFill>
                <a:latin typeface="Consolas" pitchFamily="34" charset="0"/>
                <a:ea typeface="Consolas" pitchFamily="34" charset="-122"/>
                <a:cs typeface="Consolas" pitchFamily="34" charset="-120"/>
              </a:rPr>
              <a:t>== Igual a</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Diferente</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&gt; Maior que</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&lt; Menor que</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&gt;= Maior/igual</a:t>
            </a:r>
            <a:endParaRPr lang="en-US" sz="1100" dirty="0"/>
          </a:p>
        </p:txBody>
      </p:sp>
      <p:sp>
        <p:nvSpPr>
          <p:cNvPr id="15" name="Shape 13"/>
          <p:cNvSpPr/>
          <p:nvPr/>
        </p:nvSpPr>
        <p:spPr>
          <a:xfrm>
            <a:off x="365760" y="3108960"/>
            <a:ext cx="4114800" cy="1737360"/>
          </a:xfrm>
          <a:prstGeom prst="rect">
            <a:avLst/>
          </a:prstGeom>
          <a:solidFill>
            <a:srgbClr val="E3F2FD"/>
          </a:solidFill>
          <a:ln w="12700">
            <a:solidFill>
              <a:srgbClr val="2196F3"/>
            </a:solidFill>
            <a:prstDash val="solid"/>
          </a:ln>
        </p:spPr>
      </p:sp>
      <p:sp>
        <p:nvSpPr>
          <p:cNvPr id="16" name="Shape 14"/>
          <p:cNvSpPr/>
          <p:nvPr/>
        </p:nvSpPr>
        <p:spPr>
          <a:xfrm>
            <a:off x="365760" y="3108960"/>
            <a:ext cx="4114800" cy="411480"/>
          </a:xfrm>
          <a:prstGeom prst="rect">
            <a:avLst/>
          </a:prstGeom>
          <a:solidFill>
            <a:srgbClr val="2196F3"/>
          </a:solidFill>
          <a:ln w="12700">
            <a:solidFill>
              <a:srgbClr val="2196F3"/>
            </a:solidFill>
            <a:prstDash val="solid"/>
          </a:ln>
        </p:spPr>
      </p:sp>
      <p:sp>
        <p:nvSpPr>
          <p:cNvPr id="17" name="Text 15"/>
          <p:cNvSpPr/>
          <p:nvPr/>
        </p:nvSpPr>
        <p:spPr>
          <a:xfrm>
            <a:off x="457200" y="3108960"/>
            <a:ext cx="3931920" cy="411480"/>
          </a:xfrm>
          <a:prstGeom prst="rect">
            <a:avLst/>
          </a:prstGeom>
          <a:noFill/>
          <a:ln/>
        </p:spPr>
        <p:txBody>
          <a:bodyPr wrap="square" rtlCol="0" anchor="ctr"/>
          <a:lstStyle/>
          <a:p>
            <a:pPr indent="0" marL="0">
              <a:buNone/>
            </a:pPr>
            <a:r>
              <a:rPr lang="en-US" sz="1300" b="1" dirty="0">
                <a:solidFill>
                  <a:srgbClr val="FFFFFF"/>
                </a:solidFill>
              </a:rPr>
              <a:t>Lógicos</a:t>
            </a:r>
            <a:endParaRPr lang="en-US" sz="1300" dirty="0"/>
          </a:p>
        </p:txBody>
      </p:sp>
      <p:sp>
        <p:nvSpPr>
          <p:cNvPr id="18" name="Text 16"/>
          <p:cNvSpPr/>
          <p:nvPr/>
        </p:nvSpPr>
        <p:spPr>
          <a:xfrm>
            <a:off x="502920" y="3566160"/>
            <a:ext cx="3840480" cy="1188720"/>
          </a:xfrm>
          <a:prstGeom prst="rect">
            <a:avLst/>
          </a:prstGeom>
          <a:noFill/>
          <a:ln/>
        </p:spPr>
        <p:txBody>
          <a:bodyPr wrap="square" rtlCol="0" anchor="t"/>
          <a:lstStyle/>
          <a:p>
            <a:pPr indent="0" marL="0">
              <a:buNone/>
            </a:pPr>
            <a:r>
              <a:rPr lang="en-US" sz="1100" dirty="0">
                <a:solidFill>
                  <a:srgbClr val="0D47A1"/>
                </a:solidFill>
                <a:latin typeface="Consolas" pitchFamily="34" charset="0"/>
                <a:ea typeface="Consolas" pitchFamily="34" charset="-122"/>
                <a:cs typeface="Consolas" pitchFamily="34" charset="-120"/>
              </a:rPr>
              <a:t>&amp;&amp; E lógico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OU lógico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NÃO lógico</a:t>
            </a:r>
            <a:endParaRPr lang="en-US" sz="1100" dirty="0"/>
          </a:p>
        </p:txBody>
      </p:sp>
      <p:sp>
        <p:nvSpPr>
          <p:cNvPr id="19" name="Shape 17"/>
          <p:cNvSpPr/>
          <p:nvPr/>
        </p:nvSpPr>
        <p:spPr>
          <a:xfrm>
            <a:off x="4754880" y="3108960"/>
            <a:ext cx="4114800" cy="1737360"/>
          </a:xfrm>
          <a:prstGeom prst="rect">
            <a:avLst/>
          </a:prstGeom>
          <a:solidFill>
            <a:srgbClr val="E3F2FD"/>
          </a:solidFill>
          <a:ln w="12700">
            <a:solidFill>
              <a:srgbClr val="0288D1"/>
            </a:solidFill>
            <a:prstDash val="solid"/>
          </a:ln>
        </p:spPr>
      </p:sp>
      <p:sp>
        <p:nvSpPr>
          <p:cNvPr id="20" name="Shape 18"/>
          <p:cNvSpPr/>
          <p:nvPr/>
        </p:nvSpPr>
        <p:spPr>
          <a:xfrm>
            <a:off x="4754880" y="3108960"/>
            <a:ext cx="4114800" cy="411480"/>
          </a:xfrm>
          <a:prstGeom prst="rect">
            <a:avLst/>
          </a:prstGeom>
          <a:solidFill>
            <a:srgbClr val="0288D1"/>
          </a:solidFill>
          <a:ln w="12700">
            <a:solidFill>
              <a:srgbClr val="0288D1"/>
            </a:solidFill>
            <a:prstDash val="solid"/>
          </a:ln>
        </p:spPr>
      </p:sp>
      <p:sp>
        <p:nvSpPr>
          <p:cNvPr id="21" name="Text 19"/>
          <p:cNvSpPr/>
          <p:nvPr/>
        </p:nvSpPr>
        <p:spPr>
          <a:xfrm>
            <a:off x="4846320" y="3108960"/>
            <a:ext cx="3931920" cy="411480"/>
          </a:xfrm>
          <a:prstGeom prst="rect">
            <a:avLst/>
          </a:prstGeom>
          <a:noFill/>
          <a:ln/>
        </p:spPr>
        <p:txBody>
          <a:bodyPr wrap="square" rtlCol="0" anchor="ctr"/>
          <a:lstStyle/>
          <a:p>
            <a:pPr indent="0" marL="0">
              <a:buNone/>
            </a:pPr>
            <a:r>
              <a:rPr lang="en-US" sz="1300" b="1" dirty="0">
                <a:solidFill>
                  <a:srgbClr val="FFFFFF"/>
                </a:solidFill>
              </a:rPr>
              <a:t>Atribuição</a:t>
            </a:r>
            <a:endParaRPr lang="en-US" sz="1300" dirty="0"/>
          </a:p>
        </p:txBody>
      </p:sp>
      <p:sp>
        <p:nvSpPr>
          <p:cNvPr id="22" name="Text 20"/>
          <p:cNvSpPr/>
          <p:nvPr/>
        </p:nvSpPr>
        <p:spPr>
          <a:xfrm>
            <a:off x="4892040" y="3566160"/>
            <a:ext cx="3840480" cy="1188720"/>
          </a:xfrm>
          <a:prstGeom prst="rect">
            <a:avLst/>
          </a:prstGeom>
          <a:noFill/>
          <a:ln/>
        </p:spPr>
        <p:txBody>
          <a:bodyPr wrap="square" rtlCol="0" anchor="t"/>
          <a:lstStyle/>
          <a:p>
            <a:pPr indent="0" marL="0">
              <a:buNone/>
            </a:pPr>
            <a:r>
              <a:rPr lang="en-US" sz="1100" dirty="0">
                <a:solidFill>
                  <a:srgbClr val="0D47A1"/>
                </a:solidFill>
                <a:latin typeface="Consolas" pitchFamily="34" charset="0"/>
                <a:ea typeface="Consolas" pitchFamily="34" charset="-122"/>
                <a:cs typeface="Consolas" pitchFamily="34" charset="-120"/>
              </a:rPr>
              <a:t>= Atribui</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Soma e atribui</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Subtrai e atribui</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Incremento</a:t>
            </a:r>
            <a:endParaRPr lang="en-US" sz="1100" dirty="0"/>
          </a:p>
          <a:p>
            <a:pPr indent="0" marL="0">
              <a:buNone/>
            </a:pPr>
            <a:r>
              <a:rPr lang="en-US" sz="1100" dirty="0">
                <a:solidFill>
                  <a:srgbClr val="0D47A1"/>
                </a:solidFill>
                <a:latin typeface="Consolas" pitchFamily="34" charset="0"/>
                <a:ea typeface="Consolas" pitchFamily="34" charset="-122"/>
                <a:cs typeface="Consolas" pitchFamily="34" charset="-120"/>
              </a:rPr>
              <a:t>-- Decremento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Controle de Fluxo — if / else</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3520440"/>
          </a:xfrm>
          <a:prstGeom prst="rect">
            <a:avLst/>
          </a:prstGeom>
          <a:solidFill>
            <a:srgbClr val="1E1E1E"/>
          </a:solidFill>
          <a:ln w="12700">
            <a:solidFill>
              <a:srgbClr val="333333"/>
            </a:solidFill>
            <a:prstDash val="solid"/>
          </a:ln>
        </p:spPr>
      </p:sp>
      <p:sp>
        <p:nvSpPr>
          <p:cNvPr id="8" name="Text 6"/>
          <p:cNvSpPr/>
          <p:nvPr/>
        </p:nvSpPr>
        <p:spPr>
          <a:xfrm>
            <a:off x="548640" y="1234440"/>
            <a:ext cx="8138160" cy="3337560"/>
          </a:xfrm>
          <a:prstGeom prst="rect">
            <a:avLst/>
          </a:prstGeom>
          <a:noFill/>
          <a:ln/>
        </p:spPr>
        <p:txBody>
          <a:bodyPr wrap="square" rtlCol="0" anchor="t"/>
          <a:lstStyle/>
          <a:p>
            <a:pPr indent="0" marL="0">
              <a:buNone/>
            </a:pPr>
            <a:r>
              <a:rPr lang="en-US" sz="1300" dirty="0">
                <a:solidFill>
                  <a:srgbClr val="4EC9B0"/>
                </a:solidFill>
                <a:latin typeface="Consolas" pitchFamily="34" charset="0"/>
                <a:ea typeface="Consolas" pitchFamily="34" charset="-122"/>
                <a:cs typeface="Consolas" pitchFamily="34" charset="-120"/>
              </a:rPr>
              <a:t>int </a:t>
            </a:r>
            <a:pPr indent="0" marL="0">
              <a:buNone/>
            </a:pPr>
            <a:r>
              <a:rPr lang="en-US" sz="1300" dirty="0">
                <a:solidFill>
                  <a:srgbClr val="D4D4D4"/>
                </a:solidFill>
                <a:latin typeface="Consolas" pitchFamily="34" charset="0"/>
                <a:ea typeface="Consolas" pitchFamily="34" charset="-122"/>
                <a:cs typeface="Consolas" pitchFamily="34" charset="-120"/>
              </a:rPr>
              <a:t>leitura = analogRead(A0);
</a:t>
            </a:r>
            <a:pPr indent="0" marL="0">
              <a:buNone/>
            </a:pPr>
            <a:r>
              <a:rPr lang="en-US" sz="1300" b="1" dirty="0">
                <a:solidFill>
                  <a:srgbClr val="C586C0"/>
                </a:solidFill>
                <a:latin typeface="Consolas" pitchFamily="34" charset="0"/>
                <a:ea typeface="Consolas" pitchFamily="34" charset="-122"/>
                <a:cs typeface="Consolas" pitchFamily="34" charset="-120"/>
              </a:rPr>
              <a:t>if </a:t>
            </a:r>
            <a:pPr indent="0" marL="0">
              <a:buNone/>
            </a:pPr>
            <a:r>
              <a:rPr lang="en-US" sz="1300" dirty="0">
                <a:solidFill>
                  <a:srgbClr val="D4D4D4"/>
                </a:solidFill>
                <a:latin typeface="Consolas" pitchFamily="34" charset="0"/>
                <a:ea typeface="Consolas" pitchFamily="34" charset="-122"/>
                <a:cs typeface="Consolas" pitchFamily="34" charset="-120"/>
              </a:rPr>
              <a:t>(leitura &gt; </a:t>
            </a:r>
            <a:pPr indent="0" marL="0">
              <a:buNone/>
            </a:pPr>
            <a:r>
              <a:rPr lang="en-US" sz="1300" dirty="0">
                <a:solidFill>
                  <a:srgbClr val="B5CEA8"/>
                </a:solidFill>
                <a:latin typeface="Consolas" pitchFamily="34" charset="0"/>
                <a:ea typeface="Consolas" pitchFamily="34" charset="-122"/>
                <a:cs typeface="Consolas" pitchFamily="34" charset="-120"/>
              </a:rPr>
              <a:t>500</a:t>
            </a:r>
            <a:pPr indent="0" marL="0">
              <a:buNone/>
            </a:pPr>
            <a:r>
              <a:rPr lang="en-US" sz="1300" dirty="0">
                <a:solidFill>
                  <a:srgbClr val="D4D4D4"/>
                </a:solidFill>
                <a:latin typeface="Consolas" pitchFamily="34" charset="0"/>
                <a:ea typeface="Consolas" pitchFamily="34" charset="-122"/>
                <a:cs typeface="Consolas" pitchFamily="34" charset="-120"/>
              </a:rPr>
              <a:t>) {
</a:t>
            </a:r>
            <a:pPr indent="0" marL="0">
              <a:buNone/>
            </a:pPr>
            <a:r>
              <a:rPr lang="en-US" sz="1300" dirty="0">
                <a:solidFill>
                  <a:srgbClr val="DCDCAA"/>
                </a:solidFill>
                <a:latin typeface="Consolas" pitchFamily="34" charset="0"/>
                <a:ea typeface="Consolas" pitchFamily="34" charset="-122"/>
                <a:cs typeface="Consolas" pitchFamily="34" charset="-120"/>
              </a:rPr>
              <a:t>  Serial.println(</a:t>
            </a:r>
            <a:pPr indent="0" marL="0">
              <a:buNone/>
            </a:pPr>
            <a:r>
              <a:rPr lang="en-US" sz="1300" dirty="0">
                <a:solidFill>
                  <a:srgbClr val="CE9178"/>
                </a:solidFill>
                <a:latin typeface="Consolas" pitchFamily="34" charset="0"/>
                <a:ea typeface="Consolas" pitchFamily="34" charset="-122"/>
                <a:cs typeface="Consolas" pitchFamily="34" charset="-120"/>
              </a:rPr>
              <a:t>"Valor alto!"</a:t>
            </a:r>
            <a:pPr indent="0" marL="0">
              <a:buNone/>
            </a:pPr>
            <a:r>
              <a:rPr lang="en-US" sz="1300" dirty="0">
                <a:solidFill>
                  <a:srgbClr val="D4D4D4"/>
                </a:solidFill>
                <a:latin typeface="Consolas" pitchFamily="34" charset="0"/>
                <a:ea typeface="Consolas" pitchFamily="34" charset="-122"/>
                <a:cs typeface="Consolas" pitchFamily="34" charset="-120"/>
              </a:rPr>
              <a:t>);
  digitalWrite(LED, HIGH);
</a:t>
            </a:r>
            <a:pPr indent="0" marL="0">
              <a:buNone/>
            </a:pPr>
            <a:r>
              <a:rPr lang="en-US" sz="1300" b="1" dirty="0">
                <a:solidFill>
                  <a:srgbClr val="C586C0"/>
                </a:solidFill>
                <a:latin typeface="Consolas" pitchFamily="34" charset="0"/>
                <a:ea typeface="Consolas" pitchFamily="34" charset="-122"/>
                <a:cs typeface="Consolas" pitchFamily="34" charset="-120"/>
              </a:rPr>
              <a:t>} else if </a:t>
            </a:r>
            <a:pPr indent="0" marL="0">
              <a:buNone/>
            </a:pPr>
            <a:r>
              <a:rPr lang="en-US" sz="1300" dirty="0">
                <a:solidFill>
                  <a:srgbClr val="D4D4D4"/>
                </a:solidFill>
                <a:latin typeface="Consolas" pitchFamily="34" charset="0"/>
                <a:ea typeface="Consolas" pitchFamily="34" charset="-122"/>
                <a:cs typeface="Consolas" pitchFamily="34" charset="-120"/>
              </a:rPr>
              <a:t>(leitura &gt; </a:t>
            </a:r>
            <a:pPr indent="0" marL="0">
              <a:buNone/>
            </a:pPr>
            <a:r>
              <a:rPr lang="en-US" sz="1300" dirty="0">
                <a:solidFill>
                  <a:srgbClr val="B5CEA8"/>
                </a:solidFill>
                <a:latin typeface="Consolas" pitchFamily="34" charset="0"/>
                <a:ea typeface="Consolas" pitchFamily="34" charset="-122"/>
                <a:cs typeface="Consolas" pitchFamily="34" charset="-120"/>
              </a:rPr>
              <a:t>200</a:t>
            </a:r>
            <a:pPr indent="0" marL="0">
              <a:buNone/>
            </a:pPr>
            <a:r>
              <a:rPr lang="en-US" sz="1300" dirty="0">
                <a:solidFill>
                  <a:srgbClr val="D4D4D4"/>
                </a:solidFill>
                <a:latin typeface="Consolas" pitchFamily="34" charset="0"/>
                <a:ea typeface="Consolas" pitchFamily="34" charset="-122"/>
                <a:cs typeface="Consolas" pitchFamily="34" charset="-120"/>
              </a:rPr>
              <a:t>) {
</a:t>
            </a:r>
            <a:pPr indent="0" marL="0">
              <a:buNone/>
            </a:pPr>
            <a:r>
              <a:rPr lang="en-US" sz="1300" dirty="0">
                <a:solidFill>
                  <a:srgbClr val="DCDCAA"/>
                </a:solidFill>
                <a:latin typeface="Consolas" pitchFamily="34" charset="0"/>
                <a:ea typeface="Consolas" pitchFamily="34" charset="-122"/>
                <a:cs typeface="Consolas" pitchFamily="34" charset="-120"/>
              </a:rPr>
              <a:t>  Serial.println(</a:t>
            </a:r>
            <a:pPr indent="0" marL="0">
              <a:buNone/>
            </a:pPr>
            <a:r>
              <a:rPr lang="en-US" sz="1300" dirty="0">
                <a:solidFill>
                  <a:srgbClr val="CE9178"/>
                </a:solidFill>
                <a:latin typeface="Consolas" pitchFamily="34" charset="0"/>
                <a:ea typeface="Consolas" pitchFamily="34" charset="-122"/>
                <a:cs typeface="Consolas" pitchFamily="34" charset="-120"/>
              </a:rPr>
              <a:t>"Valor médio!"</a:t>
            </a:r>
            <a:pPr indent="0" marL="0">
              <a:buNone/>
            </a:pPr>
            <a:r>
              <a:rPr lang="en-US" sz="1300" dirty="0">
                <a:solidFill>
                  <a:srgbClr val="D4D4D4"/>
                </a:solidFill>
                <a:latin typeface="Consolas" pitchFamily="34" charset="0"/>
                <a:ea typeface="Consolas" pitchFamily="34" charset="-122"/>
                <a:cs typeface="Consolas" pitchFamily="34" charset="-120"/>
              </a:rPr>
              <a:t>);
</a:t>
            </a:r>
            <a:pPr indent="0" marL="0">
              <a:buNone/>
            </a:pPr>
            <a:r>
              <a:rPr lang="en-US" sz="1300" b="1" dirty="0">
                <a:solidFill>
                  <a:srgbClr val="C586C0"/>
                </a:solidFill>
                <a:latin typeface="Consolas" pitchFamily="34" charset="0"/>
                <a:ea typeface="Consolas" pitchFamily="34" charset="-122"/>
                <a:cs typeface="Consolas" pitchFamily="34" charset="-120"/>
              </a:rPr>
              <a:t>} else </a:t>
            </a:r>
            <a:pPr indent="0" marL="0">
              <a:buNone/>
            </a:pPr>
            <a:r>
              <a:rPr lang="en-US" sz="1300" dirty="0">
                <a:solidFill>
                  <a:srgbClr val="D4D4D4"/>
                </a:solidFill>
                <a:latin typeface="Consolas" pitchFamily="34" charset="0"/>
                <a:ea typeface="Consolas" pitchFamily="34" charset="-122"/>
                <a:cs typeface="Consolas" pitchFamily="34" charset="-120"/>
              </a:rPr>
              <a:t>{
</a:t>
            </a:r>
            <a:pPr indent="0" marL="0">
              <a:buNone/>
            </a:pPr>
            <a:r>
              <a:rPr lang="en-US" sz="1300" dirty="0">
                <a:solidFill>
                  <a:srgbClr val="DCDCAA"/>
                </a:solidFill>
                <a:latin typeface="Consolas" pitchFamily="34" charset="0"/>
                <a:ea typeface="Consolas" pitchFamily="34" charset="-122"/>
                <a:cs typeface="Consolas" pitchFamily="34" charset="-120"/>
              </a:rPr>
              <a:t>  Serial.println(</a:t>
            </a:r>
            <a:pPr indent="0" marL="0">
              <a:buNone/>
            </a:pPr>
            <a:r>
              <a:rPr lang="en-US" sz="1300" dirty="0">
                <a:solidFill>
                  <a:srgbClr val="CE9178"/>
                </a:solidFill>
                <a:latin typeface="Consolas" pitchFamily="34" charset="0"/>
                <a:ea typeface="Consolas" pitchFamily="34" charset="-122"/>
                <a:cs typeface="Consolas" pitchFamily="34" charset="-120"/>
              </a:rPr>
              <a:t>"Valor baixo!"</a:t>
            </a:r>
            <a:pPr indent="0" marL="0">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  digitalWrite(LED, LOW);</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Laços de Repetição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4023360" cy="3520440"/>
          </a:xfrm>
          <a:prstGeom prst="rect">
            <a:avLst/>
          </a:prstGeom>
          <a:solidFill>
            <a:srgbClr val="1E1E1E"/>
          </a:solidFill>
          <a:ln w="12700">
            <a:solidFill>
              <a:srgbClr val="333333"/>
            </a:solidFill>
            <a:prstDash val="solid"/>
          </a:ln>
        </p:spPr>
      </p:sp>
      <p:sp>
        <p:nvSpPr>
          <p:cNvPr id="8" name="Text 6"/>
          <p:cNvSpPr/>
          <p:nvPr/>
        </p:nvSpPr>
        <p:spPr>
          <a:xfrm>
            <a:off x="457200" y="1188720"/>
            <a:ext cx="3840480" cy="365760"/>
          </a:xfrm>
          <a:prstGeom prst="rect">
            <a:avLst/>
          </a:prstGeom>
          <a:noFill/>
          <a:ln/>
        </p:spPr>
        <p:txBody>
          <a:bodyPr wrap="square" rtlCol="0" anchor="ctr"/>
          <a:lstStyle/>
          <a:p>
            <a:pPr indent="0" marL="0">
              <a:buNone/>
            </a:pPr>
            <a:r>
              <a:rPr lang="en-US" sz="1300" b="1" dirty="0">
                <a:solidFill>
                  <a:srgbClr val="C586C0"/>
                </a:solidFill>
                <a:latin typeface="Consolas" pitchFamily="34" charset="0"/>
                <a:ea typeface="Consolas" pitchFamily="34" charset="-122"/>
                <a:cs typeface="Consolas" pitchFamily="34" charset="-120"/>
              </a:rPr>
              <a:t>for</a:t>
            </a:r>
            <a:endParaRPr lang="en-US" sz="1300" dirty="0"/>
          </a:p>
        </p:txBody>
      </p:sp>
      <p:sp>
        <p:nvSpPr>
          <p:cNvPr id="9" name="Text 7"/>
          <p:cNvSpPr/>
          <p:nvPr/>
        </p:nvSpPr>
        <p:spPr>
          <a:xfrm>
            <a:off x="502920" y="1600200"/>
            <a:ext cx="3749040" cy="2971800"/>
          </a:xfrm>
          <a:prstGeom prst="rect">
            <a:avLst/>
          </a:prstGeom>
          <a:noFill/>
          <a:ln/>
        </p:spPr>
        <p:txBody>
          <a:bodyPr wrap="square" rtlCol="0" anchor="t"/>
          <a:lstStyle/>
          <a:p>
            <a:pPr indent="0" marL="0">
              <a:buNone/>
            </a:pPr>
            <a:r>
              <a:rPr lang="en-US" sz="1200" dirty="0">
                <a:solidFill>
                  <a:srgbClr val="C586C0"/>
                </a:solidFill>
                <a:latin typeface="Consolas" pitchFamily="34" charset="0"/>
                <a:ea typeface="Consolas" pitchFamily="34" charset="-122"/>
                <a:cs typeface="Consolas" pitchFamily="34" charset="-120"/>
              </a:rPr>
              <a:t>for </a:t>
            </a:r>
            <a:pPr indent="0" marL="0">
              <a:buNone/>
            </a:pPr>
            <a:r>
              <a:rPr lang="en-US" sz="1200" dirty="0">
                <a:solidFill>
                  <a:srgbClr val="D4D4D4"/>
                </a:solidFill>
                <a:latin typeface="Consolas" pitchFamily="34" charset="0"/>
                <a:ea typeface="Consolas" pitchFamily="34" charset="-122"/>
                <a:cs typeface="Consolas" pitchFamily="34" charset="-120"/>
              </a:rPr>
              <a:t>(int i = </a:t>
            </a:r>
            <a:pPr indent="0" marL="0">
              <a:buNone/>
            </a:pPr>
            <a:r>
              <a:rPr lang="en-US" sz="1200" dirty="0">
                <a:solidFill>
                  <a:srgbClr val="B5CEA8"/>
                </a:solidFill>
                <a:latin typeface="Consolas" pitchFamily="34" charset="0"/>
                <a:ea typeface="Consolas" pitchFamily="34" charset="-122"/>
                <a:cs typeface="Consolas" pitchFamily="34" charset="-120"/>
              </a:rPr>
              <a:t>0</a:t>
            </a:r>
            <a:pPr indent="0" marL="0">
              <a:buNone/>
            </a:pPr>
            <a:r>
              <a:rPr lang="en-US" sz="1200" dirty="0">
                <a:solidFill>
                  <a:srgbClr val="D4D4D4"/>
                </a:solidFill>
                <a:latin typeface="Consolas" pitchFamily="34" charset="0"/>
                <a:ea typeface="Consolas" pitchFamily="34" charset="-122"/>
                <a:cs typeface="Consolas" pitchFamily="34" charset="-120"/>
              </a:rPr>
              <a:t>; i &lt; </a:t>
            </a:r>
            <a:pPr indent="0" marL="0">
              <a:buNone/>
            </a:pPr>
            <a:r>
              <a:rPr lang="en-US" sz="1200" dirty="0">
                <a:solidFill>
                  <a:srgbClr val="B5CEA8"/>
                </a:solidFill>
                <a:latin typeface="Consolas" pitchFamily="34" charset="0"/>
                <a:ea typeface="Consolas" pitchFamily="34" charset="-122"/>
                <a:cs typeface="Consolas" pitchFamily="34" charset="-120"/>
              </a:rPr>
              <a:t>10</a:t>
            </a:r>
            <a:pPr indent="0" marL="0">
              <a:buNone/>
            </a:pPr>
            <a:r>
              <a:rPr lang="en-US" sz="1200" dirty="0">
                <a:solidFill>
                  <a:srgbClr val="D4D4D4"/>
                </a:solidFill>
                <a:latin typeface="Consolas" pitchFamily="34" charset="0"/>
                <a:ea typeface="Consolas" pitchFamily="34" charset="-122"/>
                <a:cs typeface="Consolas" pitchFamily="34" charset="-120"/>
              </a:rPr>
              <a:t>; i++) {</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digitalWrite(LED, HIGH);</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delay(100);</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digitalWrite(LED, LOW);</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delay(100);</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
        <p:nvSpPr>
          <p:cNvPr id="10" name="Shape 8"/>
          <p:cNvSpPr/>
          <p:nvPr/>
        </p:nvSpPr>
        <p:spPr>
          <a:xfrm>
            <a:off x="4754880" y="1143000"/>
            <a:ext cx="4023360" cy="3520440"/>
          </a:xfrm>
          <a:prstGeom prst="rect">
            <a:avLst/>
          </a:prstGeom>
          <a:solidFill>
            <a:srgbClr val="1E1E1E"/>
          </a:solidFill>
          <a:ln w="12700">
            <a:solidFill>
              <a:srgbClr val="333333"/>
            </a:solidFill>
            <a:prstDash val="solid"/>
          </a:ln>
        </p:spPr>
      </p:sp>
      <p:sp>
        <p:nvSpPr>
          <p:cNvPr id="11" name="Text 9"/>
          <p:cNvSpPr/>
          <p:nvPr/>
        </p:nvSpPr>
        <p:spPr>
          <a:xfrm>
            <a:off x="4846320" y="1188720"/>
            <a:ext cx="3840480" cy="365760"/>
          </a:xfrm>
          <a:prstGeom prst="rect">
            <a:avLst/>
          </a:prstGeom>
          <a:noFill/>
          <a:ln/>
        </p:spPr>
        <p:txBody>
          <a:bodyPr wrap="square" rtlCol="0" anchor="ctr"/>
          <a:lstStyle/>
          <a:p>
            <a:pPr indent="0" marL="0">
              <a:buNone/>
            </a:pPr>
            <a:r>
              <a:rPr lang="en-US" sz="1300" b="1" dirty="0">
                <a:solidFill>
                  <a:srgbClr val="C586C0"/>
                </a:solidFill>
                <a:latin typeface="Consolas" pitchFamily="34" charset="0"/>
                <a:ea typeface="Consolas" pitchFamily="34" charset="-122"/>
                <a:cs typeface="Consolas" pitchFamily="34" charset="-120"/>
              </a:rPr>
              <a:t>while</a:t>
            </a:r>
            <a:endParaRPr lang="en-US" sz="1300" dirty="0"/>
          </a:p>
        </p:txBody>
      </p:sp>
      <p:sp>
        <p:nvSpPr>
          <p:cNvPr id="12" name="Text 10"/>
          <p:cNvSpPr/>
          <p:nvPr/>
        </p:nvSpPr>
        <p:spPr>
          <a:xfrm>
            <a:off x="4846320" y="1600200"/>
            <a:ext cx="3749040" cy="2971800"/>
          </a:xfrm>
          <a:prstGeom prst="rect">
            <a:avLst/>
          </a:prstGeom>
          <a:noFill/>
          <a:ln/>
        </p:spPr>
        <p:txBody>
          <a:bodyPr wrap="square" rtlCol="0" anchor="t"/>
          <a:lstStyle/>
          <a:p>
            <a:pPr indent="0" marL="0">
              <a:buNone/>
            </a:pPr>
            <a:r>
              <a:rPr lang="en-US" sz="1200" dirty="0">
                <a:solidFill>
                  <a:srgbClr val="4EC9B0"/>
                </a:solidFill>
                <a:latin typeface="Consolas" pitchFamily="34" charset="0"/>
                <a:ea typeface="Consolas" pitchFamily="34" charset="-122"/>
                <a:cs typeface="Consolas" pitchFamily="34" charset="-120"/>
              </a:rPr>
              <a:t>int </a:t>
            </a:r>
            <a:pPr indent="0" marL="0">
              <a:buNone/>
            </a:pPr>
            <a:r>
              <a:rPr lang="en-US" sz="1200" dirty="0">
                <a:solidFill>
                  <a:srgbClr val="D4D4D4"/>
                </a:solidFill>
                <a:latin typeface="Consolas" pitchFamily="34" charset="0"/>
                <a:ea typeface="Consolas" pitchFamily="34" charset="-122"/>
                <a:cs typeface="Consolas" pitchFamily="34" charset="-120"/>
              </a:rPr>
              <a:t>cnt = </a:t>
            </a:r>
            <a:pPr indent="0" marL="0">
              <a:buNone/>
            </a:pPr>
            <a:r>
              <a:rPr lang="en-US" sz="1200" dirty="0">
                <a:solidFill>
                  <a:srgbClr val="B5CEA8"/>
                </a:solidFill>
                <a:latin typeface="Consolas" pitchFamily="34" charset="0"/>
                <a:ea typeface="Consolas" pitchFamily="34" charset="-122"/>
                <a:cs typeface="Consolas" pitchFamily="34" charset="-120"/>
              </a:rPr>
              <a:t>0</a:t>
            </a:r>
            <a:pPr indent="0" marL="0">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buNone/>
            </a:pP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while </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(cnt &lt; </a:t>
            </a:r>
            <a:pPr indent="0" marL="0">
              <a:buNone/>
            </a:pPr>
            <a:r>
              <a:rPr lang="en-US" sz="1200" dirty="0">
                <a:solidFill>
                  <a:srgbClr val="B5CEA8"/>
                </a:solidFill>
                <a:latin typeface="Consolas" pitchFamily="34" charset="0"/>
                <a:ea typeface="Consolas" pitchFamily="34" charset="-122"/>
                <a:cs typeface="Consolas" pitchFamily="34" charset="-120"/>
              </a:rPr>
              <a:t>5</a:t>
            </a:r>
            <a:pPr indent="0" marL="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Serial.println(cnt);</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cnt++;</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delay(500);</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Funções em C/Arduino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731520"/>
          </a:xfrm>
          <a:prstGeom prst="rect">
            <a:avLst/>
          </a:prstGeom>
          <a:noFill/>
          <a:ln/>
        </p:spPr>
        <p:txBody>
          <a:bodyPr wrap="square" rtlCol="0" anchor="ctr"/>
          <a:lstStyle/>
          <a:p>
            <a:pPr indent="0" marL="0">
              <a:buNone/>
            </a:pPr>
            <a:r>
              <a:rPr lang="en-US" sz="1300" dirty="0">
                <a:solidFill>
                  <a:srgbClr val="1565C0"/>
                </a:solidFill>
              </a:rPr>
              <a:t>Funções permitem organizar o código em blocos reutilizáveis. No Arduino, além de setup() e loop(), você pode criar suas próprias funções para modularizar o programa.</a:t>
            </a:r>
            <a:endParaRPr lang="en-US" sz="1300" dirty="0"/>
          </a:p>
        </p:txBody>
      </p:sp>
      <p:sp>
        <p:nvSpPr>
          <p:cNvPr id="8" name="Shape 6"/>
          <p:cNvSpPr/>
          <p:nvPr/>
        </p:nvSpPr>
        <p:spPr>
          <a:xfrm>
            <a:off x="365760" y="1965960"/>
            <a:ext cx="8412480" cy="2697480"/>
          </a:xfrm>
          <a:prstGeom prst="rect">
            <a:avLst/>
          </a:prstGeom>
          <a:solidFill>
            <a:srgbClr val="1E1E1E"/>
          </a:solidFill>
          <a:ln w="12700">
            <a:solidFill>
              <a:srgbClr val="333333"/>
            </a:solidFill>
            <a:prstDash val="solid"/>
          </a:ln>
        </p:spPr>
      </p:sp>
      <p:sp>
        <p:nvSpPr>
          <p:cNvPr id="9" name="Text 7"/>
          <p:cNvSpPr/>
          <p:nvPr/>
        </p:nvSpPr>
        <p:spPr>
          <a:xfrm>
            <a:off x="548640" y="2057400"/>
            <a:ext cx="8138160" cy="2514600"/>
          </a:xfrm>
          <a:prstGeom prst="rect">
            <a:avLst/>
          </a:prstGeom>
          <a:noFill/>
          <a:ln/>
        </p:spPr>
        <p:txBody>
          <a:bodyPr wrap="square" rtlCol="0" anchor="t"/>
          <a:lstStyle/>
          <a:p>
            <a:pPr indent="0" marL="0">
              <a:buNone/>
            </a:pPr>
            <a:r>
              <a:rPr lang="en-US" sz="1300" dirty="0">
                <a:solidFill>
                  <a:srgbClr val="6A9955"/>
                </a:solidFill>
                <a:latin typeface="Consolas" pitchFamily="34" charset="0"/>
                <a:ea typeface="Consolas" pitchFamily="34" charset="-122"/>
                <a:cs typeface="Consolas" pitchFamily="34" charset="-120"/>
              </a:rPr>
              <a:t>// Função que pisca o LED N vezes
</a:t>
            </a:r>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piscarLED(</a:t>
            </a:r>
            <a:pPr indent="0" marL="0">
              <a:buNone/>
            </a:pPr>
            <a:r>
              <a:rPr lang="en-US" sz="1300" dirty="0">
                <a:solidFill>
                  <a:srgbClr val="4EC9B0"/>
                </a:solidFill>
                <a:latin typeface="Consolas" pitchFamily="34" charset="0"/>
                <a:ea typeface="Consolas" pitchFamily="34" charset="-122"/>
                <a:cs typeface="Consolas" pitchFamily="34" charset="-120"/>
              </a:rPr>
              <a:t>int </a:t>
            </a:r>
            <a:pPr indent="0" marL="0">
              <a:buNone/>
            </a:pPr>
            <a:r>
              <a:rPr lang="en-US" sz="1300" dirty="0">
                <a:solidFill>
                  <a:srgbClr val="D4D4D4"/>
                </a:solidFill>
                <a:latin typeface="Consolas" pitchFamily="34" charset="0"/>
                <a:ea typeface="Consolas" pitchFamily="34" charset="-122"/>
                <a:cs typeface="Consolas" pitchFamily="34" charset="-120"/>
              </a:rPr>
              <a:t>vezes, </a:t>
            </a:r>
            <a:pPr indent="0" marL="0">
              <a:buNone/>
            </a:pPr>
            <a:r>
              <a:rPr lang="en-US" sz="1300" dirty="0">
                <a:solidFill>
                  <a:srgbClr val="4EC9B0"/>
                </a:solidFill>
                <a:latin typeface="Consolas" pitchFamily="34" charset="0"/>
                <a:ea typeface="Consolas" pitchFamily="34" charset="-122"/>
                <a:cs typeface="Consolas" pitchFamily="34" charset="-120"/>
              </a:rPr>
              <a:t>int </a:t>
            </a:r>
            <a:pPr indent="0" marL="0">
              <a:buNone/>
            </a:pPr>
            <a:r>
              <a:rPr lang="en-US" sz="1300" dirty="0">
                <a:solidFill>
                  <a:srgbClr val="D4D4D4"/>
                </a:solidFill>
                <a:latin typeface="Consolas" pitchFamily="34" charset="0"/>
                <a:ea typeface="Consolas" pitchFamily="34" charset="-122"/>
                <a:cs typeface="Consolas" pitchFamily="34" charset="-120"/>
              </a:rPr>
              <a:t>intervalo) {
</a:t>
            </a:r>
            <a:pPr indent="0" marL="0">
              <a:buNone/>
            </a:pPr>
            <a:r>
              <a:rPr lang="en-US" sz="1300" dirty="0">
                <a:solidFill>
                  <a:srgbClr val="C586C0"/>
                </a:solidFill>
                <a:latin typeface="Consolas" pitchFamily="34" charset="0"/>
                <a:ea typeface="Consolas" pitchFamily="34" charset="-122"/>
                <a:cs typeface="Consolas" pitchFamily="34" charset="-120"/>
              </a:rPr>
              <a:t>  for </a:t>
            </a:r>
            <a:pPr indent="0" marL="0">
              <a:buNone/>
            </a:pPr>
            <a:r>
              <a:rPr lang="en-US" sz="1300" dirty="0">
                <a:solidFill>
                  <a:srgbClr val="D4D4D4"/>
                </a:solidFill>
                <a:latin typeface="Consolas" pitchFamily="34" charset="0"/>
                <a:ea typeface="Consolas" pitchFamily="34" charset="-122"/>
                <a:cs typeface="Consolas" pitchFamily="34" charset="-120"/>
              </a:rPr>
              <a:t>(int i = 0; i &lt; vezes; i++) {
</a:t>
            </a:r>
            <a:pPr indent="0" marL="0">
              <a:buNone/>
            </a:pPr>
            <a:r>
              <a:rPr lang="en-US" sz="1300" dirty="0">
                <a:solidFill>
                  <a:srgbClr val="D4D4D4"/>
                </a:solidFill>
                <a:latin typeface="Consolas" pitchFamily="34" charset="0"/>
                <a:ea typeface="Consolas" pitchFamily="34" charset="-122"/>
                <a:cs typeface="Consolas" pitchFamily="34" charset="-120"/>
              </a:rPr>
              <a:t>    digitalWrite(13, HIGH); delay(intervalo);
</a:t>
            </a:r>
            <a:pPr indent="0" marL="0">
              <a:buNone/>
            </a:pPr>
            <a:r>
              <a:rPr lang="en-US" sz="1300" dirty="0">
                <a:solidFill>
                  <a:srgbClr val="D4D4D4"/>
                </a:solidFill>
                <a:latin typeface="Consolas" pitchFamily="34" charset="0"/>
                <a:ea typeface="Consolas" pitchFamily="34" charset="-122"/>
                <a:cs typeface="Consolas" pitchFamily="34" charset="-120"/>
              </a:rPr>
              <a:t>    digitalWrite(13, LOW);  delay(intervalo);
</a:t>
            </a:r>
            <a:pPr indent="0" marL="0">
              <a:buNone/>
            </a:pPr>
            <a:r>
              <a:rPr lang="en-US" sz="1300" dirty="0">
                <a:solidFill>
                  <a:srgbClr val="D4D4D4"/>
                </a:solidFill>
                <a:latin typeface="Consolas" pitchFamily="34" charset="0"/>
                <a:ea typeface="Consolas" pitchFamily="34" charset="-122"/>
                <a:cs typeface="Consolas" pitchFamily="34" charset="-120"/>
              </a:rPr>
              <a:t>  }
}
</a:t>
            </a:r>
            <a:pPr indent="0" marL="0">
              <a:buNone/>
            </a:pPr>
            <a:r>
              <a:rPr lang="en-US" sz="1300" dirty="0">
                <a:solidFill>
                  <a:srgbClr val="6A9955"/>
                </a:solidFill>
                <a:latin typeface="Consolas" pitchFamily="34" charset="0"/>
                <a:ea typeface="Consolas" pitchFamily="34" charset="-122"/>
                <a:cs typeface="Consolas" pitchFamily="34" charset="-120"/>
              </a:rPr>
              <a:t>// Chamando a função no loop
</a:t>
            </a:r>
            <a:pPr indent="0" marL="0">
              <a:buNone/>
            </a:pPr>
            <a:r>
              <a:rPr lang="en-US" sz="1300" dirty="0">
                <a:solidFill>
                  <a:srgbClr val="DCDCAA"/>
                </a:solidFill>
                <a:latin typeface="Consolas" pitchFamily="34" charset="0"/>
                <a:ea typeface="Consolas" pitchFamily="34" charset="-122"/>
                <a:cs typeface="Consolas" pitchFamily="34" charset="-120"/>
              </a:rPr>
              <a:t>piscarLED(5, 200); </a:t>
            </a:r>
            <a:pPr indent="0" marL="0">
              <a:buNone/>
            </a:pPr>
            <a:r>
              <a:rPr lang="en-US" sz="1300" dirty="0">
                <a:solidFill>
                  <a:srgbClr val="6A9955"/>
                </a:solidFill>
                <a:latin typeface="Consolas" pitchFamily="34" charset="0"/>
                <a:ea typeface="Consolas" pitchFamily="34" charset="-122"/>
                <a:cs typeface="Consolas" pitchFamily="34" charset="-120"/>
              </a:rPr>
              <a:t>// pisca 5 vezes com 200ms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Pinos Digitais — Entrada e Saída</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822960"/>
          </a:xfrm>
          <a:prstGeom prst="rect">
            <a:avLst/>
          </a:prstGeom>
          <a:noFill/>
          <a:ln/>
        </p:spPr>
        <p:txBody>
          <a:bodyPr wrap="square" rtlCol="0" anchor="ctr"/>
          <a:lstStyle/>
          <a:p>
            <a:pPr indent="0" marL="0">
              <a:buNone/>
            </a:pPr>
            <a:r>
              <a:rPr lang="en-US" sz="1300" dirty="0">
                <a:solidFill>
                  <a:srgbClr val="1565C0"/>
                </a:solidFill>
              </a:rPr>
              <a:t>Os pinos digitais do Arduino operam em dois estados: HIGH (5V) ou LOW (0V). Podem ser configurados como entrada (INPUT) para leitura de sensores, ou como saída (OUTPUT) para controlar dispositivos.</a:t>
            </a:r>
            <a:endParaRPr lang="en-US" sz="1300" dirty="0"/>
          </a:p>
        </p:txBody>
      </p:sp>
      <p:sp>
        <p:nvSpPr>
          <p:cNvPr id="8" name="Shape 6"/>
          <p:cNvSpPr/>
          <p:nvPr/>
        </p:nvSpPr>
        <p:spPr>
          <a:xfrm>
            <a:off x="365760" y="2103120"/>
            <a:ext cx="8412480" cy="777240"/>
          </a:xfrm>
          <a:prstGeom prst="rect">
            <a:avLst/>
          </a:prstGeom>
          <a:solidFill>
            <a:srgbClr val="E3F2FD"/>
          </a:solidFill>
          <a:ln w="12700">
            <a:solidFill>
              <a:srgbClr val="2196F3"/>
            </a:solidFill>
            <a:prstDash val="solid"/>
          </a:ln>
        </p:spPr>
      </p:sp>
      <p:sp>
        <p:nvSpPr>
          <p:cNvPr id="9" name="Text 7"/>
          <p:cNvSpPr/>
          <p:nvPr/>
        </p:nvSpPr>
        <p:spPr>
          <a:xfrm>
            <a:off x="502920" y="2103120"/>
            <a:ext cx="3200400" cy="777240"/>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pinMode(pino, modo)</a:t>
            </a:r>
            <a:endParaRPr lang="en-US" sz="1200" dirty="0"/>
          </a:p>
        </p:txBody>
      </p:sp>
      <p:sp>
        <p:nvSpPr>
          <p:cNvPr id="10" name="Text 8"/>
          <p:cNvSpPr/>
          <p:nvPr/>
        </p:nvSpPr>
        <p:spPr>
          <a:xfrm>
            <a:off x="3749040" y="2103120"/>
            <a:ext cx="2743200" cy="777240"/>
          </a:xfrm>
          <a:prstGeom prst="rect">
            <a:avLst/>
          </a:prstGeom>
          <a:noFill/>
          <a:ln/>
        </p:spPr>
        <p:txBody>
          <a:bodyPr wrap="square" rtlCol="0" anchor="ctr"/>
          <a:lstStyle/>
          <a:p>
            <a:pPr indent="0" marL="0">
              <a:buNone/>
            </a:pPr>
            <a:r>
              <a:rPr lang="en-US" sz="1200" dirty="0">
                <a:solidFill>
                  <a:srgbClr val="546E7A"/>
                </a:solidFill>
              </a:rPr>
              <a:t>Configura o pino como INPUT ou OUTPUT</a:t>
            </a:r>
            <a:endParaRPr lang="en-US" sz="1200" dirty="0"/>
          </a:p>
        </p:txBody>
      </p:sp>
      <p:sp>
        <p:nvSpPr>
          <p:cNvPr id="11" name="Text 9"/>
          <p:cNvSpPr/>
          <p:nvPr/>
        </p:nvSpPr>
        <p:spPr>
          <a:xfrm>
            <a:off x="6583680" y="2103120"/>
            <a:ext cx="2011680" cy="777240"/>
          </a:xfrm>
          <a:prstGeom prst="rect">
            <a:avLst/>
          </a:prstGeom>
          <a:noFill/>
          <a:ln/>
        </p:spPr>
        <p:txBody>
          <a:bodyPr wrap="square" rtlCol="0" anchor="ctr"/>
          <a:lstStyle/>
          <a:p>
            <a:pPr indent="0" marL="0">
              <a:buNone/>
            </a:pPr>
            <a:r>
              <a:rPr lang="en-US" sz="1100" dirty="0">
                <a:solidFill>
                  <a:srgbClr val="1976D2"/>
                </a:solidFill>
                <a:latin typeface="Consolas" pitchFamily="34" charset="0"/>
                <a:ea typeface="Consolas" pitchFamily="34" charset="-122"/>
                <a:cs typeface="Consolas" pitchFamily="34" charset="-120"/>
              </a:rPr>
              <a:t>pinMode(13, OUTPUT);</a:t>
            </a:r>
            <a:endParaRPr lang="en-US" sz="1100" dirty="0"/>
          </a:p>
        </p:txBody>
      </p:sp>
      <p:sp>
        <p:nvSpPr>
          <p:cNvPr id="12" name="Shape 10"/>
          <p:cNvSpPr/>
          <p:nvPr/>
        </p:nvSpPr>
        <p:spPr>
          <a:xfrm>
            <a:off x="365760" y="3017520"/>
            <a:ext cx="8412480" cy="777240"/>
          </a:xfrm>
          <a:prstGeom prst="rect">
            <a:avLst/>
          </a:prstGeom>
          <a:solidFill>
            <a:srgbClr val="F5F5F5"/>
          </a:solidFill>
          <a:ln w="12700">
            <a:solidFill>
              <a:srgbClr val="2196F3"/>
            </a:solidFill>
            <a:prstDash val="solid"/>
          </a:ln>
        </p:spPr>
      </p:sp>
      <p:sp>
        <p:nvSpPr>
          <p:cNvPr id="13" name="Text 11"/>
          <p:cNvSpPr/>
          <p:nvPr/>
        </p:nvSpPr>
        <p:spPr>
          <a:xfrm>
            <a:off x="502920" y="3017520"/>
            <a:ext cx="3200400" cy="777240"/>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digitalWrite(pino, valor)</a:t>
            </a:r>
            <a:endParaRPr lang="en-US" sz="1200" dirty="0"/>
          </a:p>
        </p:txBody>
      </p:sp>
      <p:sp>
        <p:nvSpPr>
          <p:cNvPr id="14" name="Text 12"/>
          <p:cNvSpPr/>
          <p:nvPr/>
        </p:nvSpPr>
        <p:spPr>
          <a:xfrm>
            <a:off x="3749040" y="3017520"/>
            <a:ext cx="2743200" cy="777240"/>
          </a:xfrm>
          <a:prstGeom prst="rect">
            <a:avLst/>
          </a:prstGeom>
          <a:noFill/>
          <a:ln/>
        </p:spPr>
        <p:txBody>
          <a:bodyPr wrap="square" rtlCol="0" anchor="ctr"/>
          <a:lstStyle/>
          <a:p>
            <a:pPr indent="0" marL="0">
              <a:buNone/>
            </a:pPr>
            <a:r>
              <a:rPr lang="en-US" sz="1200" dirty="0">
                <a:solidFill>
                  <a:srgbClr val="546E7A"/>
                </a:solidFill>
              </a:rPr>
              <a:t>Escreve HIGH ou LOW no pino digital</a:t>
            </a:r>
            <a:endParaRPr lang="en-US" sz="1200" dirty="0"/>
          </a:p>
        </p:txBody>
      </p:sp>
      <p:sp>
        <p:nvSpPr>
          <p:cNvPr id="15" name="Text 13"/>
          <p:cNvSpPr/>
          <p:nvPr/>
        </p:nvSpPr>
        <p:spPr>
          <a:xfrm>
            <a:off x="6583680" y="3017520"/>
            <a:ext cx="2011680" cy="777240"/>
          </a:xfrm>
          <a:prstGeom prst="rect">
            <a:avLst/>
          </a:prstGeom>
          <a:noFill/>
          <a:ln/>
        </p:spPr>
        <p:txBody>
          <a:bodyPr wrap="square" rtlCol="0" anchor="ctr"/>
          <a:lstStyle/>
          <a:p>
            <a:pPr indent="0" marL="0">
              <a:buNone/>
            </a:pPr>
            <a:r>
              <a:rPr lang="en-US" sz="1100" dirty="0">
                <a:solidFill>
                  <a:srgbClr val="1976D2"/>
                </a:solidFill>
                <a:latin typeface="Consolas" pitchFamily="34" charset="0"/>
                <a:ea typeface="Consolas" pitchFamily="34" charset="-122"/>
                <a:cs typeface="Consolas" pitchFamily="34" charset="-120"/>
              </a:rPr>
              <a:t>digitalWrite(13, HIGH);</a:t>
            </a:r>
            <a:endParaRPr lang="en-US" sz="1100" dirty="0"/>
          </a:p>
        </p:txBody>
      </p:sp>
      <p:sp>
        <p:nvSpPr>
          <p:cNvPr id="16" name="Shape 14"/>
          <p:cNvSpPr/>
          <p:nvPr/>
        </p:nvSpPr>
        <p:spPr>
          <a:xfrm>
            <a:off x="365760" y="3931920"/>
            <a:ext cx="8412480" cy="777240"/>
          </a:xfrm>
          <a:prstGeom prst="rect">
            <a:avLst/>
          </a:prstGeom>
          <a:solidFill>
            <a:srgbClr val="E3F2FD"/>
          </a:solidFill>
          <a:ln w="12700">
            <a:solidFill>
              <a:srgbClr val="2196F3"/>
            </a:solidFill>
            <a:prstDash val="solid"/>
          </a:ln>
        </p:spPr>
      </p:sp>
      <p:sp>
        <p:nvSpPr>
          <p:cNvPr id="17" name="Text 15"/>
          <p:cNvSpPr/>
          <p:nvPr/>
        </p:nvSpPr>
        <p:spPr>
          <a:xfrm>
            <a:off x="502920" y="3931920"/>
            <a:ext cx="3200400" cy="777240"/>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digitalRead(pino)</a:t>
            </a:r>
            <a:endParaRPr lang="en-US" sz="1200" dirty="0"/>
          </a:p>
        </p:txBody>
      </p:sp>
      <p:sp>
        <p:nvSpPr>
          <p:cNvPr id="18" name="Text 16"/>
          <p:cNvSpPr/>
          <p:nvPr/>
        </p:nvSpPr>
        <p:spPr>
          <a:xfrm>
            <a:off x="3749040" y="3931920"/>
            <a:ext cx="2743200" cy="777240"/>
          </a:xfrm>
          <a:prstGeom prst="rect">
            <a:avLst/>
          </a:prstGeom>
          <a:noFill/>
          <a:ln/>
        </p:spPr>
        <p:txBody>
          <a:bodyPr wrap="square" rtlCol="0" anchor="ctr"/>
          <a:lstStyle/>
          <a:p>
            <a:pPr indent="0" marL="0">
              <a:buNone/>
            </a:pPr>
            <a:r>
              <a:rPr lang="en-US" sz="1200" dirty="0">
                <a:solidFill>
                  <a:srgbClr val="546E7A"/>
                </a:solidFill>
              </a:rPr>
              <a:t>Lê o estado do pino (retorna HIGH/LOW)</a:t>
            </a:r>
            <a:endParaRPr lang="en-US" sz="1200" dirty="0"/>
          </a:p>
        </p:txBody>
      </p:sp>
      <p:sp>
        <p:nvSpPr>
          <p:cNvPr id="19" name="Text 17"/>
          <p:cNvSpPr/>
          <p:nvPr/>
        </p:nvSpPr>
        <p:spPr>
          <a:xfrm>
            <a:off x="6583680" y="3931920"/>
            <a:ext cx="2011680" cy="777240"/>
          </a:xfrm>
          <a:prstGeom prst="rect">
            <a:avLst/>
          </a:prstGeom>
          <a:noFill/>
          <a:ln/>
        </p:spPr>
        <p:txBody>
          <a:bodyPr wrap="square" rtlCol="0" anchor="ctr"/>
          <a:lstStyle/>
          <a:p>
            <a:pPr indent="0" marL="0">
              <a:buNone/>
            </a:pPr>
            <a:r>
              <a:rPr lang="en-US" sz="1100" dirty="0">
                <a:solidFill>
                  <a:srgbClr val="1976D2"/>
                </a:solidFill>
                <a:latin typeface="Consolas" pitchFamily="34" charset="0"/>
                <a:ea typeface="Consolas" pitchFamily="34" charset="-122"/>
                <a:cs typeface="Consolas" pitchFamily="34" charset="-120"/>
              </a:rPr>
              <a:t>int v = digitalRead(2);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Pinos Analógicos e PWM</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4114800" cy="3429000"/>
          </a:xfrm>
          <a:prstGeom prst="rect">
            <a:avLst/>
          </a:prstGeom>
          <a:solidFill>
            <a:srgbClr val="E3F2FD"/>
          </a:solidFill>
          <a:ln w="12700">
            <a:solidFill>
              <a:srgbClr val="0D47A1"/>
            </a:solidFill>
            <a:prstDash val="solid"/>
          </a:ln>
        </p:spPr>
      </p:sp>
      <p:sp>
        <p:nvSpPr>
          <p:cNvPr id="8" name="Shape 6"/>
          <p:cNvSpPr/>
          <p:nvPr/>
        </p:nvSpPr>
        <p:spPr>
          <a:xfrm>
            <a:off x="365760" y="1143000"/>
            <a:ext cx="4114800" cy="457200"/>
          </a:xfrm>
          <a:prstGeom prst="rect">
            <a:avLst/>
          </a:prstGeom>
          <a:solidFill>
            <a:srgbClr val="0D47A1"/>
          </a:solidFill>
          <a:ln w="12700">
            <a:solidFill>
              <a:srgbClr val="0D47A1"/>
            </a:solidFill>
            <a:prstDash val="solid"/>
          </a:ln>
        </p:spPr>
      </p:sp>
      <p:sp>
        <p:nvSpPr>
          <p:cNvPr id="9" name="Text 7"/>
          <p:cNvSpPr/>
          <p:nvPr/>
        </p:nvSpPr>
        <p:spPr>
          <a:xfrm>
            <a:off x="457200" y="1143000"/>
            <a:ext cx="3931920" cy="457200"/>
          </a:xfrm>
          <a:prstGeom prst="rect">
            <a:avLst/>
          </a:prstGeom>
          <a:noFill/>
          <a:ln/>
        </p:spPr>
        <p:txBody>
          <a:bodyPr wrap="square" rtlCol="0" anchor="ctr"/>
          <a:lstStyle/>
          <a:p>
            <a:pPr indent="0" marL="0">
              <a:buNone/>
            </a:pPr>
            <a:r>
              <a:rPr lang="en-US" sz="1300" b="1" dirty="0">
                <a:solidFill>
                  <a:srgbClr val="FFFFFF"/>
                </a:solidFill>
              </a:rPr>
              <a:t>Pinos Analógicos (A0–A5)</a:t>
            </a:r>
            <a:endParaRPr lang="en-US" sz="1300" dirty="0"/>
          </a:p>
        </p:txBody>
      </p:sp>
      <p:sp>
        <p:nvSpPr>
          <p:cNvPr id="10" name="Text 8"/>
          <p:cNvSpPr/>
          <p:nvPr/>
        </p:nvSpPr>
        <p:spPr>
          <a:xfrm>
            <a:off x="457200" y="1691640"/>
            <a:ext cx="3840480" cy="2743200"/>
          </a:xfrm>
          <a:prstGeom prst="rect">
            <a:avLst/>
          </a:prstGeom>
          <a:noFill/>
          <a:ln/>
        </p:spPr>
        <p:txBody>
          <a:bodyPr wrap="square" rtlCol="0" anchor="ctr"/>
          <a:lstStyle/>
          <a:p>
            <a:pPr indent="0" marL="0">
              <a:buNone/>
            </a:pPr>
            <a:r>
              <a:rPr lang="en-US" sz="1300" dirty="0">
                <a:solidFill>
                  <a:srgbClr val="0D47A1"/>
                </a:solidFill>
              </a:rPr>
              <a:t>• Leitura de 0 a 1023 (10 bits)</a:t>
            </a:r>
            <a:endParaRPr lang="en-US" sz="1300" dirty="0"/>
          </a:p>
          <a:p>
            <a:pPr indent="0" marL="0">
              <a:buNone/>
            </a:pPr>
            <a:r>
              <a:rPr lang="en-US" sz="1300" dirty="0">
                <a:solidFill>
                  <a:srgbClr val="0D47A1"/>
                </a:solidFill>
              </a:rPr>
              <a:t>• analogRead(A0) → valor numérico</a:t>
            </a:r>
            <a:endParaRPr lang="en-US" sz="1300" dirty="0"/>
          </a:p>
          <a:p>
            <a:pPr indent="0" marL="0">
              <a:buNone/>
            </a:pPr>
            <a:r>
              <a:rPr lang="en-US" sz="1300" dirty="0">
                <a:solidFill>
                  <a:srgbClr val="0D47A1"/>
                </a:solidFill>
              </a:rPr>
              <a:t>• Ideais para sensores como:</a:t>
            </a:r>
            <a:endParaRPr lang="en-US" sz="1300" dirty="0"/>
          </a:p>
          <a:p>
            <a:pPr indent="0" marL="0">
              <a:buNone/>
            </a:pPr>
            <a:r>
              <a:rPr lang="en-US" sz="1300" dirty="0">
                <a:solidFill>
                  <a:srgbClr val="0D47A1"/>
                </a:solidFill>
              </a:rPr>
              <a:t>  - Potenciômetros</a:t>
            </a:r>
            <a:endParaRPr lang="en-US" sz="1300" dirty="0"/>
          </a:p>
          <a:p>
            <a:pPr indent="0" marL="0">
              <a:buNone/>
            </a:pPr>
            <a:r>
              <a:rPr lang="en-US" sz="1300" dirty="0">
                <a:solidFill>
                  <a:srgbClr val="0D47A1"/>
                </a:solidFill>
              </a:rPr>
              <a:t>  - Sensores de temperatura</a:t>
            </a:r>
            <a:endParaRPr lang="en-US" sz="1300" dirty="0"/>
          </a:p>
          <a:p>
            <a:pPr indent="0" marL="0">
              <a:buNone/>
            </a:pPr>
            <a:r>
              <a:rPr lang="en-US" sz="1300" dirty="0">
                <a:solidFill>
                  <a:srgbClr val="0D47A1"/>
                </a:solidFill>
              </a:rPr>
              <a:t>  - Sensores de luz (LDR)</a:t>
            </a:r>
            <a:endParaRPr lang="en-US" sz="1300" dirty="0"/>
          </a:p>
          <a:p>
            <a:pPr indent="0" marL="0">
              <a:buNone/>
            </a:pPr>
            <a:r>
              <a:rPr lang="en-US" sz="1300" dirty="0">
                <a:solidFill>
                  <a:srgbClr val="0D47A1"/>
                </a:solidFill>
              </a:rPr>
              <a:t>  - Microfones</a:t>
            </a:r>
            <a:endParaRPr lang="en-US" sz="1300" dirty="0"/>
          </a:p>
        </p:txBody>
      </p:sp>
      <p:sp>
        <p:nvSpPr>
          <p:cNvPr id="11" name="Shape 9"/>
          <p:cNvSpPr/>
          <p:nvPr/>
        </p:nvSpPr>
        <p:spPr>
          <a:xfrm>
            <a:off x="4663440" y="1143000"/>
            <a:ext cx="4114800" cy="3429000"/>
          </a:xfrm>
          <a:prstGeom prst="rect">
            <a:avLst/>
          </a:prstGeom>
          <a:solidFill>
            <a:srgbClr val="FFF8E1"/>
          </a:solidFill>
          <a:ln w="12700">
            <a:solidFill>
              <a:srgbClr val="F9A825"/>
            </a:solidFill>
            <a:prstDash val="solid"/>
          </a:ln>
        </p:spPr>
      </p:sp>
      <p:sp>
        <p:nvSpPr>
          <p:cNvPr id="12" name="Shape 10"/>
          <p:cNvSpPr/>
          <p:nvPr/>
        </p:nvSpPr>
        <p:spPr>
          <a:xfrm>
            <a:off x="4663440" y="1143000"/>
            <a:ext cx="4114800" cy="457200"/>
          </a:xfrm>
          <a:prstGeom prst="rect">
            <a:avLst/>
          </a:prstGeom>
          <a:solidFill>
            <a:srgbClr val="F57F17"/>
          </a:solidFill>
          <a:ln w="12700">
            <a:solidFill>
              <a:srgbClr val="F57F17"/>
            </a:solidFill>
            <a:prstDash val="solid"/>
          </a:ln>
        </p:spPr>
      </p:sp>
      <p:sp>
        <p:nvSpPr>
          <p:cNvPr id="13" name="Text 11"/>
          <p:cNvSpPr/>
          <p:nvPr/>
        </p:nvSpPr>
        <p:spPr>
          <a:xfrm>
            <a:off x="4754880" y="1143000"/>
            <a:ext cx="3931920" cy="457200"/>
          </a:xfrm>
          <a:prstGeom prst="rect">
            <a:avLst/>
          </a:prstGeom>
          <a:noFill/>
          <a:ln/>
        </p:spPr>
        <p:txBody>
          <a:bodyPr wrap="square" rtlCol="0" anchor="ctr"/>
          <a:lstStyle/>
          <a:p>
            <a:pPr indent="0" marL="0">
              <a:buNone/>
            </a:pPr>
            <a:r>
              <a:rPr lang="en-US" sz="1300" b="1" dirty="0">
                <a:solidFill>
                  <a:srgbClr val="FFFFFF"/>
                </a:solidFill>
              </a:rPr>
              <a:t>PWM — Saída Analógica</a:t>
            </a:r>
            <a:endParaRPr lang="en-US" sz="1300" dirty="0"/>
          </a:p>
        </p:txBody>
      </p:sp>
      <p:sp>
        <p:nvSpPr>
          <p:cNvPr id="14" name="Text 12"/>
          <p:cNvSpPr/>
          <p:nvPr/>
        </p:nvSpPr>
        <p:spPr>
          <a:xfrm>
            <a:off x="4754880" y="1691640"/>
            <a:ext cx="3840480" cy="2743200"/>
          </a:xfrm>
          <a:prstGeom prst="rect">
            <a:avLst/>
          </a:prstGeom>
          <a:noFill/>
          <a:ln/>
        </p:spPr>
        <p:txBody>
          <a:bodyPr wrap="square" rtlCol="0" anchor="ctr"/>
          <a:lstStyle/>
          <a:p>
            <a:pPr indent="0" marL="0">
              <a:buNone/>
            </a:pPr>
            <a:r>
              <a:rPr lang="en-US" sz="1300" dirty="0">
                <a:solidFill>
                  <a:srgbClr val="5D4037"/>
                </a:solidFill>
              </a:rPr>
              <a:t>• Pinos marcados com ~ (til)</a:t>
            </a:r>
            <a:endParaRPr lang="en-US" sz="1300" dirty="0"/>
          </a:p>
          <a:p>
            <a:pPr indent="0" marL="0">
              <a:buNone/>
            </a:pPr>
            <a:r>
              <a:rPr lang="en-US" sz="1300" dirty="0">
                <a:solidFill>
                  <a:srgbClr val="5D4037"/>
                </a:solidFill>
              </a:rPr>
              <a:t>• Pinos: 3, 5, 6, 9, 10, 11</a:t>
            </a:r>
            <a:endParaRPr lang="en-US" sz="1300" dirty="0"/>
          </a:p>
          <a:p>
            <a:pPr indent="0" marL="0">
              <a:buNone/>
            </a:pPr>
            <a:r>
              <a:rPr lang="en-US" sz="1300" dirty="0">
                <a:solidFill>
                  <a:srgbClr val="5D4037"/>
                </a:solidFill>
              </a:rPr>
              <a:t>• analogWrite(pino, 0–255)</a:t>
            </a:r>
            <a:endParaRPr lang="en-US" sz="1300" dirty="0"/>
          </a:p>
          <a:p>
            <a:pPr indent="0" marL="0">
              <a:buNone/>
            </a:pPr>
            <a:r>
              <a:rPr lang="en-US" sz="1300" dirty="0">
                <a:solidFill>
                  <a:srgbClr val="5D4037"/>
                </a:solidFill>
              </a:rPr>
              <a:t>• Simula saída analógica</a:t>
            </a:r>
            <a:endParaRPr lang="en-US" sz="1300" dirty="0"/>
          </a:p>
          <a:p>
            <a:pPr indent="0" marL="0">
              <a:buNone/>
            </a:pPr>
            <a:r>
              <a:rPr lang="en-US" sz="1300" dirty="0">
                <a:solidFill>
                  <a:srgbClr val="5D4037"/>
                </a:solidFill>
              </a:rPr>
              <a:t>• Aplicações:</a:t>
            </a:r>
            <a:endParaRPr lang="en-US" sz="1300" dirty="0"/>
          </a:p>
          <a:p>
            <a:pPr indent="0" marL="0">
              <a:buNone/>
            </a:pPr>
            <a:r>
              <a:rPr lang="en-US" sz="1300" dirty="0">
                <a:solidFill>
                  <a:srgbClr val="5D4037"/>
                </a:solidFill>
              </a:rPr>
              <a:t>  - Controle de brilho de LED</a:t>
            </a:r>
            <a:endParaRPr lang="en-US" sz="1300" dirty="0"/>
          </a:p>
          <a:p>
            <a:pPr indent="0" marL="0">
              <a:buNone/>
            </a:pPr>
            <a:r>
              <a:rPr lang="en-US" sz="1300" dirty="0">
                <a:solidFill>
                  <a:srgbClr val="5D4037"/>
                </a:solidFill>
              </a:rPr>
              <a:t>  - Velocidade de motor DC</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Comunicação Serial</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640080"/>
          </a:xfrm>
          <a:prstGeom prst="rect">
            <a:avLst/>
          </a:prstGeom>
          <a:noFill/>
          <a:ln/>
        </p:spPr>
        <p:txBody>
          <a:bodyPr wrap="square" rtlCol="0" anchor="ctr"/>
          <a:lstStyle/>
          <a:p>
            <a:pPr indent="0" marL="0">
              <a:buNone/>
            </a:pPr>
            <a:r>
              <a:rPr lang="en-US" sz="1300" dirty="0">
                <a:solidFill>
                  <a:srgbClr val="1565C0"/>
                </a:solidFill>
              </a:rPr>
              <a:t>A comunicação serial permite que o Arduino troque dados com o computador via USB. É muito útil para depuração e monitoramento em tempo real.</a:t>
            </a:r>
            <a:endParaRPr lang="en-US" sz="1300" dirty="0"/>
          </a:p>
        </p:txBody>
      </p:sp>
      <p:sp>
        <p:nvSpPr>
          <p:cNvPr id="8" name="Shape 6"/>
          <p:cNvSpPr/>
          <p:nvPr/>
        </p:nvSpPr>
        <p:spPr>
          <a:xfrm>
            <a:off x="365760" y="1874520"/>
            <a:ext cx="8412480" cy="2788920"/>
          </a:xfrm>
          <a:prstGeom prst="rect">
            <a:avLst/>
          </a:prstGeom>
          <a:solidFill>
            <a:srgbClr val="1E1E1E"/>
          </a:solidFill>
          <a:ln w="12700">
            <a:solidFill>
              <a:srgbClr val="333333"/>
            </a:solidFill>
            <a:prstDash val="solid"/>
          </a:ln>
        </p:spPr>
      </p:sp>
      <p:sp>
        <p:nvSpPr>
          <p:cNvPr id="9" name="Text 7"/>
          <p:cNvSpPr/>
          <p:nvPr/>
        </p:nvSpPr>
        <p:spPr>
          <a:xfrm>
            <a:off x="548640" y="1965960"/>
            <a:ext cx="8138160" cy="2606040"/>
          </a:xfrm>
          <a:prstGeom prst="rect">
            <a:avLst/>
          </a:prstGeom>
          <a:noFill/>
          <a:ln/>
        </p:spPr>
        <p:txBody>
          <a:bodyPr wrap="square" rtlCol="0" anchor="t"/>
          <a:lstStyle/>
          <a:p>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setup() {
</a:t>
            </a:r>
            <a:pPr indent="0" marL="0">
              <a:buNone/>
            </a:pPr>
            <a:r>
              <a:rPr lang="en-US" sz="1300" dirty="0">
                <a:solidFill>
                  <a:srgbClr val="DCDCAA"/>
                </a:solidFill>
                <a:latin typeface="Consolas" pitchFamily="34" charset="0"/>
                <a:ea typeface="Consolas" pitchFamily="34" charset="-122"/>
                <a:cs typeface="Consolas" pitchFamily="34" charset="-120"/>
              </a:rPr>
              <a:t>  Serial.begin(9600);  </a:t>
            </a:r>
            <a:pPr indent="0" marL="0">
              <a:buNone/>
            </a:pPr>
            <a:r>
              <a:rPr lang="en-US" sz="1300" dirty="0">
                <a:solidFill>
                  <a:srgbClr val="6A9955"/>
                </a:solidFill>
                <a:latin typeface="Consolas" pitchFamily="34" charset="0"/>
                <a:ea typeface="Consolas" pitchFamily="34" charset="-122"/>
                <a:cs typeface="Consolas" pitchFamily="34" charset="-120"/>
              </a:rPr>
              <a:t>// Inicia com 9600 baud
}
</a:t>
            </a:r>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loop() {
</a:t>
            </a:r>
            <a:pPr indent="0" marL="0">
              <a:buNone/>
            </a:pPr>
            <a:r>
              <a:rPr lang="en-US" sz="1300" dirty="0">
                <a:solidFill>
                  <a:srgbClr val="4EC9B0"/>
                </a:solidFill>
                <a:latin typeface="Consolas" pitchFamily="34" charset="0"/>
                <a:ea typeface="Consolas" pitchFamily="34" charset="-122"/>
                <a:cs typeface="Consolas" pitchFamily="34" charset="-120"/>
              </a:rPr>
              <a:t>  int </a:t>
            </a:r>
            <a:pPr indent="0" marL="0">
              <a:buNone/>
            </a:pPr>
            <a:r>
              <a:rPr lang="en-US" sz="1300" dirty="0">
                <a:solidFill>
                  <a:srgbClr val="D4D4D4"/>
                </a:solidFill>
                <a:latin typeface="Consolas" pitchFamily="34" charset="0"/>
                <a:ea typeface="Consolas" pitchFamily="34" charset="-122"/>
                <a:cs typeface="Consolas" pitchFamily="34" charset="-120"/>
              </a:rPr>
              <a:t>sensor = analogRead(A0);
</a:t>
            </a:r>
            <a:pPr indent="0" marL="0">
              <a:buNone/>
            </a:pPr>
            <a:r>
              <a:rPr lang="en-US" sz="1300" dirty="0">
                <a:solidFill>
                  <a:srgbClr val="DCDCAA"/>
                </a:solidFill>
                <a:latin typeface="Consolas" pitchFamily="34" charset="0"/>
                <a:ea typeface="Consolas" pitchFamily="34" charset="-122"/>
                <a:cs typeface="Consolas" pitchFamily="34" charset="-120"/>
              </a:rPr>
              <a:t>  Serial.print(</a:t>
            </a:r>
            <a:pPr indent="0" marL="0">
              <a:buNone/>
            </a:pPr>
            <a:r>
              <a:rPr lang="en-US" sz="1300" dirty="0">
                <a:solidFill>
                  <a:srgbClr val="CE9178"/>
                </a:solidFill>
                <a:latin typeface="Consolas" pitchFamily="34" charset="0"/>
                <a:ea typeface="Consolas" pitchFamily="34" charset="-122"/>
                <a:cs typeface="Consolas" pitchFamily="34" charset="-120"/>
              </a:rPr>
              <a:t>"Leitura: "</a:t>
            </a:r>
            <a:pPr indent="0" marL="0">
              <a:buNone/>
            </a:pPr>
            <a:r>
              <a:rPr lang="en-US" sz="1300" dirty="0">
                <a:solidFill>
                  <a:srgbClr val="D4D4D4"/>
                </a:solidFill>
                <a:latin typeface="Consolas" pitchFamily="34" charset="0"/>
                <a:ea typeface="Consolas" pitchFamily="34" charset="-122"/>
                <a:cs typeface="Consolas" pitchFamily="34" charset="-120"/>
              </a:rPr>
              <a:t>);  Serial.println(sensor);
</a:t>
            </a:r>
            <a:pPr indent="0" marL="0">
              <a:buNone/>
            </a:pPr>
            <a:r>
              <a:rPr lang="en-US" sz="1300" dirty="0">
                <a:solidFill>
                  <a:srgbClr val="D4D4D4"/>
                </a:solidFill>
                <a:latin typeface="Consolas" pitchFamily="34" charset="0"/>
                <a:ea typeface="Consolas" pitchFamily="34" charset="-122"/>
                <a:cs typeface="Consolas" pitchFamily="34" charset="-120"/>
              </a:rPr>
              <a:t>  delay(500);</a:t>
            </a:r>
            <a:endParaRPr lang="en-US" sz="1300" dirty="0"/>
          </a:p>
          <a:p>
            <a:pPr indent="0" marL="0">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Bibliotecas no Arduino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640080"/>
          </a:xfrm>
          <a:prstGeom prst="rect">
            <a:avLst/>
          </a:prstGeom>
          <a:noFill/>
          <a:ln/>
        </p:spPr>
        <p:txBody>
          <a:bodyPr wrap="square" rtlCol="0" anchor="ctr"/>
          <a:lstStyle/>
          <a:p>
            <a:pPr indent="0" marL="0">
              <a:buNone/>
            </a:pPr>
            <a:r>
              <a:rPr lang="en-US" sz="1300" dirty="0">
                <a:solidFill>
                  <a:srgbClr val="1565C0"/>
                </a:solidFill>
              </a:rPr>
              <a:t>Bibliotecas são conjuntos de funções prontas que facilitam o uso de componentes e módulos. Você pode incluí-las com a diretiva #include.</a:t>
            </a:r>
            <a:endParaRPr lang="en-US" sz="1300" dirty="0"/>
          </a:p>
        </p:txBody>
      </p:sp>
      <p:sp>
        <p:nvSpPr>
          <p:cNvPr id="8" name="Shape 6"/>
          <p:cNvSpPr/>
          <p:nvPr/>
        </p:nvSpPr>
        <p:spPr>
          <a:xfrm>
            <a:off x="365760" y="1920240"/>
            <a:ext cx="4114800" cy="594360"/>
          </a:xfrm>
          <a:prstGeom prst="rect">
            <a:avLst/>
          </a:prstGeom>
          <a:solidFill>
            <a:srgbClr val="E3F2FD"/>
          </a:solidFill>
          <a:ln w="12700">
            <a:solidFill>
              <a:srgbClr val="2196F3"/>
            </a:solidFill>
            <a:prstDash val="solid"/>
          </a:ln>
        </p:spPr>
      </p:sp>
      <p:sp>
        <p:nvSpPr>
          <p:cNvPr id="9" name="Text 7"/>
          <p:cNvSpPr/>
          <p:nvPr/>
        </p:nvSpPr>
        <p:spPr>
          <a:xfrm>
            <a:off x="502920" y="192024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&lt;Servo.h&gt;</a:t>
            </a:r>
            <a:endParaRPr lang="en-US" sz="1200" dirty="0"/>
          </a:p>
        </p:txBody>
      </p:sp>
      <p:sp>
        <p:nvSpPr>
          <p:cNvPr id="10" name="Text 8"/>
          <p:cNvSpPr/>
          <p:nvPr/>
        </p:nvSpPr>
        <p:spPr>
          <a:xfrm>
            <a:off x="2651760" y="1920240"/>
            <a:ext cx="1920240" cy="594360"/>
          </a:xfrm>
          <a:prstGeom prst="rect">
            <a:avLst/>
          </a:prstGeom>
          <a:noFill/>
          <a:ln/>
        </p:spPr>
        <p:txBody>
          <a:bodyPr wrap="square" rtlCol="0" anchor="ctr"/>
          <a:lstStyle/>
          <a:p>
            <a:pPr indent="0" marL="0">
              <a:buNone/>
            </a:pPr>
            <a:r>
              <a:rPr lang="en-US" sz="1200" dirty="0">
                <a:solidFill>
                  <a:srgbClr val="546E7A"/>
                </a:solidFill>
              </a:rPr>
              <a:t>Controle de servomotores</a:t>
            </a:r>
            <a:endParaRPr lang="en-US" sz="1200" dirty="0"/>
          </a:p>
        </p:txBody>
      </p:sp>
      <p:sp>
        <p:nvSpPr>
          <p:cNvPr id="11" name="Shape 9"/>
          <p:cNvSpPr/>
          <p:nvPr/>
        </p:nvSpPr>
        <p:spPr>
          <a:xfrm>
            <a:off x="4754880" y="1920240"/>
            <a:ext cx="4114800" cy="594360"/>
          </a:xfrm>
          <a:prstGeom prst="rect">
            <a:avLst/>
          </a:prstGeom>
          <a:solidFill>
            <a:srgbClr val="E3F2FD"/>
          </a:solidFill>
          <a:ln w="12700">
            <a:solidFill>
              <a:srgbClr val="2196F3"/>
            </a:solidFill>
            <a:prstDash val="solid"/>
          </a:ln>
        </p:spPr>
      </p:sp>
      <p:sp>
        <p:nvSpPr>
          <p:cNvPr id="12" name="Text 10"/>
          <p:cNvSpPr/>
          <p:nvPr/>
        </p:nvSpPr>
        <p:spPr>
          <a:xfrm>
            <a:off x="4892040" y="192024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&lt;Wire.h&gt;</a:t>
            </a:r>
            <a:endParaRPr lang="en-US" sz="1200" dirty="0"/>
          </a:p>
        </p:txBody>
      </p:sp>
      <p:sp>
        <p:nvSpPr>
          <p:cNvPr id="13" name="Text 11"/>
          <p:cNvSpPr/>
          <p:nvPr/>
        </p:nvSpPr>
        <p:spPr>
          <a:xfrm>
            <a:off x="7040880" y="1920240"/>
            <a:ext cx="1920240" cy="594360"/>
          </a:xfrm>
          <a:prstGeom prst="rect">
            <a:avLst/>
          </a:prstGeom>
          <a:noFill/>
          <a:ln/>
        </p:spPr>
        <p:txBody>
          <a:bodyPr wrap="square" rtlCol="0" anchor="ctr"/>
          <a:lstStyle/>
          <a:p>
            <a:pPr indent="0" marL="0">
              <a:buNone/>
            </a:pPr>
            <a:r>
              <a:rPr lang="en-US" sz="1200" dirty="0">
                <a:solidFill>
                  <a:srgbClr val="546E7A"/>
                </a:solidFill>
              </a:rPr>
              <a:t>Protocolo I²C</a:t>
            </a:r>
            <a:endParaRPr lang="en-US" sz="1200" dirty="0"/>
          </a:p>
        </p:txBody>
      </p:sp>
      <p:sp>
        <p:nvSpPr>
          <p:cNvPr id="14" name="Shape 12"/>
          <p:cNvSpPr/>
          <p:nvPr/>
        </p:nvSpPr>
        <p:spPr>
          <a:xfrm>
            <a:off x="365760" y="2651760"/>
            <a:ext cx="4114800" cy="594360"/>
          </a:xfrm>
          <a:prstGeom prst="rect">
            <a:avLst/>
          </a:prstGeom>
          <a:solidFill>
            <a:srgbClr val="F5F5F5"/>
          </a:solidFill>
          <a:ln w="12700">
            <a:solidFill>
              <a:srgbClr val="2196F3"/>
            </a:solidFill>
            <a:prstDash val="solid"/>
          </a:ln>
        </p:spPr>
      </p:sp>
      <p:sp>
        <p:nvSpPr>
          <p:cNvPr id="15" name="Text 13"/>
          <p:cNvSpPr/>
          <p:nvPr/>
        </p:nvSpPr>
        <p:spPr>
          <a:xfrm>
            <a:off x="502920" y="265176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&lt;SPI.h&gt;</a:t>
            </a:r>
            <a:endParaRPr lang="en-US" sz="1200" dirty="0"/>
          </a:p>
        </p:txBody>
      </p:sp>
      <p:sp>
        <p:nvSpPr>
          <p:cNvPr id="16" name="Text 14"/>
          <p:cNvSpPr/>
          <p:nvPr/>
        </p:nvSpPr>
        <p:spPr>
          <a:xfrm>
            <a:off x="2651760" y="2651760"/>
            <a:ext cx="1920240" cy="594360"/>
          </a:xfrm>
          <a:prstGeom prst="rect">
            <a:avLst/>
          </a:prstGeom>
          <a:noFill/>
          <a:ln/>
        </p:spPr>
        <p:txBody>
          <a:bodyPr wrap="square" rtlCol="0" anchor="ctr"/>
          <a:lstStyle/>
          <a:p>
            <a:pPr indent="0" marL="0">
              <a:buNone/>
            </a:pPr>
            <a:r>
              <a:rPr lang="en-US" sz="1200" dirty="0">
                <a:solidFill>
                  <a:srgbClr val="546E7A"/>
                </a:solidFill>
              </a:rPr>
              <a:t>Protocolo SPI</a:t>
            </a:r>
            <a:endParaRPr lang="en-US" sz="1200" dirty="0"/>
          </a:p>
        </p:txBody>
      </p:sp>
      <p:sp>
        <p:nvSpPr>
          <p:cNvPr id="17" name="Shape 15"/>
          <p:cNvSpPr/>
          <p:nvPr/>
        </p:nvSpPr>
        <p:spPr>
          <a:xfrm>
            <a:off x="4754880" y="2651760"/>
            <a:ext cx="4114800" cy="594360"/>
          </a:xfrm>
          <a:prstGeom prst="rect">
            <a:avLst/>
          </a:prstGeom>
          <a:solidFill>
            <a:srgbClr val="F5F5F5"/>
          </a:solidFill>
          <a:ln w="12700">
            <a:solidFill>
              <a:srgbClr val="2196F3"/>
            </a:solidFill>
            <a:prstDash val="solid"/>
          </a:ln>
        </p:spPr>
      </p:sp>
      <p:sp>
        <p:nvSpPr>
          <p:cNvPr id="18" name="Text 16"/>
          <p:cNvSpPr/>
          <p:nvPr/>
        </p:nvSpPr>
        <p:spPr>
          <a:xfrm>
            <a:off x="4892040" y="265176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&lt;SoftwareSerial.h&gt;</a:t>
            </a:r>
            <a:endParaRPr lang="en-US" sz="1200" dirty="0"/>
          </a:p>
        </p:txBody>
      </p:sp>
      <p:sp>
        <p:nvSpPr>
          <p:cNvPr id="19" name="Text 17"/>
          <p:cNvSpPr/>
          <p:nvPr/>
        </p:nvSpPr>
        <p:spPr>
          <a:xfrm>
            <a:off x="7040880" y="2651760"/>
            <a:ext cx="1920240" cy="594360"/>
          </a:xfrm>
          <a:prstGeom prst="rect">
            <a:avLst/>
          </a:prstGeom>
          <a:noFill/>
          <a:ln/>
        </p:spPr>
        <p:txBody>
          <a:bodyPr wrap="square" rtlCol="0" anchor="ctr"/>
          <a:lstStyle/>
          <a:p>
            <a:pPr indent="0" marL="0">
              <a:buNone/>
            </a:pPr>
            <a:r>
              <a:rPr lang="en-US" sz="1200" dirty="0">
                <a:solidFill>
                  <a:srgbClr val="546E7A"/>
                </a:solidFill>
              </a:rPr>
              <a:t>Serial por software</a:t>
            </a:r>
            <a:endParaRPr lang="en-US" sz="1200" dirty="0"/>
          </a:p>
        </p:txBody>
      </p:sp>
      <p:sp>
        <p:nvSpPr>
          <p:cNvPr id="20" name="Shape 18"/>
          <p:cNvSpPr/>
          <p:nvPr/>
        </p:nvSpPr>
        <p:spPr>
          <a:xfrm>
            <a:off x="365760" y="3383280"/>
            <a:ext cx="4114800" cy="594360"/>
          </a:xfrm>
          <a:prstGeom prst="rect">
            <a:avLst/>
          </a:prstGeom>
          <a:solidFill>
            <a:srgbClr val="E3F2FD"/>
          </a:solidFill>
          <a:ln w="12700">
            <a:solidFill>
              <a:srgbClr val="2196F3"/>
            </a:solidFill>
            <a:prstDash val="solid"/>
          </a:ln>
        </p:spPr>
      </p:sp>
      <p:sp>
        <p:nvSpPr>
          <p:cNvPr id="21" name="Text 19"/>
          <p:cNvSpPr/>
          <p:nvPr/>
        </p:nvSpPr>
        <p:spPr>
          <a:xfrm>
            <a:off x="502920" y="338328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&lt;LiquidCrystal.h&gt;</a:t>
            </a:r>
            <a:endParaRPr lang="en-US" sz="1200" dirty="0"/>
          </a:p>
        </p:txBody>
      </p:sp>
      <p:sp>
        <p:nvSpPr>
          <p:cNvPr id="22" name="Text 20"/>
          <p:cNvSpPr/>
          <p:nvPr/>
        </p:nvSpPr>
        <p:spPr>
          <a:xfrm>
            <a:off x="2651760" y="3383280"/>
            <a:ext cx="1920240" cy="594360"/>
          </a:xfrm>
          <a:prstGeom prst="rect">
            <a:avLst/>
          </a:prstGeom>
          <a:noFill/>
          <a:ln/>
        </p:spPr>
        <p:txBody>
          <a:bodyPr wrap="square" rtlCol="0" anchor="ctr"/>
          <a:lstStyle/>
          <a:p>
            <a:pPr indent="0" marL="0">
              <a:buNone/>
            </a:pPr>
            <a:r>
              <a:rPr lang="en-US" sz="1200" dirty="0">
                <a:solidFill>
                  <a:srgbClr val="546E7A"/>
                </a:solidFill>
              </a:rPr>
              <a:t>Display LCD</a:t>
            </a:r>
            <a:endParaRPr lang="en-US" sz="1200" dirty="0"/>
          </a:p>
        </p:txBody>
      </p:sp>
      <p:sp>
        <p:nvSpPr>
          <p:cNvPr id="23" name="Shape 21"/>
          <p:cNvSpPr/>
          <p:nvPr/>
        </p:nvSpPr>
        <p:spPr>
          <a:xfrm>
            <a:off x="4754880" y="3383280"/>
            <a:ext cx="4114800" cy="594360"/>
          </a:xfrm>
          <a:prstGeom prst="rect">
            <a:avLst/>
          </a:prstGeom>
          <a:solidFill>
            <a:srgbClr val="E3F2FD"/>
          </a:solidFill>
          <a:ln w="12700">
            <a:solidFill>
              <a:srgbClr val="2196F3"/>
            </a:solidFill>
            <a:prstDash val="solid"/>
          </a:ln>
        </p:spPr>
      </p:sp>
      <p:sp>
        <p:nvSpPr>
          <p:cNvPr id="24" name="Text 22"/>
          <p:cNvSpPr/>
          <p:nvPr/>
        </p:nvSpPr>
        <p:spPr>
          <a:xfrm>
            <a:off x="4892040" y="338328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&lt;DHT.h&gt;</a:t>
            </a:r>
            <a:endParaRPr lang="en-US" sz="1200" dirty="0"/>
          </a:p>
        </p:txBody>
      </p:sp>
      <p:sp>
        <p:nvSpPr>
          <p:cNvPr id="25" name="Text 23"/>
          <p:cNvSpPr/>
          <p:nvPr/>
        </p:nvSpPr>
        <p:spPr>
          <a:xfrm>
            <a:off x="7040880" y="3383280"/>
            <a:ext cx="1920240" cy="594360"/>
          </a:xfrm>
          <a:prstGeom prst="rect">
            <a:avLst/>
          </a:prstGeom>
          <a:noFill/>
          <a:ln/>
        </p:spPr>
        <p:txBody>
          <a:bodyPr wrap="square" rtlCol="0" anchor="ctr"/>
          <a:lstStyle/>
          <a:p>
            <a:pPr indent="0" marL="0">
              <a:buNone/>
            </a:pPr>
            <a:r>
              <a:rPr lang="en-US" sz="1200" dirty="0">
                <a:solidFill>
                  <a:srgbClr val="546E7A"/>
                </a:solidFill>
              </a:rPr>
              <a:t>Sensor de temp. e umidade</a:t>
            </a:r>
            <a:endParaRPr lang="en-US" sz="1200" dirty="0"/>
          </a:p>
        </p:txBody>
      </p:sp>
      <p:sp>
        <p:nvSpPr>
          <p:cNvPr id="26" name="Shape 24"/>
          <p:cNvSpPr/>
          <p:nvPr/>
        </p:nvSpPr>
        <p:spPr>
          <a:xfrm>
            <a:off x="365760" y="4114800"/>
            <a:ext cx="4114800" cy="594360"/>
          </a:xfrm>
          <a:prstGeom prst="rect">
            <a:avLst/>
          </a:prstGeom>
          <a:solidFill>
            <a:srgbClr val="F5F5F5"/>
          </a:solidFill>
          <a:ln w="12700">
            <a:solidFill>
              <a:srgbClr val="2196F3"/>
            </a:solidFill>
            <a:prstDash val="solid"/>
          </a:ln>
        </p:spPr>
      </p:sp>
      <p:sp>
        <p:nvSpPr>
          <p:cNvPr id="27" name="Text 25"/>
          <p:cNvSpPr/>
          <p:nvPr/>
        </p:nvSpPr>
        <p:spPr>
          <a:xfrm>
            <a:off x="502920" y="411480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&lt;Ethernet.h&gt;</a:t>
            </a:r>
            <a:endParaRPr lang="en-US" sz="1200" dirty="0"/>
          </a:p>
        </p:txBody>
      </p:sp>
      <p:sp>
        <p:nvSpPr>
          <p:cNvPr id="28" name="Text 26"/>
          <p:cNvSpPr/>
          <p:nvPr/>
        </p:nvSpPr>
        <p:spPr>
          <a:xfrm>
            <a:off x="2651760" y="4114800"/>
            <a:ext cx="1920240" cy="594360"/>
          </a:xfrm>
          <a:prstGeom prst="rect">
            <a:avLst/>
          </a:prstGeom>
          <a:noFill/>
          <a:ln/>
        </p:spPr>
        <p:txBody>
          <a:bodyPr wrap="square" rtlCol="0" anchor="ctr"/>
          <a:lstStyle/>
          <a:p>
            <a:pPr indent="0" marL="0">
              <a:buNone/>
            </a:pPr>
            <a:r>
              <a:rPr lang="en-US" sz="1200" dirty="0">
                <a:solidFill>
                  <a:srgbClr val="546E7A"/>
                </a:solidFill>
              </a:rPr>
              <a:t>Conexão Ethernet</a:t>
            </a:r>
            <a:endParaRPr lang="en-US" sz="1200" dirty="0"/>
          </a:p>
        </p:txBody>
      </p:sp>
      <p:sp>
        <p:nvSpPr>
          <p:cNvPr id="29" name="Shape 27"/>
          <p:cNvSpPr/>
          <p:nvPr/>
        </p:nvSpPr>
        <p:spPr>
          <a:xfrm>
            <a:off x="4754880" y="4114800"/>
            <a:ext cx="4114800" cy="594360"/>
          </a:xfrm>
          <a:prstGeom prst="rect">
            <a:avLst/>
          </a:prstGeom>
          <a:solidFill>
            <a:srgbClr val="F5F5F5"/>
          </a:solidFill>
          <a:ln w="12700">
            <a:solidFill>
              <a:srgbClr val="2196F3"/>
            </a:solidFill>
            <a:prstDash val="solid"/>
          </a:ln>
        </p:spPr>
      </p:sp>
      <p:sp>
        <p:nvSpPr>
          <p:cNvPr id="30" name="Text 28"/>
          <p:cNvSpPr/>
          <p:nvPr/>
        </p:nvSpPr>
        <p:spPr>
          <a:xfrm>
            <a:off x="4892040" y="4114800"/>
            <a:ext cx="2011680" cy="594360"/>
          </a:xfrm>
          <a:prstGeom prst="rect">
            <a:avLst/>
          </a:prstGeom>
          <a:noFill/>
          <a:ln/>
        </p:spPr>
        <p:txBody>
          <a:bodyPr wrap="square" rtlCol="0" anchor="ctr"/>
          <a:lstStyle/>
          <a:p>
            <a:pPr indent="0" marL="0">
              <a:buNone/>
            </a:pPr>
            <a:r>
              <a:rPr lang="en-US" sz="1200" dirty="0">
                <a:solidFill>
                  <a:srgbClr val="8B4513"/>
                </a:solidFill>
                <a:latin typeface="Consolas" pitchFamily="34" charset="0"/>
                <a:ea typeface="Consolas" pitchFamily="34" charset="-122"/>
                <a:cs typeface="Consolas" pitchFamily="34" charset="-120"/>
              </a:rPr>
              <a:t>#include &lt;WiFi.h&gt;</a:t>
            </a:r>
            <a:endParaRPr lang="en-US" sz="1200" dirty="0"/>
          </a:p>
        </p:txBody>
      </p:sp>
      <p:sp>
        <p:nvSpPr>
          <p:cNvPr id="31" name="Text 29"/>
          <p:cNvSpPr/>
          <p:nvPr/>
        </p:nvSpPr>
        <p:spPr>
          <a:xfrm>
            <a:off x="7040880" y="4114800"/>
            <a:ext cx="1920240" cy="594360"/>
          </a:xfrm>
          <a:prstGeom prst="rect">
            <a:avLst/>
          </a:prstGeom>
          <a:noFill/>
          <a:ln/>
        </p:spPr>
        <p:txBody>
          <a:bodyPr wrap="square" rtlCol="0" anchor="ctr"/>
          <a:lstStyle/>
          <a:p>
            <a:pPr indent="0" marL="0">
              <a:buNone/>
            </a:pPr>
            <a:r>
              <a:rPr lang="en-US" sz="1200" dirty="0">
                <a:solidFill>
                  <a:srgbClr val="546E7A"/>
                </a:solidFill>
              </a:rPr>
              <a:t>Conexão Wi-Fi</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Registradores — Baixo Nível Puro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914400"/>
          </a:xfrm>
          <a:prstGeom prst="rect">
            <a:avLst/>
          </a:prstGeom>
          <a:noFill/>
          <a:ln/>
        </p:spPr>
        <p:txBody>
          <a:bodyPr wrap="square" rtlCol="0" anchor="ctr"/>
          <a:lstStyle/>
          <a:p>
            <a:pPr indent="0" marL="0">
              <a:buNone/>
            </a:pPr>
            <a:r>
              <a:rPr lang="en-US" sz="1300" dirty="0">
                <a:solidFill>
                  <a:srgbClr val="1565C0"/>
                </a:solidFill>
              </a:rPr>
              <a:t>Uma das características de linguagens de baixo nível é o acesso direto a registradores do hardware. No Arduino (ATmega), é possível manipular pinos diretamente via registradores, o que é muito mais rápido que usar funções como digitalWrite().</a:t>
            </a:r>
            <a:endParaRPr lang="en-US" sz="1300" dirty="0"/>
          </a:p>
        </p:txBody>
      </p:sp>
      <p:sp>
        <p:nvSpPr>
          <p:cNvPr id="8" name="Shape 6"/>
          <p:cNvSpPr/>
          <p:nvPr/>
        </p:nvSpPr>
        <p:spPr>
          <a:xfrm>
            <a:off x="365760" y="2148840"/>
            <a:ext cx="8412480" cy="2514600"/>
          </a:xfrm>
          <a:prstGeom prst="rect">
            <a:avLst/>
          </a:prstGeom>
          <a:solidFill>
            <a:srgbClr val="1E1E1E"/>
          </a:solidFill>
          <a:ln w="12700">
            <a:solidFill>
              <a:srgbClr val="333333"/>
            </a:solidFill>
            <a:prstDash val="solid"/>
          </a:ln>
        </p:spPr>
      </p:sp>
      <p:sp>
        <p:nvSpPr>
          <p:cNvPr id="9" name="Text 7"/>
          <p:cNvSpPr/>
          <p:nvPr/>
        </p:nvSpPr>
        <p:spPr>
          <a:xfrm>
            <a:off x="548640" y="2240280"/>
            <a:ext cx="8138160" cy="2286000"/>
          </a:xfrm>
          <a:prstGeom prst="rect">
            <a:avLst/>
          </a:prstGeom>
          <a:noFill/>
          <a:ln/>
        </p:spPr>
        <p:txBody>
          <a:bodyPr wrap="square" rtlCol="0" anchor="t"/>
          <a:lstStyle/>
          <a:p>
            <a:pPr indent="0" marL="0">
              <a:buNone/>
            </a:pPr>
            <a:r>
              <a:rPr lang="en-US" sz="1300" dirty="0">
                <a:solidFill>
                  <a:srgbClr val="6A9955"/>
                </a:solidFill>
                <a:latin typeface="Consolas" pitchFamily="34" charset="0"/>
                <a:ea typeface="Consolas" pitchFamily="34" charset="-122"/>
                <a:cs typeface="Consolas" pitchFamily="34" charset="-120"/>
              </a:rPr>
              <a:t>// Via registrador (mais rápido — baixo nível)
</a:t>
            </a:r>
            <a:pPr indent="0" marL="0">
              <a:buNone/>
            </a:pPr>
            <a:r>
              <a:rPr lang="en-US" sz="1300" dirty="0">
                <a:solidFill>
                  <a:srgbClr val="D4D4D4"/>
                </a:solidFill>
                <a:latin typeface="Consolas" pitchFamily="34" charset="0"/>
                <a:ea typeface="Consolas" pitchFamily="34" charset="-122"/>
                <a:cs typeface="Consolas" pitchFamily="34" charset="-120"/>
              </a:rPr>
              <a:t>DDRB |= (1 &lt;&lt; PB5);   </a:t>
            </a:r>
            <a:pPr indent="0" marL="0">
              <a:buNone/>
            </a:pPr>
            <a:r>
              <a:rPr lang="en-US" sz="1300" dirty="0">
                <a:solidFill>
                  <a:srgbClr val="6A9955"/>
                </a:solidFill>
                <a:latin typeface="Consolas" pitchFamily="34" charset="0"/>
                <a:ea typeface="Consolas" pitchFamily="34" charset="-122"/>
                <a:cs typeface="Consolas" pitchFamily="34" charset="-120"/>
              </a:rPr>
              <a:t>// pino 13 como OUTPUT
</a:t>
            </a:r>
            <a:pPr indent="0" marL="0">
              <a:buNone/>
            </a:pPr>
            <a:r>
              <a:rPr lang="en-US" sz="1300" dirty="0">
                <a:solidFill>
                  <a:srgbClr val="D4D4D4"/>
                </a:solidFill>
                <a:latin typeface="Consolas" pitchFamily="34" charset="0"/>
                <a:ea typeface="Consolas" pitchFamily="34" charset="-122"/>
                <a:cs typeface="Consolas" pitchFamily="34" charset="-120"/>
              </a:rPr>
              <a:t>PORTB |= (1 &lt;&lt; PB5);  </a:t>
            </a:r>
            <a:pPr indent="0" marL="0">
              <a:buNone/>
            </a:pPr>
            <a:r>
              <a:rPr lang="en-US" sz="1300" dirty="0">
                <a:solidFill>
                  <a:srgbClr val="6A9955"/>
                </a:solidFill>
                <a:latin typeface="Consolas" pitchFamily="34" charset="0"/>
                <a:ea typeface="Consolas" pitchFamily="34" charset="-122"/>
                <a:cs typeface="Consolas" pitchFamily="34" charset="-120"/>
              </a:rPr>
              <a:t>// seta pino 13 em HIGH
</a:t>
            </a:r>
            <a:pPr indent="0" marL="0">
              <a:buNone/>
            </a:pPr>
            <a:r>
              <a:rPr lang="en-US" sz="1300" dirty="0">
                <a:solidFill>
                  <a:srgbClr val="D4D4D4"/>
                </a:solidFill>
                <a:latin typeface="Consolas" pitchFamily="34" charset="0"/>
                <a:ea typeface="Consolas" pitchFamily="34" charset="-122"/>
                <a:cs typeface="Consolas" pitchFamily="34" charset="-120"/>
              </a:rPr>
              <a:t>PORTB &amp;= ~(1 &lt;&lt; PB5); </a:t>
            </a:r>
            <a:pPr indent="0" marL="0">
              <a:buNone/>
            </a:pPr>
            <a:r>
              <a:rPr lang="en-US" sz="1300" dirty="0">
                <a:solidFill>
                  <a:srgbClr val="6A9955"/>
                </a:solidFill>
                <a:latin typeface="Consolas" pitchFamily="34" charset="0"/>
                <a:ea typeface="Consolas" pitchFamily="34" charset="-122"/>
                <a:cs typeface="Consolas" pitchFamily="34" charset="-120"/>
              </a:rPr>
              <a:t>// seta pino 13 em LOW
</a:t>
            </a:r>
            <a:pPr indent="0" marL="0">
              <a:buNone/>
            </a:pPr>
            <a:r>
              <a:rPr lang="en-US" sz="1300" dirty="0">
                <a:solidFill>
                  <a:srgbClr val="6A9955"/>
                </a:solidFill>
                <a:latin typeface="Consolas" pitchFamily="34" charset="0"/>
                <a:ea typeface="Consolas" pitchFamily="34" charset="-122"/>
                <a:cs typeface="Consolas" pitchFamily="34" charset="-120"/>
              </a:rPr>
              <a:t>// Equivalente de alto nível (mais lento)
</a:t>
            </a:r>
            <a:pPr indent="0" marL="0">
              <a:buNone/>
            </a:pPr>
            <a:r>
              <a:rPr lang="en-US" sz="1300" dirty="0">
                <a:solidFill>
                  <a:srgbClr val="D4D4D4"/>
                </a:solidFill>
                <a:latin typeface="Consolas" pitchFamily="34" charset="0"/>
                <a:ea typeface="Consolas" pitchFamily="34" charset="-122"/>
                <a:cs typeface="Consolas" pitchFamily="34" charset="-120"/>
              </a:rPr>
              <a:t>pinMode(13, OUTPUT); digitalWrite(13, HIGH);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Interrupções (Interrupts)</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914400"/>
          </a:xfrm>
          <a:prstGeom prst="rect">
            <a:avLst/>
          </a:prstGeom>
          <a:noFill/>
          <a:ln/>
        </p:spPr>
        <p:txBody>
          <a:bodyPr wrap="square" rtlCol="0" anchor="ctr"/>
          <a:lstStyle/>
          <a:p>
            <a:pPr indent="0" marL="0">
              <a:buNone/>
            </a:pPr>
            <a:r>
              <a:rPr lang="en-US" sz="1300" dirty="0">
                <a:solidFill>
                  <a:srgbClr val="1565C0"/>
                </a:solidFill>
              </a:rPr>
              <a:t>Interrupções permitem que o Arduino responda imediatamente a eventos externos sem precisar verificar continuamente no loop(). É um recurso típico de programação de baixo nível para sistemas embarcados em tempo real.</a:t>
            </a:r>
            <a:endParaRPr lang="en-US" sz="1300" dirty="0"/>
          </a:p>
        </p:txBody>
      </p:sp>
      <p:sp>
        <p:nvSpPr>
          <p:cNvPr id="8" name="Shape 6"/>
          <p:cNvSpPr/>
          <p:nvPr/>
        </p:nvSpPr>
        <p:spPr>
          <a:xfrm>
            <a:off x="365760" y="2148840"/>
            <a:ext cx="8412480" cy="2514600"/>
          </a:xfrm>
          <a:prstGeom prst="rect">
            <a:avLst/>
          </a:prstGeom>
          <a:solidFill>
            <a:srgbClr val="1E1E1E"/>
          </a:solidFill>
          <a:ln w="12700">
            <a:solidFill>
              <a:srgbClr val="333333"/>
            </a:solidFill>
            <a:prstDash val="solid"/>
          </a:ln>
        </p:spPr>
      </p:sp>
      <p:sp>
        <p:nvSpPr>
          <p:cNvPr id="9" name="Text 7"/>
          <p:cNvSpPr/>
          <p:nvPr/>
        </p:nvSpPr>
        <p:spPr>
          <a:xfrm>
            <a:off x="548640" y="2240280"/>
            <a:ext cx="8138160" cy="2286000"/>
          </a:xfrm>
          <a:prstGeom prst="rect">
            <a:avLst/>
          </a:prstGeom>
          <a:noFill/>
          <a:ln/>
        </p:spPr>
        <p:txBody>
          <a:bodyPr wrap="square" rtlCol="0" anchor="t"/>
          <a:lstStyle/>
          <a:p>
            <a:pPr indent="0" marL="0">
              <a:buNone/>
            </a:pPr>
            <a:r>
              <a:rPr lang="en-US" sz="1300" dirty="0">
                <a:solidFill>
                  <a:srgbClr val="4EC9B0"/>
                </a:solidFill>
                <a:latin typeface="Consolas" pitchFamily="34" charset="0"/>
                <a:ea typeface="Consolas" pitchFamily="34" charset="-122"/>
                <a:cs typeface="Consolas" pitchFamily="34" charset="-120"/>
              </a:rPr>
              <a:t>volatile bool </a:t>
            </a:r>
            <a:pPr indent="0" marL="0">
              <a:buNone/>
            </a:pPr>
            <a:r>
              <a:rPr lang="en-US" sz="1300" dirty="0">
                <a:solidFill>
                  <a:srgbClr val="D4D4D4"/>
                </a:solidFill>
                <a:latin typeface="Consolas" pitchFamily="34" charset="0"/>
                <a:ea typeface="Consolas" pitchFamily="34" charset="-122"/>
                <a:cs typeface="Consolas" pitchFamily="34" charset="-120"/>
              </a:rPr>
              <a:t>pressionado = false;
</a:t>
            </a:r>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isr() {          </a:t>
            </a:r>
            <a:pPr indent="0" marL="0">
              <a:buNone/>
            </a:pPr>
            <a:r>
              <a:rPr lang="en-US" sz="1300" dirty="0">
                <a:solidFill>
                  <a:srgbClr val="6A9955"/>
                </a:solidFill>
                <a:latin typeface="Consolas" pitchFamily="34" charset="0"/>
                <a:ea typeface="Consolas" pitchFamily="34" charset="-122"/>
                <a:cs typeface="Consolas" pitchFamily="34" charset="-120"/>
              </a:rPr>
              <a:t>// Função de interrupção
</a:t>
            </a:r>
            <a:pPr indent="0" marL="0">
              <a:buNone/>
            </a:pPr>
            <a:r>
              <a:rPr lang="en-US" sz="1300" dirty="0">
                <a:solidFill>
                  <a:srgbClr val="D4D4D4"/>
                </a:solidFill>
                <a:latin typeface="Consolas" pitchFamily="34" charset="0"/>
                <a:ea typeface="Consolas" pitchFamily="34" charset="-122"/>
                <a:cs typeface="Consolas" pitchFamily="34" charset="-120"/>
              </a:rPr>
              <a:t>  pressionado = true;
}
</a:t>
            </a:r>
            <a:pPr indent="0" marL="0">
              <a:buNone/>
            </a:pPr>
            <a:r>
              <a:rPr lang="en-US" sz="1300" b="1" dirty="0">
                <a:solidFill>
                  <a:srgbClr val="DCDCAA"/>
                </a:solidFill>
                <a:latin typeface="Consolas" pitchFamily="34" charset="0"/>
                <a:ea typeface="Consolas" pitchFamily="34" charset="-122"/>
                <a:cs typeface="Consolas" pitchFamily="34" charset="-120"/>
              </a:rPr>
              <a:t>void </a:t>
            </a:r>
            <a:pPr indent="0" marL="0">
              <a:buNone/>
            </a:pPr>
            <a:r>
              <a:rPr lang="en-US" sz="1300" dirty="0">
                <a:solidFill>
                  <a:srgbClr val="4EC9B0"/>
                </a:solidFill>
                <a:latin typeface="Consolas" pitchFamily="34" charset="0"/>
                <a:ea typeface="Consolas" pitchFamily="34" charset="-122"/>
                <a:cs typeface="Consolas" pitchFamily="34" charset="-120"/>
              </a:rPr>
              <a:t>setup() {
</a:t>
            </a:r>
            <a:pPr indent="0" marL="0">
              <a:buNone/>
            </a:pPr>
            <a:r>
              <a:rPr lang="en-US" sz="1300" dirty="0">
                <a:solidFill>
                  <a:srgbClr val="DCDCAA"/>
                </a:solidFill>
                <a:latin typeface="Consolas" pitchFamily="34" charset="0"/>
                <a:ea typeface="Consolas" pitchFamily="34" charset="-122"/>
                <a:cs typeface="Consolas" pitchFamily="34" charset="-120"/>
              </a:rPr>
              <a:t>  attachInterrupt(digitalPinToInterrupt(2), isr, FALLING);
</a:t>
            </a:r>
            <a:pPr indent="0" marL="0">
              <a:buNone/>
            </a:pPr>
            <a:r>
              <a:rPr lang="en-US" sz="1300" dirty="0">
                <a:solidFill>
                  <a:srgbClr val="4EC9B0"/>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Projeto Prático — Semáforo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5029200" cy="3520440"/>
          </a:xfrm>
          <a:prstGeom prst="rect">
            <a:avLst/>
          </a:prstGeom>
          <a:solidFill>
            <a:srgbClr val="1E1E1E"/>
          </a:solidFill>
          <a:ln w="12700">
            <a:solidFill>
              <a:srgbClr val="333333"/>
            </a:solidFill>
            <a:prstDash val="solid"/>
          </a:ln>
        </p:spPr>
      </p:sp>
      <p:sp>
        <p:nvSpPr>
          <p:cNvPr id="8" name="Text 6"/>
          <p:cNvSpPr/>
          <p:nvPr/>
        </p:nvSpPr>
        <p:spPr>
          <a:xfrm>
            <a:off x="502920" y="1234440"/>
            <a:ext cx="4846320" cy="3337560"/>
          </a:xfrm>
          <a:prstGeom prst="rect">
            <a:avLst/>
          </a:prstGeom>
          <a:noFill/>
          <a:ln/>
        </p:spPr>
        <p:txBody>
          <a:bodyPr wrap="square" rtlCol="0" anchor="t"/>
          <a:lstStyle/>
          <a:p>
            <a:pPr indent="0" marL="0">
              <a:buNone/>
            </a:pPr>
            <a:r>
              <a:rPr lang="en-US" sz="1200" dirty="0">
                <a:solidFill>
                  <a:srgbClr val="6A9955"/>
                </a:solidFill>
                <a:latin typeface="Consolas" pitchFamily="34" charset="0"/>
                <a:ea typeface="Consolas" pitchFamily="34" charset="-122"/>
                <a:cs typeface="Consolas" pitchFamily="34" charset="-120"/>
              </a:rPr>
              <a:t>// Semáforo simples
</a:t>
            </a:r>
            <a:pPr indent="0" marL="0">
              <a:buNone/>
            </a:pPr>
            <a:r>
              <a:rPr lang="en-US" sz="1200" dirty="0">
                <a:solidFill>
                  <a:srgbClr val="4EC9B0"/>
                </a:solidFill>
                <a:latin typeface="Consolas" pitchFamily="34" charset="0"/>
                <a:ea typeface="Consolas" pitchFamily="34" charset="-122"/>
                <a:cs typeface="Consolas" pitchFamily="34" charset="-120"/>
              </a:rPr>
              <a:t>int </a:t>
            </a:r>
            <a:pPr indent="0" marL="0">
              <a:buNone/>
            </a:pPr>
            <a:r>
              <a:rPr lang="en-US" sz="1200" dirty="0">
                <a:solidFill>
                  <a:srgbClr val="D4D4D4"/>
                </a:solidFill>
                <a:latin typeface="Consolas" pitchFamily="34" charset="0"/>
                <a:ea typeface="Consolas" pitchFamily="34" charset="-122"/>
                <a:cs typeface="Consolas" pitchFamily="34" charset="-120"/>
              </a:rPr>
              <a:t>vermelho=11, amarelo=10, verde=9;
</a:t>
            </a:r>
            <a:pPr indent="0" marL="0">
              <a:buNone/>
            </a:pPr>
            <a:r>
              <a:rPr lang="en-US" sz="1200" b="1" dirty="0">
                <a:solidFill>
                  <a:srgbClr val="DCDCAA"/>
                </a:solidFill>
                <a:latin typeface="Consolas" pitchFamily="34" charset="0"/>
                <a:ea typeface="Consolas" pitchFamily="34" charset="-122"/>
                <a:cs typeface="Consolas" pitchFamily="34" charset="-120"/>
              </a:rPr>
              <a:t>void </a:t>
            </a:r>
            <a:pPr indent="0" marL="0">
              <a:buNone/>
            </a:pPr>
            <a:r>
              <a:rPr lang="en-US" sz="1200" dirty="0">
                <a:solidFill>
                  <a:srgbClr val="4EC9B0"/>
                </a:solidFill>
                <a:latin typeface="Consolas" pitchFamily="34" charset="0"/>
                <a:ea typeface="Consolas" pitchFamily="34" charset="-122"/>
                <a:cs typeface="Consolas" pitchFamily="34" charset="-120"/>
              </a:rPr>
              <a:t>setup() {
</a:t>
            </a:r>
            <a:pPr indent="0" marL="0">
              <a:buNone/>
            </a:pPr>
            <a:r>
              <a:rPr lang="en-US" sz="1200" dirty="0">
                <a:solidFill>
                  <a:srgbClr val="D4D4D4"/>
                </a:solidFill>
                <a:latin typeface="Consolas" pitchFamily="34" charset="0"/>
                <a:ea typeface="Consolas" pitchFamily="34" charset="-122"/>
                <a:cs typeface="Consolas" pitchFamily="34" charset="-120"/>
              </a:rPr>
              <a:t>  pinMode(vermelho, OUTPUT);
  pinMode(amarelo, OUTPUT);
  pinMode(verde, OUTPUT);
}
</a:t>
            </a:r>
            <a:pPr indent="0" marL="0">
              <a:buNone/>
            </a:pPr>
            <a:r>
              <a:rPr lang="en-US" sz="1200" b="1" dirty="0">
                <a:solidFill>
                  <a:srgbClr val="DCDCAA"/>
                </a:solidFill>
                <a:latin typeface="Consolas" pitchFamily="34" charset="0"/>
                <a:ea typeface="Consolas" pitchFamily="34" charset="-122"/>
                <a:cs typeface="Consolas" pitchFamily="34" charset="-120"/>
              </a:rPr>
              <a:t>void </a:t>
            </a:r>
            <a:pPr indent="0" marL="0">
              <a:buNone/>
            </a:pPr>
            <a:r>
              <a:rPr lang="en-US" sz="1200" dirty="0">
                <a:solidFill>
                  <a:srgbClr val="4EC9B0"/>
                </a:solidFill>
                <a:latin typeface="Consolas" pitchFamily="34" charset="0"/>
                <a:ea typeface="Consolas" pitchFamily="34" charset="-122"/>
                <a:cs typeface="Consolas" pitchFamily="34" charset="-120"/>
              </a:rPr>
              <a:t>loop() {
</a:t>
            </a:r>
            <a:pPr indent="0" marL="0">
              <a:buNone/>
            </a:pPr>
            <a:r>
              <a:rPr lang="en-US" sz="1200" dirty="0">
                <a:solidFill>
                  <a:srgbClr val="D4D4D4"/>
                </a:solidFill>
                <a:latin typeface="Consolas" pitchFamily="34" charset="0"/>
                <a:ea typeface="Consolas" pitchFamily="34" charset="-122"/>
                <a:cs typeface="Consolas" pitchFamily="34" charset="-120"/>
              </a:rPr>
              <a:t>  digitalWrite(vermelho, HIGH);</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delay(3000);</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digitalWrite(vermelho, LOW);</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digitalWrite(amarelo, HIGH);</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delay(1000);</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digitalWrite(amarelo, LOW);</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digitalWrite(verde, HIGH);</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delay(3000);</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digitalWrite(verde, LOW);</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
        <p:nvSpPr>
          <p:cNvPr id="9" name="Shape 7"/>
          <p:cNvSpPr/>
          <p:nvPr/>
        </p:nvSpPr>
        <p:spPr>
          <a:xfrm>
            <a:off x="5577840" y="1143000"/>
            <a:ext cx="3200400" cy="3520440"/>
          </a:xfrm>
          <a:prstGeom prst="rect">
            <a:avLst/>
          </a:prstGeom>
          <a:solidFill>
            <a:srgbClr val="212121"/>
          </a:solidFill>
          <a:ln w="12700">
            <a:solidFill>
              <a:srgbClr val="333333"/>
            </a:solidFill>
            <a:prstDash val="solid"/>
          </a:ln>
        </p:spPr>
      </p:sp>
      <p:sp>
        <p:nvSpPr>
          <p:cNvPr id="10" name="Shape 8"/>
          <p:cNvSpPr/>
          <p:nvPr/>
        </p:nvSpPr>
        <p:spPr>
          <a:xfrm>
            <a:off x="6217920" y="1417320"/>
            <a:ext cx="1828800" cy="914400"/>
          </a:xfrm>
          <a:prstGeom prst="ellipse">
            <a:avLst/>
          </a:prstGeom>
          <a:solidFill>
            <a:srgbClr val="F44336"/>
          </a:solidFill>
          <a:ln w="12700">
            <a:solidFill>
              <a:srgbClr val="B71C1C"/>
            </a:solidFill>
            <a:prstDash val="solid"/>
          </a:ln>
        </p:spPr>
      </p:sp>
      <p:sp>
        <p:nvSpPr>
          <p:cNvPr id="11" name="Shape 9"/>
          <p:cNvSpPr/>
          <p:nvPr/>
        </p:nvSpPr>
        <p:spPr>
          <a:xfrm>
            <a:off x="6217920" y="2468880"/>
            <a:ext cx="1828800" cy="914400"/>
          </a:xfrm>
          <a:prstGeom prst="ellipse">
            <a:avLst/>
          </a:prstGeom>
          <a:solidFill>
            <a:srgbClr val="363636"/>
          </a:solidFill>
          <a:ln w="12700">
            <a:solidFill>
              <a:srgbClr val="888888"/>
            </a:solidFill>
            <a:prstDash val="solid"/>
          </a:ln>
        </p:spPr>
      </p:sp>
      <p:sp>
        <p:nvSpPr>
          <p:cNvPr id="12" name="Shape 10"/>
          <p:cNvSpPr/>
          <p:nvPr/>
        </p:nvSpPr>
        <p:spPr>
          <a:xfrm>
            <a:off x="6217920" y="3520440"/>
            <a:ext cx="1828800" cy="914400"/>
          </a:xfrm>
          <a:prstGeom prst="ellipse">
            <a:avLst/>
          </a:prstGeom>
          <a:solidFill>
            <a:srgbClr val="363636"/>
          </a:solidFill>
          <a:ln w="12700">
            <a:solidFill>
              <a:srgbClr val="888888"/>
            </a:solidFill>
            <a:prstDash val="solid"/>
          </a:ln>
        </p:spPr>
      </p:sp>
      <p:sp>
        <p:nvSpPr>
          <p:cNvPr id="13" name="Text 11"/>
          <p:cNvSpPr/>
          <p:nvPr/>
        </p:nvSpPr>
        <p:spPr>
          <a:xfrm>
            <a:off x="6217920" y="1417320"/>
            <a:ext cx="1828800" cy="914400"/>
          </a:xfrm>
          <a:prstGeom prst="rect">
            <a:avLst/>
          </a:prstGeom>
          <a:noFill/>
          <a:ln/>
        </p:spPr>
        <p:txBody>
          <a:bodyPr wrap="square" rtlCol="0" anchor="ctr"/>
          <a:lstStyle/>
          <a:p>
            <a:pPr algn="ctr" indent="0" marL="0">
              <a:buNone/>
            </a:pPr>
            <a:r>
              <a:rPr lang="en-US" sz="1200" b="1" dirty="0">
                <a:solidFill>
                  <a:srgbClr val="FFFFFF"/>
                </a:solidFill>
              </a:rPr>
              <a:t>🔴 STOP</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Boas Práticas de Programação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88720"/>
            <a:ext cx="4114800" cy="1097280"/>
          </a:xfrm>
          <a:prstGeom prst="rect">
            <a:avLst/>
          </a:prstGeom>
          <a:solidFill>
            <a:srgbClr val="E3F2FD"/>
          </a:solidFill>
          <a:ln w="12700">
            <a:solidFill>
              <a:srgbClr val="2196F3"/>
            </a:solidFill>
            <a:prstDash val="solid"/>
          </a:ln>
        </p:spPr>
      </p:sp>
      <p:sp>
        <p:nvSpPr>
          <p:cNvPr id="8" name="Text 6"/>
          <p:cNvSpPr/>
          <p:nvPr/>
        </p:nvSpPr>
        <p:spPr>
          <a:xfrm>
            <a:off x="502920" y="1234440"/>
            <a:ext cx="3840480" cy="365760"/>
          </a:xfrm>
          <a:prstGeom prst="rect">
            <a:avLst/>
          </a:prstGeom>
          <a:noFill/>
          <a:ln/>
        </p:spPr>
        <p:txBody>
          <a:bodyPr wrap="square" rtlCol="0" anchor="ctr"/>
          <a:lstStyle/>
          <a:p>
            <a:pPr indent="0" marL="0">
              <a:buNone/>
            </a:pPr>
            <a:r>
              <a:rPr lang="en-US" sz="1300" b="1" dirty="0">
                <a:solidFill>
                  <a:srgbClr val="0D47A1"/>
                </a:solidFill>
              </a:rPr>
              <a:t>📌 Nomeie variáveis claramente</a:t>
            </a:r>
            <a:endParaRPr lang="en-US" sz="1300" dirty="0"/>
          </a:p>
        </p:txBody>
      </p:sp>
      <p:sp>
        <p:nvSpPr>
          <p:cNvPr id="9" name="Text 7"/>
          <p:cNvSpPr/>
          <p:nvPr/>
        </p:nvSpPr>
        <p:spPr>
          <a:xfrm>
            <a:off x="502920" y="1600200"/>
            <a:ext cx="3840480" cy="594360"/>
          </a:xfrm>
          <a:prstGeom prst="rect">
            <a:avLst/>
          </a:prstGeom>
          <a:noFill/>
          <a:ln/>
        </p:spPr>
        <p:txBody>
          <a:bodyPr wrap="square" rtlCol="0" anchor="ctr"/>
          <a:lstStyle/>
          <a:p>
            <a:pPr indent="0" marL="0">
              <a:buNone/>
            </a:pPr>
            <a:r>
              <a:rPr lang="en-US" sz="1200" dirty="0">
                <a:solidFill>
                  <a:srgbClr val="546E7A"/>
                </a:solidFill>
              </a:rPr>
              <a:t>Use nomes descritivos: pinoSensor em vez de x</a:t>
            </a:r>
            <a:endParaRPr lang="en-US" sz="1200" dirty="0"/>
          </a:p>
        </p:txBody>
      </p:sp>
      <p:sp>
        <p:nvSpPr>
          <p:cNvPr id="10" name="Shape 8"/>
          <p:cNvSpPr/>
          <p:nvPr/>
        </p:nvSpPr>
        <p:spPr>
          <a:xfrm>
            <a:off x="4754880" y="1188720"/>
            <a:ext cx="4114800" cy="1097280"/>
          </a:xfrm>
          <a:prstGeom prst="rect">
            <a:avLst/>
          </a:prstGeom>
          <a:solidFill>
            <a:srgbClr val="E3F2FD"/>
          </a:solidFill>
          <a:ln w="12700">
            <a:solidFill>
              <a:srgbClr val="2196F3"/>
            </a:solidFill>
            <a:prstDash val="solid"/>
          </a:ln>
        </p:spPr>
      </p:sp>
      <p:sp>
        <p:nvSpPr>
          <p:cNvPr id="11" name="Text 9"/>
          <p:cNvSpPr/>
          <p:nvPr/>
        </p:nvSpPr>
        <p:spPr>
          <a:xfrm>
            <a:off x="4892040" y="1234440"/>
            <a:ext cx="3840480" cy="365760"/>
          </a:xfrm>
          <a:prstGeom prst="rect">
            <a:avLst/>
          </a:prstGeom>
          <a:noFill/>
          <a:ln/>
        </p:spPr>
        <p:txBody>
          <a:bodyPr wrap="square" rtlCol="0" anchor="ctr"/>
          <a:lstStyle/>
          <a:p>
            <a:pPr indent="0" marL="0">
              <a:buNone/>
            </a:pPr>
            <a:r>
              <a:rPr lang="en-US" sz="1300" b="1" dirty="0">
                <a:solidFill>
                  <a:srgbClr val="0D47A1"/>
                </a:solidFill>
              </a:rPr>
              <a:t>💬 Comente seu código</a:t>
            </a:r>
            <a:endParaRPr lang="en-US" sz="1300" dirty="0"/>
          </a:p>
        </p:txBody>
      </p:sp>
      <p:sp>
        <p:nvSpPr>
          <p:cNvPr id="12" name="Text 10"/>
          <p:cNvSpPr/>
          <p:nvPr/>
        </p:nvSpPr>
        <p:spPr>
          <a:xfrm>
            <a:off x="4892040" y="1600200"/>
            <a:ext cx="3840480" cy="594360"/>
          </a:xfrm>
          <a:prstGeom prst="rect">
            <a:avLst/>
          </a:prstGeom>
          <a:noFill/>
          <a:ln/>
        </p:spPr>
        <p:txBody>
          <a:bodyPr wrap="square" rtlCol="0" anchor="ctr"/>
          <a:lstStyle/>
          <a:p>
            <a:pPr indent="0" marL="0">
              <a:buNone/>
            </a:pPr>
            <a:r>
              <a:rPr lang="en-US" sz="1200" dirty="0">
                <a:solidFill>
                  <a:srgbClr val="546E7A"/>
                </a:solidFill>
              </a:rPr>
              <a:t>Explique o que cada bloco faz para facilitar a manutenção</a:t>
            </a:r>
            <a:endParaRPr lang="en-US" sz="1200" dirty="0"/>
          </a:p>
        </p:txBody>
      </p:sp>
      <p:sp>
        <p:nvSpPr>
          <p:cNvPr id="13" name="Shape 11"/>
          <p:cNvSpPr/>
          <p:nvPr/>
        </p:nvSpPr>
        <p:spPr>
          <a:xfrm>
            <a:off x="365760" y="2423160"/>
            <a:ext cx="4114800" cy="1097280"/>
          </a:xfrm>
          <a:prstGeom prst="rect">
            <a:avLst/>
          </a:prstGeom>
          <a:solidFill>
            <a:srgbClr val="E3F2FD"/>
          </a:solidFill>
          <a:ln w="12700">
            <a:solidFill>
              <a:srgbClr val="2196F3"/>
            </a:solidFill>
            <a:prstDash val="solid"/>
          </a:ln>
        </p:spPr>
      </p:sp>
      <p:sp>
        <p:nvSpPr>
          <p:cNvPr id="14" name="Text 12"/>
          <p:cNvSpPr/>
          <p:nvPr/>
        </p:nvSpPr>
        <p:spPr>
          <a:xfrm>
            <a:off x="502920" y="2468880"/>
            <a:ext cx="3840480" cy="365760"/>
          </a:xfrm>
          <a:prstGeom prst="rect">
            <a:avLst/>
          </a:prstGeom>
          <a:noFill/>
          <a:ln/>
        </p:spPr>
        <p:txBody>
          <a:bodyPr wrap="square" rtlCol="0" anchor="ctr"/>
          <a:lstStyle/>
          <a:p>
            <a:pPr indent="0" marL="0">
              <a:buNone/>
            </a:pPr>
            <a:r>
              <a:rPr lang="en-US" sz="1300" b="1" dirty="0">
                <a:solidFill>
                  <a:srgbClr val="0D47A1"/>
                </a:solidFill>
              </a:rPr>
              <a:t>🧩 Use funções</a:t>
            </a:r>
            <a:endParaRPr lang="en-US" sz="1300" dirty="0"/>
          </a:p>
        </p:txBody>
      </p:sp>
      <p:sp>
        <p:nvSpPr>
          <p:cNvPr id="15" name="Text 13"/>
          <p:cNvSpPr/>
          <p:nvPr/>
        </p:nvSpPr>
        <p:spPr>
          <a:xfrm>
            <a:off x="502920" y="2834640"/>
            <a:ext cx="3840480" cy="594360"/>
          </a:xfrm>
          <a:prstGeom prst="rect">
            <a:avLst/>
          </a:prstGeom>
          <a:noFill/>
          <a:ln/>
        </p:spPr>
        <p:txBody>
          <a:bodyPr wrap="square" rtlCol="0" anchor="ctr"/>
          <a:lstStyle/>
          <a:p>
            <a:pPr indent="0" marL="0">
              <a:buNone/>
            </a:pPr>
            <a:r>
              <a:rPr lang="en-US" sz="1200" dirty="0">
                <a:solidFill>
                  <a:srgbClr val="546E7A"/>
                </a:solidFill>
              </a:rPr>
              <a:t>Divida o código em funções para maior clareza e reuso</a:t>
            </a:r>
            <a:endParaRPr lang="en-US" sz="1200" dirty="0"/>
          </a:p>
        </p:txBody>
      </p:sp>
      <p:sp>
        <p:nvSpPr>
          <p:cNvPr id="16" name="Shape 14"/>
          <p:cNvSpPr/>
          <p:nvPr/>
        </p:nvSpPr>
        <p:spPr>
          <a:xfrm>
            <a:off x="4754880" y="2423160"/>
            <a:ext cx="4114800" cy="1097280"/>
          </a:xfrm>
          <a:prstGeom prst="rect">
            <a:avLst/>
          </a:prstGeom>
          <a:solidFill>
            <a:srgbClr val="E3F2FD"/>
          </a:solidFill>
          <a:ln w="12700">
            <a:solidFill>
              <a:srgbClr val="2196F3"/>
            </a:solidFill>
            <a:prstDash val="solid"/>
          </a:ln>
        </p:spPr>
      </p:sp>
      <p:sp>
        <p:nvSpPr>
          <p:cNvPr id="17" name="Text 15"/>
          <p:cNvSpPr/>
          <p:nvPr/>
        </p:nvSpPr>
        <p:spPr>
          <a:xfrm>
            <a:off x="4892040" y="2468880"/>
            <a:ext cx="3840480" cy="365760"/>
          </a:xfrm>
          <a:prstGeom prst="rect">
            <a:avLst/>
          </a:prstGeom>
          <a:noFill/>
          <a:ln/>
        </p:spPr>
        <p:txBody>
          <a:bodyPr wrap="square" rtlCol="0" anchor="ctr"/>
          <a:lstStyle/>
          <a:p>
            <a:pPr indent="0" marL="0">
              <a:buNone/>
            </a:pPr>
            <a:r>
              <a:rPr lang="en-US" sz="1300" b="1" dirty="0">
                <a:solidFill>
                  <a:srgbClr val="0D47A1"/>
                </a:solidFill>
              </a:rPr>
              <a:t>⚠️ Evite delays longos</a:t>
            </a:r>
            <a:endParaRPr lang="en-US" sz="1300" dirty="0"/>
          </a:p>
        </p:txBody>
      </p:sp>
      <p:sp>
        <p:nvSpPr>
          <p:cNvPr id="18" name="Text 16"/>
          <p:cNvSpPr/>
          <p:nvPr/>
        </p:nvSpPr>
        <p:spPr>
          <a:xfrm>
            <a:off x="4892040" y="2834640"/>
            <a:ext cx="3840480" cy="594360"/>
          </a:xfrm>
          <a:prstGeom prst="rect">
            <a:avLst/>
          </a:prstGeom>
          <a:noFill/>
          <a:ln/>
        </p:spPr>
        <p:txBody>
          <a:bodyPr wrap="square" rtlCol="0" anchor="ctr"/>
          <a:lstStyle/>
          <a:p>
            <a:pPr indent="0" marL="0">
              <a:buNone/>
            </a:pPr>
            <a:r>
              <a:rPr lang="en-US" sz="1200" dirty="0">
                <a:solidFill>
                  <a:srgbClr val="546E7A"/>
                </a:solidFill>
              </a:rPr>
              <a:t>Use millis() para temporização não bloqueante</a:t>
            </a:r>
            <a:endParaRPr lang="en-US" sz="1200" dirty="0"/>
          </a:p>
        </p:txBody>
      </p:sp>
      <p:sp>
        <p:nvSpPr>
          <p:cNvPr id="19" name="Shape 17"/>
          <p:cNvSpPr/>
          <p:nvPr/>
        </p:nvSpPr>
        <p:spPr>
          <a:xfrm>
            <a:off x="365760" y="3657600"/>
            <a:ext cx="4114800" cy="1097280"/>
          </a:xfrm>
          <a:prstGeom prst="rect">
            <a:avLst/>
          </a:prstGeom>
          <a:solidFill>
            <a:srgbClr val="E3F2FD"/>
          </a:solidFill>
          <a:ln w="12700">
            <a:solidFill>
              <a:srgbClr val="2196F3"/>
            </a:solidFill>
            <a:prstDash val="solid"/>
          </a:ln>
        </p:spPr>
      </p:sp>
      <p:sp>
        <p:nvSpPr>
          <p:cNvPr id="20" name="Text 18"/>
          <p:cNvSpPr/>
          <p:nvPr/>
        </p:nvSpPr>
        <p:spPr>
          <a:xfrm>
            <a:off x="502920" y="3703320"/>
            <a:ext cx="3840480" cy="365760"/>
          </a:xfrm>
          <a:prstGeom prst="rect">
            <a:avLst/>
          </a:prstGeom>
          <a:noFill/>
          <a:ln/>
        </p:spPr>
        <p:txBody>
          <a:bodyPr wrap="square" rtlCol="0" anchor="ctr"/>
          <a:lstStyle/>
          <a:p>
            <a:pPr indent="0" marL="0">
              <a:buNone/>
            </a:pPr>
            <a:r>
              <a:rPr lang="en-US" sz="1300" b="1" dirty="0">
                <a:solidFill>
                  <a:srgbClr val="0D47A1"/>
                </a:solidFill>
              </a:rPr>
              <a:t>🔒 Declare constantes</a:t>
            </a:r>
            <a:endParaRPr lang="en-US" sz="1300" dirty="0"/>
          </a:p>
        </p:txBody>
      </p:sp>
      <p:sp>
        <p:nvSpPr>
          <p:cNvPr id="21" name="Text 19"/>
          <p:cNvSpPr/>
          <p:nvPr/>
        </p:nvSpPr>
        <p:spPr>
          <a:xfrm>
            <a:off x="502920" y="4069080"/>
            <a:ext cx="3840480" cy="594360"/>
          </a:xfrm>
          <a:prstGeom prst="rect">
            <a:avLst/>
          </a:prstGeom>
          <a:noFill/>
          <a:ln/>
        </p:spPr>
        <p:txBody>
          <a:bodyPr wrap="square" rtlCol="0" anchor="ctr"/>
          <a:lstStyle/>
          <a:p>
            <a:pPr indent="0" marL="0">
              <a:buNone/>
            </a:pPr>
            <a:r>
              <a:rPr lang="en-US" sz="1200" dirty="0">
                <a:solidFill>
                  <a:srgbClr val="546E7A"/>
                </a:solidFill>
              </a:rPr>
              <a:t>Use const para pinos e valores fixos</a:t>
            </a:r>
            <a:endParaRPr lang="en-US" sz="1200" dirty="0"/>
          </a:p>
        </p:txBody>
      </p:sp>
      <p:sp>
        <p:nvSpPr>
          <p:cNvPr id="22" name="Shape 20"/>
          <p:cNvSpPr/>
          <p:nvPr/>
        </p:nvSpPr>
        <p:spPr>
          <a:xfrm>
            <a:off x="4754880" y="3657600"/>
            <a:ext cx="4114800" cy="1097280"/>
          </a:xfrm>
          <a:prstGeom prst="rect">
            <a:avLst/>
          </a:prstGeom>
          <a:solidFill>
            <a:srgbClr val="E3F2FD"/>
          </a:solidFill>
          <a:ln w="12700">
            <a:solidFill>
              <a:srgbClr val="2196F3"/>
            </a:solidFill>
            <a:prstDash val="solid"/>
          </a:ln>
        </p:spPr>
      </p:sp>
      <p:sp>
        <p:nvSpPr>
          <p:cNvPr id="23" name="Text 21"/>
          <p:cNvSpPr/>
          <p:nvPr/>
        </p:nvSpPr>
        <p:spPr>
          <a:xfrm>
            <a:off x="4892040" y="3703320"/>
            <a:ext cx="3840480" cy="365760"/>
          </a:xfrm>
          <a:prstGeom prst="rect">
            <a:avLst/>
          </a:prstGeom>
          <a:noFill/>
          <a:ln/>
        </p:spPr>
        <p:txBody>
          <a:bodyPr wrap="square" rtlCol="0" anchor="ctr"/>
          <a:lstStyle/>
          <a:p>
            <a:pPr indent="0" marL="0">
              <a:buNone/>
            </a:pPr>
            <a:r>
              <a:rPr lang="en-US" sz="1300" b="1" dirty="0">
                <a:solidFill>
                  <a:srgbClr val="0D47A1"/>
                </a:solidFill>
              </a:rPr>
              <a:t>🧪 Teste incrementalmente</a:t>
            </a:r>
            <a:endParaRPr lang="en-US" sz="1300" dirty="0"/>
          </a:p>
        </p:txBody>
      </p:sp>
      <p:sp>
        <p:nvSpPr>
          <p:cNvPr id="24" name="Text 22"/>
          <p:cNvSpPr/>
          <p:nvPr/>
        </p:nvSpPr>
        <p:spPr>
          <a:xfrm>
            <a:off x="4892040" y="4069080"/>
            <a:ext cx="3840480" cy="594360"/>
          </a:xfrm>
          <a:prstGeom prst="rect">
            <a:avLst/>
          </a:prstGeom>
          <a:noFill/>
          <a:ln/>
        </p:spPr>
        <p:txBody>
          <a:bodyPr wrap="square" rtlCol="0" anchor="ctr"/>
          <a:lstStyle/>
          <a:p>
            <a:pPr indent="0" marL="0">
              <a:buNone/>
            </a:pPr>
            <a:r>
              <a:rPr lang="en-US" sz="1200" dirty="0">
                <a:solidFill>
                  <a:srgbClr val="546E7A"/>
                </a:solidFill>
              </a:rPr>
              <a:t>Teste pequenas partes do código antes de integrar tudo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47A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47A1"/>
          </a:solidFill>
          <a:ln w="12700">
            <a:solidFill>
              <a:srgbClr val="0D47A1"/>
            </a:solidFill>
            <a:prstDash val="solid"/>
          </a:ln>
        </p:spPr>
      </p:sp>
      <p:sp>
        <p:nvSpPr>
          <p:cNvPr id="3" name="Shape 1"/>
          <p:cNvSpPr/>
          <p:nvPr/>
        </p:nvSpPr>
        <p:spPr>
          <a:xfrm>
            <a:off x="0" y="0"/>
            <a:ext cx="457200" cy="5143500"/>
          </a:xfrm>
          <a:prstGeom prst="rect">
            <a:avLst/>
          </a:prstGeom>
          <a:solidFill>
            <a:srgbClr val="00979C"/>
          </a:solidFill>
          <a:ln w="12700">
            <a:solidFill>
              <a:srgbClr val="00979C"/>
            </a:solidFill>
            <a:prstDash val="solid"/>
          </a:ln>
        </p:spPr>
      </p:sp>
      <p:sp>
        <p:nvSpPr>
          <p:cNvPr id="4" name="Shape 2"/>
          <p:cNvSpPr/>
          <p:nvPr/>
        </p:nvSpPr>
        <p:spPr>
          <a:xfrm>
            <a:off x="0" y="3566160"/>
            <a:ext cx="9144000" cy="1577340"/>
          </a:xfrm>
          <a:prstGeom prst="rect">
            <a:avLst/>
          </a:prstGeom>
          <a:solidFill>
            <a:srgbClr val="0A3A7A"/>
          </a:solidFill>
          <a:ln w="12700">
            <a:solidFill>
              <a:srgbClr val="0A3A7A"/>
            </a:solidFill>
            <a:prstDash val="solid"/>
          </a:ln>
        </p:spPr>
      </p:sp>
      <p:sp>
        <p:nvSpPr>
          <p:cNvPr id="5" name="Text 3"/>
          <p:cNvSpPr/>
          <p:nvPr/>
        </p:nvSpPr>
        <p:spPr>
          <a:xfrm>
            <a:off x="731520" y="457200"/>
            <a:ext cx="8229600" cy="502920"/>
          </a:xfrm>
          <a:prstGeom prst="rect">
            <a:avLst/>
          </a:prstGeom>
          <a:noFill/>
          <a:ln/>
        </p:spPr>
        <p:txBody>
          <a:bodyPr wrap="square" rtlCol="0" anchor="ctr"/>
          <a:lstStyle/>
          <a:p>
            <a:pPr indent="0" marL="0">
              <a:buNone/>
            </a:pPr>
            <a:r>
              <a:rPr lang="en-US" sz="1800" i="1" dirty="0">
                <a:solidFill>
                  <a:srgbClr val="90CAF9"/>
                </a:solidFill>
              </a:rPr>
              <a:t>📖 Referência Rápida</a:t>
            </a:r>
            <a:endParaRPr lang="en-US" sz="1800" dirty="0"/>
          </a:p>
        </p:txBody>
      </p:sp>
      <p:sp>
        <p:nvSpPr>
          <p:cNvPr id="6" name="Text 4"/>
          <p:cNvSpPr/>
          <p:nvPr/>
        </p:nvSpPr>
        <p:spPr>
          <a:xfrm>
            <a:off x="731520" y="1005840"/>
            <a:ext cx="8229600" cy="1463040"/>
          </a:xfrm>
          <a:prstGeom prst="rect">
            <a:avLst/>
          </a:prstGeom>
          <a:noFill/>
          <a:ln/>
        </p:spPr>
        <p:txBody>
          <a:bodyPr wrap="square" rtlCol="0" anchor="ctr"/>
          <a:lstStyle/>
          <a:p>
            <a:pPr indent="0" marL="0">
              <a:buNone/>
            </a:pPr>
            <a:r>
              <a:rPr lang="en-US" sz="4400" b="1" dirty="0">
                <a:solidFill>
                  <a:srgbClr val="FFFFFF"/>
                </a:solidFill>
              </a:rPr>
              <a:t>Comandos Essenciais</a:t>
            </a:r>
            <a:endParaRPr lang="en-US" sz="4400" dirty="0"/>
          </a:p>
          <a:p>
            <a:pPr indent="0" marL="0">
              <a:buNone/>
            </a:pPr>
            <a:r>
              <a:rPr lang="en-US" sz="4400" b="1" dirty="0">
                <a:solidFill>
                  <a:srgbClr val="FFFFFF"/>
                </a:solidFill>
              </a:rPr>
              <a:t>de Baixo Nível</a:t>
            </a:r>
            <a:endParaRPr lang="en-US" sz="4400" dirty="0"/>
          </a:p>
        </p:txBody>
      </p:sp>
      <p:sp>
        <p:nvSpPr>
          <p:cNvPr id="7" name="Text 5"/>
          <p:cNvSpPr/>
          <p:nvPr/>
        </p:nvSpPr>
        <p:spPr>
          <a:xfrm>
            <a:off x="731520" y="2560320"/>
            <a:ext cx="8229600" cy="548640"/>
          </a:xfrm>
          <a:prstGeom prst="rect">
            <a:avLst/>
          </a:prstGeom>
          <a:noFill/>
          <a:ln/>
        </p:spPr>
        <p:txBody>
          <a:bodyPr wrap="square" rtlCol="0" anchor="ctr"/>
          <a:lstStyle/>
          <a:p>
            <a:pPr indent="0" marL="0">
              <a:buNone/>
            </a:pPr>
            <a:r>
              <a:rPr lang="en-US" sz="1500" dirty="0">
                <a:solidFill>
                  <a:srgbClr val="90CAF9"/>
                </a:solidFill>
              </a:rPr>
              <a:t>Arduino C/C++ — Funções, registradores e controle direto de hardware</a:t>
            </a:r>
            <a:endParaRPr lang="en-US" sz="1500" dirty="0"/>
          </a:p>
        </p:txBody>
      </p:sp>
      <p:sp>
        <p:nvSpPr>
          <p:cNvPr id="8" name="Text 6"/>
          <p:cNvSpPr/>
          <p:nvPr/>
        </p:nvSpPr>
        <p:spPr>
          <a:xfrm>
            <a:off x="731520" y="3749040"/>
            <a:ext cx="8229600" cy="365760"/>
          </a:xfrm>
          <a:prstGeom prst="rect">
            <a:avLst/>
          </a:prstGeom>
          <a:noFill/>
          <a:ln/>
        </p:spPr>
        <p:txBody>
          <a:bodyPr wrap="square" rtlCol="0" anchor="ctr"/>
          <a:lstStyle/>
          <a:p>
            <a:pPr indent="0" marL="0">
              <a:buNone/>
            </a:pPr>
            <a:r>
              <a:rPr lang="en-US" sz="1200" dirty="0">
                <a:solidFill>
                  <a:srgbClr val="90CAF9"/>
                </a:solidFill>
              </a:rPr>
              <a:t>Internet das Coisas  |  Prof. Mizael Carlos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Entrada e Saída Digital</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88720"/>
            <a:ext cx="8503920" cy="804672"/>
          </a:xfrm>
          <a:prstGeom prst="rect">
            <a:avLst/>
          </a:prstGeom>
          <a:solidFill>
            <a:srgbClr val="E3F2FD"/>
          </a:solidFill>
          <a:ln w="12700">
            <a:solidFill>
              <a:srgbClr val="2196F3"/>
            </a:solidFill>
            <a:prstDash val="solid"/>
          </a:ln>
        </p:spPr>
      </p:sp>
      <p:sp>
        <p:nvSpPr>
          <p:cNvPr id="8" name="Shape 6"/>
          <p:cNvSpPr/>
          <p:nvPr/>
        </p:nvSpPr>
        <p:spPr>
          <a:xfrm>
            <a:off x="320040" y="1188720"/>
            <a:ext cx="502920" cy="804672"/>
          </a:xfrm>
          <a:prstGeom prst="rect">
            <a:avLst/>
          </a:prstGeom>
          <a:solidFill>
            <a:srgbClr val="0D47A1"/>
          </a:solidFill>
          <a:ln w="12700">
            <a:solidFill>
              <a:srgbClr val="0D47A1"/>
            </a:solidFill>
            <a:prstDash val="solid"/>
          </a:ln>
        </p:spPr>
      </p:sp>
      <p:sp>
        <p:nvSpPr>
          <p:cNvPr id="9" name="Text 7"/>
          <p:cNvSpPr/>
          <p:nvPr/>
        </p:nvSpPr>
        <p:spPr>
          <a:xfrm>
            <a:off x="320040" y="1188720"/>
            <a:ext cx="502920" cy="804672"/>
          </a:xfrm>
          <a:prstGeom prst="rect">
            <a:avLst/>
          </a:prstGeom>
          <a:noFill/>
          <a:ln/>
        </p:spPr>
        <p:txBody>
          <a:bodyPr wrap="square" rtlCol="0" anchor="ctr"/>
          <a:lstStyle/>
          <a:p>
            <a:pPr algn="ctr" indent="0" marL="0">
              <a:buNone/>
            </a:pPr>
            <a:r>
              <a:rPr lang="en-US" sz="800" b="1" dirty="0">
                <a:solidFill>
                  <a:srgbClr val="FFFFFF"/>
                </a:solidFill>
              </a:rPr>
              <a:t>void</a:t>
            </a:r>
            <a:endParaRPr lang="en-US" sz="800" dirty="0"/>
          </a:p>
        </p:txBody>
      </p:sp>
      <p:sp>
        <p:nvSpPr>
          <p:cNvPr id="10" name="Text 8"/>
          <p:cNvSpPr/>
          <p:nvPr/>
        </p:nvSpPr>
        <p:spPr>
          <a:xfrm>
            <a:off x="914400" y="1216152"/>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pinMode(pino, modo)</a:t>
            </a:r>
            <a:endParaRPr lang="en-US" sz="1200" dirty="0"/>
          </a:p>
        </p:txBody>
      </p:sp>
      <p:sp>
        <p:nvSpPr>
          <p:cNvPr id="11" name="Text 9"/>
          <p:cNvSpPr/>
          <p:nvPr/>
        </p:nvSpPr>
        <p:spPr>
          <a:xfrm>
            <a:off x="914400" y="1581912"/>
            <a:ext cx="5029200" cy="365760"/>
          </a:xfrm>
          <a:prstGeom prst="rect">
            <a:avLst/>
          </a:prstGeom>
          <a:noFill/>
          <a:ln/>
        </p:spPr>
        <p:txBody>
          <a:bodyPr wrap="square" rtlCol="0" anchor="ctr"/>
          <a:lstStyle/>
          <a:p>
            <a:pPr indent="0" marL="0">
              <a:buNone/>
            </a:pPr>
            <a:r>
              <a:rPr lang="en-US" sz="1100" dirty="0">
                <a:solidFill>
                  <a:srgbClr val="546E7A"/>
                </a:solidFill>
              </a:rPr>
              <a:t>Define um pino como INPUT, OUTPUT ou INPUT_PULLUP. Deve ser chamado no setup().</a:t>
            </a:r>
            <a:endParaRPr lang="en-US" sz="1100" dirty="0"/>
          </a:p>
        </p:txBody>
      </p:sp>
      <p:sp>
        <p:nvSpPr>
          <p:cNvPr id="12" name="Text 10"/>
          <p:cNvSpPr/>
          <p:nvPr/>
        </p:nvSpPr>
        <p:spPr>
          <a:xfrm>
            <a:off x="6035040" y="1188720"/>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pinMode(13, OUTPUT);</a:t>
            </a:r>
            <a:endParaRPr lang="en-US" sz="1100" dirty="0"/>
          </a:p>
        </p:txBody>
      </p:sp>
      <p:sp>
        <p:nvSpPr>
          <p:cNvPr id="13" name="Shape 11"/>
          <p:cNvSpPr/>
          <p:nvPr/>
        </p:nvSpPr>
        <p:spPr>
          <a:xfrm>
            <a:off x="320040" y="2084832"/>
            <a:ext cx="8503920" cy="804672"/>
          </a:xfrm>
          <a:prstGeom prst="rect">
            <a:avLst/>
          </a:prstGeom>
          <a:solidFill>
            <a:srgbClr val="F5F5F5"/>
          </a:solidFill>
          <a:ln w="12700">
            <a:solidFill>
              <a:srgbClr val="2196F3"/>
            </a:solidFill>
            <a:prstDash val="solid"/>
          </a:ln>
        </p:spPr>
      </p:sp>
      <p:sp>
        <p:nvSpPr>
          <p:cNvPr id="14" name="Shape 12"/>
          <p:cNvSpPr/>
          <p:nvPr/>
        </p:nvSpPr>
        <p:spPr>
          <a:xfrm>
            <a:off x="320040" y="2084832"/>
            <a:ext cx="502920" cy="804672"/>
          </a:xfrm>
          <a:prstGeom prst="rect">
            <a:avLst/>
          </a:prstGeom>
          <a:solidFill>
            <a:srgbClr val="0D47A1"/>
          </a:solidFill>
          <a:ln w="12700">
            <a:solidFill>
              <a:srgbClr val="0D47A1"/>
            </a:solidFill>
            <a:prstDash val="solid"/>
          </a:ln>
        </p:spPr>
      </p:sp>
      <p:sp>
        <p:nvSpPr>
          <p:cNvPr id="15" name="Text 13"/>
          <p:cNvSpPr/>
          <p:nvPr/>
        </p:nvSpPr>
        <p:spPr>
          <a:xfrm>
            <a:off x="320040" y="2084832"/>
            <a:ext cx="502920" cy="804672"/>
          </a:xfrm>
          <a:prstGeom prst="rect">
            <a:avLst/>
          </a:prstGeom>
          <a:noFill/>
          <a:ln/>
        </p:spPr>
        <p:txBody>
          <a:bodyPr wrap="square" rtlCol="0" anchor="ctr"/>
          <a:lstStyle/>
          <a:p>
            <a:pPr algn="ctr" indent="0" marL="0">
              <a:buNone/>
            </a:pPr>
            <a:r>
              <a:rPr lang="en-US" sz="800" b="1" dirty="0">
                <a:solidFill>
                  <a:srgbClr val="FFFFFF"/>
                </a:solidFill>
              </a:rPr>
              <a:t>void</a:t>
            </a:r>
            <a:endParaRPr lang="en-US" sz="800" dirty="0"/>
          </a:p>
        </p:txBody>
      </p:sp>
      <p:sp>
        <p:nvSpPr>
          <p:cNvPr id="16" name="Text 14"/>
          <p:cNvSpPr/>
          <p:nvPr/>
        </p:nvSpPr>
        <p:spPr>
          <a:xfrm>
            <a:off x="914400" y="2112264"/>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digitalWrite(pino, valor)</a:t>
            </a:r>
            <a:endParaRPr lang="en-US" sz="1200" dirty="0"/>
          </a:p>
        </p:txBody>
      </p:sp>
      <p:sp>
        <p:nvSpPr>
          <p:cNvPr id="17" name="Text 15"/>
          <p:cNvSpPr/>
          <p:nvPr/>
        </p:nvSpPr>
        <p:spPr>
          <a:xfrm>
            <a:off x="914400" y="2478024"/>
            <a:ext cx="5029200" cy="365760"/>
          </a:xfrm>
          <a:prstGeom prst="rect">
            <a:avLst/>
          </a:prstGeom>
          <a:noFill/>
          <a:ln/>
        </p:spPr>
        <p:txBody>
          <a:bodyPr wrap="square" rtlCol="0" anchor="ctr"/>
          <a:lstStyle/>
          <a:p>
            <a:pPr indent="0" marL="0">
              <a:buNone/>
            </a:pPr>
            <a:r>
              <a:rPr lang="en-US" sz="1100" dirty="0">
                <a:solidFill>
                  <a:srgbClr val="546E7A"/>
                </a:solidFill>
              </a:rPr>
              <a:t>Escreve HIGH (5V) ou LOW (0V) em um pino digital configurado como saída.</a:t>
            </a:r>
            <a:endParaRPr lang="en-US" sz="1100" dirty="0"/>
          </a:p>
        </p:txBody>
      </p:sp>
      <p:sp>
        <p:nvSpPr>
          <p:cNvPr id="18" name="Text 16"/>
          <p:cNvSpPr/>
          <p:nvPr/>
        </p:nvSpPr>
        <p:spPr>
          <a:xfrm>
            <a:off x="6035040" y="2084832"/>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digitalWrite(13, HIGH);</a:t>
            </a:r>
            <a:endParaRPr lang="en-US" sz="1100" dirty="0"/>
          </a:p>
        </p:txBody>
      </p:sp>
      <p:sp>
        <p:nvSpPr>
          <p:cNvPr id="19" name="Shape 17"/>
          <p:cNvSpPr/>
          <p:nvPr/>
        </p:nvSpPr>
        <p:spPr>
          <a:xfrm>
            <a:off x="320040" y="2980944"/>
            <a:ext cx="8503920" cy="804672"/>
          </a:xfrm>
          <a:prstGeom prst="rect">
            <a:avLst/>
          </a:prstGeom>
          <a:solidFill>
            <a:srgbClr val="E3F2FD"/>
          </a:solidFill>
          <a:ln w="12700">
            <a:solidFill>
              <a:srgbClr val="2196F3"/>
            </a:solidFill>
            <a:prstDash val="solid"/>
          </a:ln>
        </p:spPr>
      </p:sp>
      <p:sp>
        <p:nvSpPr>
          <p:cNvPr id="20" name="Shape 18"/>
          <p:cNvSpPr/>
          <p:nvPr/>
        </p:nvSpPr>
        <p:spPr>
          <a:xfrm>
            <a:off x="320040" y="2980944"/>
            <a:ext cx="502920" cy="804672"/>
          </a:xfrm>
          <a:prstGeom prst="rect">
            <a:avLst/>
          </a:prstGeom>
          <a:solidFill>
            <a:srgbClr val="0D47A1"/>
          </a:solidFill>
          <a:ln w="12700">
            <a:solidFill>
              <a:srgbClr val="0D47A1"/>
            </a:solidFill>
            <a:prstDash val="solid"/>
          </a:ln>
        </p:spPr>
      </p:sp>
      <p:sp>
        <p:nvSpPr>
          <p:cNvPr id="21" name="Text 19"/>
          <p:cNvSpPr/>
          <p:nvPr/>
        </p:nvSpPr>
        <p:spPr>
          <a:xfrm>
            <a:off x="320040" y="2980944"/>
            <a:ext cx="502920" cy="804672"/>
          </a:xfrm>
          <a:prstGeom prst="rect">
            <a:avLst/>
          </a:prstGeom>
          <a:noFill/>
          <a:ln/>
        </p:spPr>
        <p:txBody>
          <a:bodyPr wrap="square" rtlCol="0" anchor="ctr"/>
          <a:lstStyle/>
          <a:p>
            <a:pPr algn="ctr" indent="0" marL="0">
              <a:buNone/>
            </a:pPr>
            <a:r>
              <a:rPr lang="en-US" sz="800" b="1" dirty="0">
                <a:solidFill>
                  <a:srgbClr val="FFFFFF"/>
                </a:solidFill>
              </a:rPr>
              <a:t>int</a:t>
            </a:r>
            <a:endParaRPr lang="en-US" sz="800" dirty="0"/>
          </a:p>
        </p:txBody>
      </p:sp>
      <p:sp>
        <p:nvSpPr>
          <p:cNvPr id="22" name="Text 20"/>
          <p:cNvSpPr/>
          <p:nvPr/>
        </p:nvSpPr>
        <p:spPr>
          <a:xfrm>
            <a:off x="914400" y="3008376"/>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digitalRead(pino)</a:t>
            </a:r>
            <a:endParaRPr lang="en-US" sz="1200" dirty="0"/>
          </a:p>
        </p:txBody>
      </p:sp>
      <p:sp>
        <p:nvSpPr>
          <p:cNvPr id="23" name="Text 21"/>
          <p:cNvSpPr/>
          <p:nvPr/>
        </p:nvSpPr>
        <p:spPr>
          <a:xfrm>
            <a:off x="914400" y="3374136"/>
            <a:ext cx="5029200" cy="365760"/>
          </a:xfrm>
          <a:prstGeom prst="rect">
            <a:avLst/>
          </a:prstGeom>
          <a:noFill/>
          <a:ln/>
        </p:spPr>
        <p:txBody>
          <a:bodyPr wrap="square" rtlCol="0" anchor="ctr"/>
          <a:lstStyle/>
          <a:p>
            <a:pPr indent="0" marL="0">
              <a:buNone/>
            </a:pPr>
            <a:r>
              <a:rPr lang="en-US" sz="1100" dirty="0">
                <a:solidFill>
                  <a:srgbClr val="546E7A"/>
                </a:solidFill>
              </a:rPr>
              <a:t>Lê o estado lógico de um pino digital. Retorna HIGH (1) ou LOW (0).</a:t>
            </a:r>
            <a:endParaRPr lang="en-US" sz="1100" dirty="0"/>
          </a:p>
        </p:txBody>
      </p:sp>
      <p:sp>
        <p:nvSpPr>
          <p:cNvPr id="24" name="Text 22"/>
          <p:cNvSpPr/>
          <p:nvPr/>
        </p:nvSpPr>
        <p:spPr>
          <a:xfrm>
            <a:off x="6035040" y="2980944"/>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int v = digitalRead(7);</a:t>
            </a:r>
            <a:endParaRPr lang="en-US" sz="1100" dirty="0"/>
          </a:p>
        </p:txBody>
      </p:sp>
      <p:sp>
        <p:nvSpPr>
          <p:cNvPr id="25" name="Shape 23"/>
          <p:cNvSpPr/>
          <p:nvPr/>
        </p:nvSpPr>
        <p:spPr>
          <a:xfrm>
            <a:off x="320040" y="3877056"/>
            <a:ext cx="8503920" cy="804672"/>
          </a:xfrm>
          <a:prstGeom prst="rect">
            <a:avLst/>
          </a:prstGeom>
          <a:solidFill>
            <a:srgbClr val="F5F5F5"/>
          </a:solidFill>
          <a:ln w="12700">
            <a:solidFill>
              <a:srgbClr val="2196F3"/>
            </a:solidFill>
            <a:prstDash val="solid"/>
          </a:ln>
        </p:spPr>
      </p:sp>
      <p:sp>
        <p:nvSpPr>
          <p:cNvPr id="26" name="Shape 24"/>
          <p:cNvSpPr/>
          <p:nvPr/>
        </p:nvSpPr>
        <p:spPr>
          <a:xfrm>
            <a:off x="320040" y="3877056"/>
            <a:ext cx="502920" cy="804672"/>
          </a:xfrm>
          <a:prstGeom prst="rect">
            <a:avLst/>
          </a:prstGeom>
          <a:solidFill>
            <a:srgbClr val="0D47A1"/>
          </a:solidFill>
          <a:ln w="12700">
            <a:solidFill>
              <a:srgbClr val="0D47A1"/>
            </a:solidFill>
            <a:prstDash val="solid"/>
          </a:ln>
        </p:spPr>
      </p:sp>
      <p:sp>
        <p:nvSpPr>
          <p:cNvPr id="27" name="Text 25"/>
          <p:cNvSpPr/>
          <p:nvPr/>
        </p:nvSpPr>
        <p:spPr>
          <a:xfrm>
            <a:off x="320040" y="3877056"/>
            <a:ext cx="502920" cy="804672"/>
          </a:xfrm>
          <a:prstGeom prst="rect">
            <a:avLst/>
          </a:prstGeom>
          <a:noFill/>
          <a:ln/>
        </p:spPr>
        <p:txBody>
          <a:bodyPr wrap="square" rtlCol="0" anchor="ctr"/>
          <a:lstStyle/>
          <a:p>
            <a:pPr algn="ctr" indent="0" marL="0">
              <a:buNone/>
            </a:pPr>
            <a:r>
              <a:rPr lang="en-US" sz="800" b="1" dirty="0">
                <a:solidFill>
                  <a:srgbClr val="FFFFFF"/>
                </a:solidFill>
              </a:rPr>
              <a:t>long</a:t>
            </a:r>
            <a:endParaRPr lang="en-US" sz="800" dirty="0"/>
          </a:p>
        </p:txBody>
      </p:sp>
      <p:sp>
        <p:nvSpPr>
          <p:cNvPr id="28" name="Text 26"/>
          <p:cNvSpPr/>
          <p:nvPr/>
        </p:nvSpPr>
        <p:spPr>
          <a:xfrm>
            <a:off x="914400" y="3904488"/>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pulseIn(pino, estado)</a:t>
            </a:r>
            <a:endParaRPr lang="en-US" sz="1200" dirty="0"/>
          </a:p>
        </p:txBody>
      </p:sp>
      <p:sp>
        <p:nvSpPr>
          <p:cNvPr id="29" name="Text 27"/>
          <p:cNvSpPr/>
          <p:nvPr/>
        </p:nvSpPr>
        <p:spPr>
          <a:xfrm>
            <a:off x="914400" y="4270248"/>
            <a:ext cx="5029200" cy="365760"/>
          </a:xfrm>
          <a:prstGeom prst="rect">
            <a:avLst/>
          </a:prstGeom>
          <a:noFill/>
          <a:ln/>
        </p:spPr>
        <p:txBody>
          <a:bodyPr wrap="square" rtlCol="0" anchor="ctr"/>
          <a:lstStyle/>
          <a:p>
            <a:pPr indent="0" marL="0">
              <a:buNone/>
            </a:pPr>
            <a:r>
              <a:rPr lang="en-US" sz="1100" dirty="0">
                <a:solidFill>
                  <a:srgbClr val="546E7A"/>
                </a:solidFill>
              </a:rPr>
              <a:t>Mede em microssegundos a duração de um pulso HIGH ou LOW em um pino. Usado com sensores ultrassônicos.</a:t>
            </a:r>
            <a:endParaRPr lang="en-US" sz="1100" dirty="0"/>
          </a:p>
        </p:txBody>
      </p:sp>
      <p:sp>
        <p:nvSpPr>
          <p:cNvPr id="30" name="Text 28"/>
          <p:cNvSpPr/>
          <p:nvPr/>
        </p:nvSpPr>
        <p:spPr>
          <a:xfrm>
            <a:off x="6035040" y="3877056"/>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long t = pulseIn(8,HIGH);</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Entrada e Saída Analógica</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88720"/>
            <a:ext cx="8503920" cy="804672"/>
          </a:xfrm>
          <a:prstGeom prst="rect">
            <a:avLst/>
          </a:prstGeom>
          <a:solidFill>
            <a:srgbClr val="E3F2FD"/>
          </a:solidFill>
          <a:ln w="12700">
            <a:solidFill>
              <a:srgbClr val="2196F3"/>
            </a:solidFill>
            <a:prstDash val="solid"/>
          </a:ln>
        </p:spPr>
      </p:sp>
      <p:sp>
        <p:nvSpPr>
          <p:cNvPr id="8" name="Shape 6"/>
          <p:cNvSpPr/>
          <p:nvPr/>
        </p:nvSpPr>
        <p:spPr>
          <a:xfrm>
            <a:off x="320040" y="1188720"/>
            <a:ext cx="502920" cy="804672"/>
          </a:xfrm>
          <a:prstGeom prst="rect">
            <a:avLst/>
          </a:prstGeom>
          <a:solidFill>
            <a:srgbClr val="1976D2"/>
          </a:solidFill>
          <a:ln w="12700">
            <a:solidFill>
              <a:srgbClr val="1976D2"/>
            </a:solidFill>
            <a:prstDash val="solid"/>
          </a:ln>
        </p:spPr>
      </p:sp>
      <p:sp>
        <p:nvSpPr>
          <p:cNvPr id="9" name="Text 7"/>
          <p:cNvSpPr/>
          <p:nvPr/>
        </p:nvSpPr>
        <p:spPr>
          <a:xfrm>
            <a:off x="320040" y="1188720"/>
            <a:ext cx="502920" cy="804672"/>
          </a:xfrm>
          <a:prstGeom prst="rect">
            <a:avLst/>
          </a:prstGeom>
          <a:noFill/>
          <a:ln/>
        </p:spPr>
        <p:txBody>
          <a:bodyPr wrap="square" rtlCol="0" anchor="ctr"/>
          <a:lstStyle/>
          <a:p>
            <a:pPr algn="ctr" indent="0" marL="0">
              <a:buNone/>
            </a:pPr>
            <a:r>
              <a:rPr lang="en-US" sz="800" b="1" dirty="0">
                <a:solidFill>
                  <a:srgbClr val="FFFFFF"/>
                </a:solidFill>
              </a:rPr>
              <a:t>int</a:t>
            </a:r>
            <a:endParaRPr lang="en-US" sz="800" dirty="0"/>
          </a:p>
        </p:txBody>
      </p:sp>
      <p:sp>
        <p:nvSpPr>
          <p:cNvPr id="10" name="Text 8"/>
          <p:cNvSpPr/>
          <p:nvPr/>
        </p:nvSpPr>
        <p:spPr>
          <a:xfrm>
            <a:off x="914400" y="1216152"/>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analogRead(pino)</a:t>
            </a:r>
            <a:endParaRPr lang="en-US" sz="1200" dirty="0"/>
          </a:p>
        </p:txBody>
      </p:sp>
      <p:sp>
        <p:nvSpPr>
          <p:cNvPr id="11" name="Text 9"/>
          <p:cNvSpPr/>
          <p:nvPr/>
        </p:nvSpPr>
        <p:spPr>
          <a:xfrm>
            <a:off x="914400" y="1581912"/>
            <a:ext cx="5029200" cy="365760"/>
          </a:xfrm>
          <a:prstGeom prst="rect">
            <a:avLst/>
          </a:prstGeom>
          <a:noFill/>
          <a:ln/>
        </p:spPr>
        <p:txBody>
          <a:bodyPr wrap="square" rtlCol="0" anchor="ctr"/>
          <a:lstStyle/>
          <a:p>
            <a:pPr indent="0" marL="0">
              <a:buNone/>
            </a:pPr>
            <a:r>
              <a:rPr lang="en-US" sz="1100" dirty="0">
                <a:solidFill>
                  <a:srgbClr val="546E7A"/>
                </a:solidFill>
              </a:rPr>
              <a:t>Lê tensão no pino analógico (A0–A5). Retorna 0–1023 correspondente a 0–5V.</a:t>
            </a:r>
            <a:endParaRPr lang="en-US" sz="1100" dirty="0"/>
          </a:p>
        </p:txBody>
      </p:sp>
      <p:sp>
        <p:nvSpPr>
          <p:cNvPr id="12" name="Text 10"/>
          <p:cNvSpPr/>
          <p:nvPr/>
        </p:nvSpPr>
        <p:spPr>
          <a:xfrm>
            <a:off x="6035040" y="1188720"/>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int v = analogRead(A0);</a:t>
            </a:r>
            <a:endParaRPr lang="en-US" sz="1100" dirty="0"/>
          </a:p>
        </p:txBody>
      </p:sp>
      <p:sp>
        <p:nvSpPr>
          <p:cNvPr id="13" name="Shape 11"/>
          <p:cNvSpPr/>
          <p:nvPr/>
        </p:nvSpPr>
        <p:spPr>
          <a:xfrm>
            <a:off x="320040" y="2084832"/>
            <a:ext cx="8503920" cy="804672"/>
          </a:xfrm>
          <a:prstGeom prst="rect">
            <a:avLst/>
          </a:prstGeom>
          <a:solidFill>
            <a:srgbClr val="F5F5F5"/>
          </a:solidFill>
          <a:ln w="12700">
            <a:solidFill>
              <a:srgbClr val="2196F3"/>
            </a:solidFill>
            <a:prstDash val="solid"/>
          </a:ln>
        </p:spPr>
      </p:sp>
      <p:sp>
        <p:nvSpPr>
          <p:cNvPr id="14" name="Shape 12"/>
          <p:cNvSpPr/>
          <p:nvPr/>
        </p:nvSpPr>
        <p:spPr>
          <a:xfrm>
            <a:off x="320040" y="2084832"/>
            <a:ext cx="502920" cy="804672"/>
          </a:xfrm>
          <a:prstGeom prst="rect">
            <a:avLst/>
          </a:prstGeom>
          <a:solidFill>
            <a:srgbClr val="1976D2"/>
          </a:solidFill>
          <a:ln w="12700">
            <a:solidFill>
              <a:srgbClr val="1976D2"/>
            </a:solidFill>
            <a:prstDash val="solid"/>
          </a:ln>
        </p:spPr>
      </p:sp>
      <p:sp>
        <p:nvSpPr>
          <p:cNvPr id="15" name="Text 13"/>
          <p:cNvSpPr/>
          <p:nvPr/>
        </p:nvSpPr>
        <p:spPr>
          <a:xfrm>
            <a:off x="320040" y="2084832"/>
            <a:ext cx="502920" cy="804672"/>
          </a:xfrm>
          <a:prstGeom prst="rect">
            <a:avLst/>
          </a:prstGeom>
          <a:noFill/>
          <a:ln/>
        </p:spPr>
        <p:txBody>
          <a:bodyPr wrap="square" rtlCol="0" anchor="ctr"/>
          <a:lstStyle/>
          <a:p>
            <a:pPr algn="ctr" indent="0" marL="0">
              <a:buNone/>
            </a:pPr>
            <a:r>
              <a:rPr lang="en-US" sz="800" b="1" dirty="0">
                <a:solidFill>
                  <a:srgbClr val="FFFFFF"/>
                </a:solidFill>
              </a:rPr>
              <a:t>void</a:t>
            </a:r>
            <a:endParaRPr lang="en-US" sz="800" dirty="0"/>
          </a:p>
        </p:txBody>
      </p:sp>
      <p:sp>
        <p:nvSpPr>
          <p:cNvPr id="16" name="Text 14"/>
          <p:cNvSpPr/>
          <p:nvPr/>
        </p:nvSpPr>
        <p:spPr>
          <a:xfrm>
            <a:off x="914400" y="2112264"/>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analogWrite(pino, valor)</a:t>
            </a:r>
            <a:endParaRPr lang="en-US" sz="1200" dirty="0"/>
          </a:p>
        </p:txBody>
      </p:sp>
      <p:sp>
        <p:nvSpPr>
          <p:cNvPr id="17" name="Text 15"/>
          <p:cNvSpPr/>
          <p:nvPr/>
        </p:nvSpPr>
        <p:spPr>
          <a:xfrm>
            <a:off x="914400" y="2478024"/>
            <a:ext cx="5029200" cy="365760"/>
          </a:xfrm>
          <a:prstGeom prst="rect">
            <a:avLst/>
          </a:prstGeom>
          <a:noFill/>
          <a:ln/>
        </p:spPr>
        <p:txBody>
          <a:bodyPr wrap="square" rtlCol="0" anchor="ctr"/>
          <a:lstStyle/>
          <a:p>
            <a:pPr indent="0" marL="0">
              <a:buNone/>
            </a:pPr>
            <a:r>
              <a:rPr lang="en-US" sz="1100" dirty="0">
                <a:solidFill>
                  <a:srgbClr val="546E7A"/>
                </a:solidFill>
              </a:rPr>
              <a:t>Gera sinal PWM no pino (~). Valor de 0 (0%) a 255 (100% duty cycle).</a:t>
            </a:r>
            <a:endParaRPr lang="en-US" sz="1100" dirty="0"/>
          </a:p>
        </p:txBody>
      </p:sp>
      <p:sp>
        <p:nvSpPr>
          <p:cNvPr id="18" name="Text 16"/>
          <p:cNvSpPr/>
          <p:nvPr/>
        </p:nvSpPr>
        <p:spPr>
          <a:xfrm>
            <a:off x="6035040" y="2084832"/>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analogWrite(9, 128);</a:t>
            </a:r>
            <a:endParaRPr lang="en-US" sz="1100" dirty="0"/>
          </a:p>
        </p:txBody>
      </p:sp>
      <p:sp>
        <p:nvSpPr>
          <p:cNvPr id="19" name="Shape 17"/>
          <p:cNvSpPr/>
          <p:nvPr/>
        </p:nvSpPr>
        <p:spPr>
          <a:xfrm>
            <a:off x="320040" y="2980944"/>
            <a:ext cx="8503920" cy="804672"/>
          </a:xfrm>
          <a:prstGeom prst="rect">
            <a:avLst/>
          </a:prstGeom>
          <a:solidFill>
            <a:srgbClr val="E3F2FD"/>
          </a:solidFill>
          <a:ln w="12700">
            <a:solidFill>
              <a:srgbClr val="2196F3"/>
            </a:solidFill>
            <a:prstDash val="solid"/>
          </a:ln>
        </p:spPr>
      </p:sp>
      <p:sp>
        <p:nvSpPr>
          <p:cNvPr id="20" name="Shape 18"/>
          <p:cNvSpPr/>
          <p:nvPr/>
        </p:nvSpPr>
        <p:spPr>
          <a:xfrm>
            <a:off x="320040" y="2980944"/>
            <a:ext cx="502920" cy="804672"/>
          </a:xfrm>
          <a:prstGeom prst="rect">
            <a:avLst/>
          </a:prstGeom>
          <a:solidFill>
            <a:srgbClr val="1976D2"/>
          </a:solidFill>
          <a:ln w="12700">
            <a:solidFill>
              <a:srgbClr val="1976D2"/>
            </a:solidFill>
            <a:prstDash val="solid"/>
          </a:ln>
        </p:spPr>
      </p:sp>
      <p:sp>
        <p:nvSpPr>
          <p:cNvPr id="21" name="Text 19"/>
          <p:cNvSpPr/>
          <p:nvPr/>
        </p:nvSpPr>
        <p:spPr>
          <a:xfrm>
            <a:off x="320040" y="2980944"/>
            <a:ext cx="502920" cy="804672"/>
          </a:xfrm>
          <a:prstGeom prst="rect">
            <a:avLst/>
          </a:prstGeom>
          <a:noFill/>
          <a:ln/>
        </p:spPr>
        <p:txBody>
          <a:bodyPr wrap="square" rtlCol="0" anchor="ctr"/>
          <a:lstStyle/>
          <a:p>
            <a:pPr algn="ctr" indent="0" marL="0">
              <a:buNone/>
            </a:pPr>
            <a:r>
              <a:rPr lang="en-US" sz="800" b="1" dirty="0">
                <a:solidFill>
                  <a:srgbClr val="FFFFFF"/>
                </a:solidFill>
              </a:rPr>
              <a:t>void</a:t>
            </a:r>
            <a:endParaRPr lang="en-US" sz="800" dirty="0"/>
          </a:p>
        </p:txBody>
      </p:sp>
      <p:sp>
        <p:nvSpPr>
          <p:cNvPr id="22" name="Text 20"/>
          <p:cNvSpPr/>
          <p:nvPr/>
        </p:nvSpPr>
        <p:spPr>
          <a:xfrm>
            <a:off x="914400" y="3008376"/>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analogReference(tipo)</a:t>
            </a:r>
            <a:endParaRPr lang="en-US" sz="1200" dirty="0"/>
          </a:p>
        </p:txBody>
      </p:sp>
      <p:sp>
        <p:nvSpPr>
          <p:cNvPr id="23" name="Text 21"/>
          <p:cNvSpPr/>
          <p:nvPr/>
        </p:nvSpPr>
        <p:spPr>
          <a:xfrm>
            <a:off x="914400" y="3374136"/>
            <a:ext cx="5029200" cy="365760"/>
          </a:xfrm>
          <a:prstGeom prst="rect">
            <a:avLst/>
          </a:prstGeom>
          <a:noFill/>
          <a:ln/>
        </p:spPr>
        <p:txBody>
          <a:bodyPr wrap="square" rtlCol="0" anchor="ctr"/>
          <a:lstStyle/>
          <a:p>
            <a:pPr indent="0" marL="0">
              <a:buNone/>
            </a:pPr>
            <a:r>
              <a:rPr lang="en-US" sz="1100" dirty="0">
                <a:solidFill>
                  <a:srgbClr val="546E7A"/>
                </a:solidFill>
              </a:rPr>
              <a:t>Define a tensão de referência: DEFAULT (5V), INTERNAL (1.1V), EXTERNAL.</a:t>
            </a:r>
            <a:endParaRPr lang="en-US" sz="1100" dirty="0"/>
          </a:p>
        </p:txBody>
      </p:sp>
      <p:sp>
        <p:nvSpPr>
          <p:cNvPr id="24" name="Text 22"/>
          <p:cNvSpPr/>
          <p:nvPr/>
        </p:nvSpPr>
        <p:spPr>
          <a:xfrm>
            <a:off x="6035040" y="2980944"/>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analogReference(DEFAULT);</a:t>
            </a:r>
            <a:endParaRPr lang="en-US" sz="1100" dirty="0"/>
          </a:p>
        </p:txBody>
      </p:sp>
      <p:sp>
        <p:nvSpPr>
          <p:cNvPr id="25" name="Shape 23"/>
          <p:cNvSpPr/>
          <p:nvPr/>
        </p:nvSpPr>
        <p:spPr>
          <a:xfrm>
            <a:off x="320040" y="3877056"/>
            <a:ext cx="8503920" cy="804672"/>
          </a:xfrm>
          <a:prstGeom prst="rect">
            <a:avLst/>
          </a:prstGeom>
          <a:solidFill>
            <a:srgbClr val="F5F5F5"/>
          </a:solidFill>
          <a:ln w="12700">
            <a:solidFill>
              <a:srgbClr val="2196F3"/>
            </a:solidFill>
            <a:prstDash val="solid"/>
          </a:ln>
        </p:spPr>
      </p:sp>
      <p:sp>
        <p:nvSpPr>
          <p:cNvPr id="26" name="Shape 24"/>
          <p:cNvSpPr/>
          <p:nvPr/>
        </p:nvSpPr>
        <p:spPr>
          <a:xfrm>
            <a:off x="320040" y="3877056"/>
            <a:ext cx="502920" cy="804672"/>
          </a:xfrm>
          <a:prstGeom prst="rect">
            <a:avLst/>
          </a:prstGeom>
          <a:solidFill>
            <a:srgbClr val="1976D2"/>
          </a:solidFill>
          <a:ln w="12700">
            <a:solidFill>
              <a:srgbClr val="1976D2"/>
            </a:solidFill>
            <a:prstDash val="solid"/>
          </a:ln>
        </p:spPr>
      </p:sp>
      <p:sp>
        <p:nvSpPr>
          <p:cNvPr id="27" name="Text 25"/>
          <p:cNvSpPr/>
          <p:nvPr/>
        </p:nvSpPr>
        <p:spPr>
          <a:xfrm>
            <a:off x="320040" y="3877056"/>
            <a:ext cx="502920" cy="804672"/>
          </a:xfrm>
          <a:prstGeom prst="rect">
            <a:avLst/>
          </a:prstGeom>
          <a:noFill/>
          <a:ln/>
        </p:spPr>
        <p:txBody>
          <a:bodyPr wrap="square" rtlCol="0" anchor="ctr"/>
          <a:lstStyle/>
          <a:p>
            <a:pPr algn="ctr" indent="0" marL="0">
              <a:buNone/>
            </a:pPr>
            <a:r>
              <a:rPr lang="en-US" sz="800" b="1" dirty="0">
                <a:solidFill>
                  <a:srgbClr val="FFFFFF"/>
                </a:solidFill>
              </a:rPr>
              <a:t>void</a:t>
            </a:r>
            <a:endParaRPr lang="en-US" sz="800" dirty="0"/>
          </a:p>
        </p:txBody>
      </p:sp>
      <p:sp>
        <p:nvSpPr>
          <p:cNvPr id="28" name="Text 26"/>
          <p:cNvSpPr/>
          <p:nvPr/>
        </p:nvSpPr>
        <p:spPr>
          <a:xfrm>
            <a:off x="914400" y="3904488"/>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analogReadResolution(bits)</a:t>
            </a:r>
            <a:endParaRPr lang="en-US" sz="1200" dirty="0"/>
          </a:p>
        </p:txBody>
      </p:sp>
      <p:sp>
        <p:nvSpPr>
          <p:cNvPr id="29" name="Text 27"/>
          <p:cNvSpPr/>
          <p:nvPr/>
        </p:nvSpPr>
        <p:spPr>
          <a:xfrm>
            <a:off x="914400" y="4270248"/>
            <a:ext cx="5029200" cy="365760"/>
          </a:xfrm>
          <a:prstGeom prst="rect">
            <a:avLst/>
          </a:prstGeom>
          <a:noFill/>
          <a:ln/>
        </p:spPr>
        <p:txBody>
          <a:bodyPr wrap="square" rtlCol="0" anchor="ctr"/>
          <a:lstStyle/>
          <a:p>
            <a:pPr indent="0" marL="0">
              <a:buNone/>
            </a:pPr>
            <a:r>
              <a:rPr lang="en-US" sz="1100" dirty="0">
                <a:solidFill>
                  <a:srgbClr val="546E7A"/>
                </a:solidFill>
              </a:rPr>
              <a:t>Ajusta resolução da leitura analógica (padrão 10 bits). Disponível em modelos Due/Zero.</a:t>
            </a:r>
            <a:endParaRPr lang="en-US" sz="1100" dirty="0"/>
          </a:p>
        </p:txBody>
      </p:sp>
      <p:sp>
        <p:nvSpPr>
          <p:cNvPr id="30" name="Text 28"/>
          <p:cNvSpPr/>
          <p:nvPr/>
        </p:nvSpPr>
        <p:spPr>
          <a:xfrm>
            <a:off x="6035040" y="3877056"/>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analogReadResolution(12);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Tempo e Temporização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88720"/>
            <a:ext cx="8503920" cy="804672"/>
          </a:xfrm>
          <a:prstGeom prst="rect">
            <a:avLst/>
          </a:prstGeom>
          <a:solidFill>
            <a:srgbClr val="E3F2FD"/>
          </a:solidFill>
          <a:ln w="12700">
            <a:solidFill>
              <a:srgbClr val="2196F3"/>
            </a:solidFill>
            <a:prstDash val="solid"/>
          </a:ln>
        </p:spPr>
      </p:sp>
      <p:sp>
        <p:nvSpPr>
          <p:cNvPr id="8" name="Shape 6"/>
          <p:cNvSpPr/>
          <p:nvPr/>
        </p:nvSpPr>
        <p:spPr>
          <a:xfrm>
            <a:off x="320040" y="1188720"/>
            <a:ext cx="502920" cy="804672"/>
          </a:xfrm>
          <a:prstGeom prst="rect">
            <a:avLst/>
          </a:prstGeom>
          <a:solidFill>
            <a:srgbClr val="00838F"/>
          </a:solidFill>
          <a:ln w="12700">
            <a:solidFill>
              <a:srgbClr val="00838F"/>
            </a:solidFill>
            <a:prstDash val="solid"/>
          </a:ln>
        </p:spPr>
      </p:sp>
      <p:sp>
        <p:nvSpPr>
          <p:cNvPr id="9" name="Text 7"/>
          <p:cNvSpPr/>
          <p:nvPr/>
        </p:nvSpPr>
        <p:spPr>
          <a:xfrm>
            <a:off x="320040" y="1188720"/>
            <a:ext cx="502920" cy="804672"/>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10" name="Text 8"/>
          <p:cNvSpPr/>
          <p:nvPr/>
        </p:nvSpPr>
        <p:spPr>
          <a:xfrm>
            <a:off x="914400" y="1216152"/>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delay(ms)</a:t>
            </a:r>
            <a:endParaRPr lang="en-US" sz="1200" dirty="0"/>
          </a:p>
        </p:txBody>
      </p:sp>
      <p:sp>
        <p:nvSpPr>
          <p:cNvPr id="11" name="Text 9"/>
          <p:cNvSpPr/>
          <p:nvPr/>
        </p:nvSpPr>
        <p:spPr>
          <a:xfrm>
            <a:off x="914400" y="1581912"/>
            <a:ext cx="5029200" cy="365760"/>
          </a:xfrm>
          <a:prstGeom prst="rect">
            <a:avLst/>
          </a:prstGeom>
          <a:noFill/>
          <a:ln/>
        </p:spPr>
        <p:txBody>
          <a:bodyPr wrap="square" rtlCol="0" anchor="ctr"/>
          <a:lstStyle/>
          <a:p>
            <a:pPr indent="0" marL="0">
              <a:buNone/>
            </a:pPr>
            <a:r>
              <a:rPr lang="en-US" sz="1100" dirty="0">
                <a:solidFill>
                  <a:srgbClr val="546E7A"/>
                </a:solidFill>
              </a:rPr>
              <a:t>Para a execução por N milissegundos. Bloqueia o programa — evite em sistemas críticos.</a:t>
            </a:r>
            <a:endParaRPr lang="en-US" sz="1100" dirty="0"/>
          </a:p>
        </p:txBody>
      </p:sp>
      <p:sp>
        <p:nvSpPr>
          <p:cNvPr id="12" name="Text 10"/>
          <p:cNvSpPr/>
          <p:nvPr/>
        </p:nvSpPr>
        <p:spPr>
          <a:xfrm>
            <a:off x="6035040" y="1188720"/>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delay(1000);</a:t>
            </a:r>
            <a:endParaRPr lang="en-US" sz="1100" dirty="0"/>
          </a:p>
        </p:txBody>
      </p:sp>
      <p:sp>
        <p:nvSpPr>
          <p:cNvPr id="13" name="Shape 11"/>
          <p:cNvSpPr/>
          <p:nvPr/>
        </p:nvSpPr>
        <p:spPr>
          <a:xfrm>
            <a:off x="320040" y="2084832"/>
            <a:ext cx="8503920" cy="804672"/>
          </a:xfrm>
          <a:prstGeom prst="rect">
            <a:avLst/>
          </a:prstGeom>
          <a:solidFill>
            <a:srgbClr val="F5F5F5"/>
          </a:solidFill>
          <a:ln w="12700">
            <a:solidFill>
              <a:srgbClr val="2196F3"/>
            </a:solidFill>
            <a:prstDash val="solid"/>
          </a:ln>
        </p:spPr>
      </p:sp>
      <p:sp>
        <p:nvSpPr>
          <p:cNvPr id="14" name="Shape 12"/>
          <p:cNvSpPr/>
          <p:nvPr/>
        </p:nvSpPr>
        <p:spPr>
          <a:xfrm>
            <a:off x="320040" y="2084832"/>
            <a:ext cx="502920" cy="804672"/>
          </a:xfrm>
          <a:prstGeom prst="rect">
            <a:avLst/>
          </a:prstGeom>
          <a:solidFill>
            <a:srgbClr val="00838F"/>
          </a:solidFill>
          <a:ln w="12700">
            <a:solidFill>
              <a:srgbClr val="00838F"/>
            </a:solidFill>
            <a:prstDash val="solid"/>
          </a:ln>
        </p:spPr>
      </p:sp>
      <p:sp>
        <p:nvSpPr>
          <p:cNvPr id="15" name="Text 13"/>
          <p:cNvSpPr/>
          <p:nvPr/>
        </p:nvSpPr>
        <p:spPr>
          <a:xfrm>
            <a:off x="320040" y="2084832"/>
            <a:ext cx="502920" cy="804672"/>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16" name="Text 14"/>
          <p:cNvSpPr/>
          <p:nvPr/>
        </p:nvSpPr>
        <p:spPr>
          <a:xfrm>
            <a:off x="914400" y="2112264"/>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delayMicroseconds(us)</a:t>
            </a:r>
            <a:endParaRPr lang="en-US" sz="1200" dirty="0"/>
          </a:p>
        </p:txBody>
      </p:sp>
      <p:sp>
        <p:nvSpPr>
          <p:cNvPr id="17" name="Text 15"/>
          <p:cNvSpPr/>
          <p:nvPr/>
        </p:nvSpPr>
        <p:spPr>
          <a:xfrm>
            <a:off x="914400" y="2478024"/>
            <a:ext cx="5029200" cy="365760"/>
          </a:xfrm>
          <a:prstGeom prst="rect">
            <a:avLst/>
          </a:prstGeom>
          <a:noFill/>
          <a:ln/>
        </p:spPr>
        <p:txBody>
          <a:bodyPr wrap="square" rtlCol="0" anchor="ctr"/>
          <a:lstStyle/>
          <a:p>
            <a:pPr indent="0" marL="0">
              <a:buNone/>
            </a:pPr>
            <a:r>
              <a:rPr lang="en-US" sz="1100" dirty="0">
                <a:solidFill>
                  <a:srgbClr val="546E7A"/>
                </a:solidFill>
              </a:rPr>
              <a:t>Para a execução por N microssegundos. Útil para pulsos de alta precisão.</a:t>
            </a:r>
            <a:endParaRPr lang="en-US" sz="1100" dirty="0"/>
          </a:p>
        </p:txBody>
      </p:sp>
      <p:sp>
        <p:nvSpPr>
          <p:cNvPr id="18" name="Text 16"/>
          <p:cNvSpPr/>
          <p:nvPr/>
        </p:nvSpPr>
        <p:spPr>
          <a:xfrm>
            <a:off x="6035040" y="2084832"/>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delayMicroseconds(500);</a:t>
            </a:r>
            <a:endParaRPr lang="en-US" sz="1100" dirty="0"/>
          </a:p>
        </p:txBody>
      </p:sp>
      <p:sp>
        <p:nvSpPr>
          <p:cNvPr id="19" name="Shape 17"/>
          <p:cNvSpPr/>
          <p:nvPr/>
        </p:nvSpPr>
        <p:spPr>
          <a:xfrm>
            <a:off x="320040" y="2980944"/>
            <a:ext cx="8503920" cy="804672"/>
          </a:xfrm>
          <a:prstGeom prst="rect">
            <a:avLst/>
          </a:prstGeom>
          <a:solidFill>
            <a:srgbClr val="E3F2FD"/>
          </a:solidFill>
          <a:ln w="12700">
            <a:solidFill>
              <a:srgbClr val="2196F3"/>
            </a:solidFill>
            <a:prstDash val="solid"/>
          </a:ln>
        </p:spPr>
      </p:sp>
      <p:sp>
        <p:nvSpPr>
          <p:cNvPr id="20" name="Shape 18"/>
          <p:cNvSpPr/>
          <p:nvPr/>
        </p:nvSpPr>
        <p:spPr>
          <a:xfrm>
            <a:off x="320040" y="2980944"/>
            <a:ext cx="502920" cy="804672"/>
          </a:xfrm>
          <a:prstGeom prst="rect">
            <a:avLst/>
          </a:prstGeom>
          <a:solidFill>
            <a:srgbClr val="00838F"/>
          </a:solidFill>
          <a:ln w="12700">
            <a:solidFill>
              <a:srgbClr val="00838F"/>
            </a:solidFill>
            <a:prstDash val="solid"/>
          </a:ln>
        </p:spPr>
      </p:sp>
      <p:sp>
        <p:nvSpPr>
          <p:cNvPr id="21" name="Text 19"/>
          <p:cNvSpPr/>
          <p:nvPr/>
        </p:nvSpPr>
        <p:spPr>
          <a:xfrm>
            <a:off x="320040" y="2980944"/>
            <a:ext cx="502920" cy="804672"/>
          </a:xfrm>
          <a:prstGeom prst="rect">
            <a:avLst/>
          </a:prstGeom>
          <a:noFill/>
          <a:ln/>
        </p:spPr>
        <p:txBody>
          <a:bodyPr wrap="square" rtlCol="0" anchor="ctr"/>
          <a:lstStyle/>
          <a:p>
            <a:pPr algn="ctr" indent="0" marL="0">
              <a:buNone/>
            </a:pPr>
            <a:r>
              <a:rPr lang="en-US" sz="700" b="1" dirty="0">
                <a:solidFill>
                  <a:srgbClr val="FFFFFF"/>
                </a:solidFill>
              </a:rPr>
              <a:t>ulong</a:t>
            </a:r>
            <a:endParaRPr lang="en-US" sz="700" dirty="0"/>
          </a:p>
        </p:txBody>
      </p:sp>
      <p:sp>
        <p:nvSpPr>
          <p:cNvPr id="22" name="Text 20"/>
          <p:cNvSpPr/>
          <p:nvPr/>
        </p:nvSpPr>
        <p:spPr>
          <a:xfrm>
            <a:off x="914400" y="3008376"/>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millis()</a:t>
            </a:r>
            <a:endParaRPr lang="en-US" sz="1200" dirty="0"/>
          </a:p>
        </p:txBody>
      </p:sp>
      <p:sp>
        <p:nvSpPr>
          <p:cNvPr id="23" name="Text 21"/>
          <p:cNvSpPr/>
          <p:nvPr/>
        </p:nvSpPr>
        <p:spPr>
          <a:xfrm>
            <a:off x="914400" y="3374136"/>
            <a:ext cx="5029200" cy="365760"/>
          </a:xfrm>
          <a:prstGeom prst="rect">
            <a:avLst/>
          </a:prstGeom>
          <a:noFill/>
          <a:ln/>
        </p:spPr>
        <p:txBody>
          <a:bodyPr wrap="square" rtlCol="0" anchor="ctr"/>
          <a:lstStyle/>
          <a:p>
            <a:pPr indent="0" marL="0">
              <a:buNone/>
            </a:pPr>
            <a:r>
              <a:rPr lang="en-US" sz="1100" dirty="0">
                <a:solidFill>
                  <a:srgbClr val="546E7A"/>
                </a:solidFill>
              </a:rPr>
              <a:t>Retorna o tempo (ms) decorrido desde o início do programa. Não bloqueia o código.</a:t>
            </a:r>
            <a:endParaRPr lang="en-US" sz="1100" dirty="0"/>
          </a:p>
        </p:txBody>
      </p:sp>
      <p:sp>
        <p:nvSpPr>
          <p:cNvPr id="24" name="Text 22"/>
          <p:cNvSpPr/>
          <p:nvPr/>
        </p:nvSpPr>
        <p:spPr>
          <a:xfrm>
            <a:off x="6035040" y="2980944"/>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unsigned long t = millis();</a:t>
            </a:r>
            <a:endParaRPr lang="en-US" sz="1100" dirty="0"/>
          </a:p>
        </p:txBody>
      </p:sp>
      <p:sp>
        <p:nvSpPr>
          <p:cNvPr id="25" name="Shape 23"/>
          <p:cNvSpPr/>
          <p:nvPr/>
        </p:nvSpPr>
        <p:spPr>
          <a:xfrm>
            <a:off x="320040" y="3877056"/>
            <a:ext cx="8503920" cy="804672"/>
          </a:xfrm>
          <a:prstGeom prst="rect">
            <a:avLst/>
          </a:prstGeom>
          <a:solidFill>
            <a:srgbClr val="F5F5F5"/>
          </a:solidFill>
          <a:ln w="12700">
            <a:solidFill>
              <a:srgbClr val="2196F3"/>
            </a:solidFill>
            <a:prstDash val="solid"/>
          </a:ln>
        </p:spPr>
      </p:sp>
      <p:sp>
        <p:nvSpPr>
          <p:cNvPr id="26" name="Shape 24"/>
          <p:cNvSpPr/>
          <p:nvPr/>
        </p:nvSpPr>
        <p:spPr>
          <a:xfrm>
            <a:off x="320040" y="3877056"/>
            <a:ext cx="502920" cy="804672"/>
          </a:xfrm>
          <a:prstGeom prst="rect">
            <a:avLst/>
          </a:prstGeom>
          <a:solidFill>
            <a:srgbClr val="00838F"/>
          </a:solidFill>
          <a:ln w="12700">
            <a:solidFill>
              <a:srgbClr val="00838F"/>
            </a:solidFill>
            <a:prstDash val="solid"/>
          </a:ln>
        </p:spPr>
      </p:sp>
      <p:sp>
        <p:nvSpPr>
          <p:cNvPr id="27" name="Text 25"/>
          <p:cNvSpPr/>
          <p:nvPr/>
        </p:nvSpPr>
        <p:spPr>
          <a:xfrm>
            <a:off x="320040" y="3877056"/>
            <a:ext cx="502920" cy="804672"/>
          </a:xfrm>
          <a:prstGeom prst="rect">
            <a:avLst/>
          </a:prstGeom>
          <a:noFill/>
          <a:ln/>
        </p:spPr>
        <p:txBody>
          <a:bodyPr wrap="square" rtlCol="0" anchor="ctr"/>
          <a:lstStyle/>
          <a:p>
            <a:pPr algn="ctr" indent="0" marL="0">
              <a:buNone/>
            </a:pPr>
            <a:r>
              <a:rPr lang="en-US" sz="700" b="1" dirty="0">
                <a:solidFill>
                  <a:srgbClr val="FFFFFF"/>
                </a:solidFill>
              </a:rPr>
              <a:t>ulong</a:t>
            </a:r>
            <a:endParaRPr lang="en-US" sz="700" dirty="0"/>
          </a:p>
        </p:txBody>
      </p:sp>
      <p:sp>
        <p:nvSpPr>
          <p:cNvPr id="28" name="Text 26"/>
          <p:cNvSpPr/>
          <p:nvPr/>
        </p:nvSpPr>
        <p:spPr>
          <a:xfrm>
            <a:off x="914400" y="3904488"/>
            <a:ext cx="3474720" cy="347472"/>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micros()</a:t>
            </a:r>
            <a:endParaRPr lang="en-US" sz="1200" dirty="0"/>
          </a:p>
        </p:txBody>
      </p:sp>
      <p:sp>
        <p:nvSpPr>
          <p:cNvPr id="29" name="Text 27"/>
          <p:cNvSpPr/>
          <p:nvPr/>
        </p:nvSpPr>
        <p:spPr>
          <a:xfrm>
            <a:off x="914400" y="4270248"/>
            <a:ext cx="5029200" cy="365760"/>
          </a:xfrm>
          <a:prstGeom prst="rect">
            <a:avLst/>
          </a:prstGeom>
          <a:noFill/>
          <a:ln/>
        </p:spPr>
        <p:txBody>
          <a:bodyPr wrap="square" rtlCol="0" anchor="ctr"/>
          <a:lstStyle/>
          <a:p>
            <a:pPr indent="0" marL="0">
              <a:buNone/>
            </a:pPr>
            <a:r>
              <a:rPr lang="en-US" sz="1100" dirty="0">
                <a:solidFill>
                  <a:srgbClr val="546E7A"/>
                </a:solidFill>
              </a:rPr>
              <a:t>Retorna o tempo (µs) decorrido desde o início. Reset a cada ~70 minutos.</a:t>
            </a:r>
            <a:endParaRPr lang="en-US" sz="1100" dirty="0"/>
          </a:p>
        </p:txBody>
      </p:sp>
      <p:sp>
        <p:nvSpPr>
          <p:cNvPr id="30" name="Text 28"/>
          <p:cNvSpPr/>
          <p:nvPr/>
        </p:nvSpPr>
        <p:spPr>
          <a:xfrm>
            <a:off x="6035040" y="3877056"/>
            <a:ext cx="2743200" cy="804672"/>
          </a:xfrm>
          <a:prstGeom prst="rect">
            <a:avLst/>
          </a:prstGeom>
          <a:noFill/>
          <a:ln/>
        </p:spPr>
        <p:txBody>
          <a:bodyPr wrap="square" rtlCol="0" anchor="ctr"/>
          <a:lstStyle/>
          <a:p>
            <a:pPr algn="ctr" indent="0" marL="0">
              <a:buNone/>
            </a:pPr>
            <a:r>
              <a:rPr lang="en-US" sz="1100" dirty="0">
                <a:solidFill>
                  <a:srgbClr val="1976D2"/>
                </a:solidFill>
                <a:latin typeface="Consolas" pitchFamily="34" charset="0"/>
                <a:ea typeface="Consolas" pitchFamily="34" charset="-122"/>
                <a:cs typeface="Consolas" pitchFamily="34" charset="-120"/>
              </a:rPr>
              <a:t>unsigned long t = micros();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Comunicação Serial</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70432"/>
            <a:ext cx="8503920" cy="658368"/>
          </a:xfrm>
          <a:prstGeom prst="rect">
            <a:avLst/>
          </a:prstGeom>
          <a:solidFill>
            <a:srgbClr val="E3F2FD"/>
          </a:solidFill>
          <a:ln w="12700">
            <a:solidFill>
              <a:srgbClr val="2196F3"/>
            </a:solidFill>
            <a:prstDash val="solid"/>
          </a:ln>
        </p:spPr>
      </p:sp>
      <p:sp>
        <p:nvSpPr>
          <p:cNvPr id="8" name="Shape 6"/>
          <p:cNvSpPr/>
          <p:nvPr/>
        </p:nvSpPr>
        <p:spPr>
          <a:xfrm>
            <a:off x="320040" y="1170432"/>
            <a:ext cx="502920" cy="658368"/>
          </a:xfrm>
          <a:prstGeom prst="rect">
            <a:avLst/>
          </a:prstGeom>
          <a:solidFill>
            <a:srgbClr val="37474F"/>
          </a:solidFill>
          <a:ln w="12700">
            <a:solidFill>
              <a:srgbClr val="37474F"/>
            </a:solidFill>
            <a:prstDash val="solid"/>
          </a:ln>
        </p:spPr>
      </p:sp>
      <p:sp>
        <p:nvSpPr>
          <p:cNvPr id="9" name="Text 7"/>
          <p:cNvSpPr/>
          <p:nvPr/>
        </p:nvSpPr>
        <p:spPr>
          <a:xfrm>
            <a:off x="320040" y="1170432"/>
            <a:ext cx="502920" cy="658368"/>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10" name="Text 8"/>
          <p:cNvSpPr/>
          <p:nvPr/>
        </p:nvSpPr>
        <p:spPr>
          <a:xfrm>
            <a:off x="914400" y="1188720"/>
            <a:ext cx="3474720" cy="292608"/>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Serial.begin(baud)</a:t>
            </a:r>
            <a:endParaRPr lang="en-US" sz="1200" dirty="0"/>
          </a:p>
        </p:txBody>
      </p:sp>
      <p:sp>
        <p:nvSpPr>
          <p:cNvPr id="11" name="Text 9"/>
          <p:cNvSpPr/>
          <p:nvPr/>
        </p:nvSpPr>
        <p:spPr>
          <a:xfrm>
            <a:off x="914400" y="1499616"/>
            <a:ext cx="4846320" cy="292608"/>
          </a:xfrm>
          <a:prstGeom prst="rect">
            <a:avLst/>
          </a:prstGeom>
          <a:noFill/>
          <a:ln/>
        </p:spPr>
        <p:txBody>
          <a:bodyPr wrap="square" rtlCol="0" anchor="ctr"/>
          <a:lstStyle/>
          <a:p>
            <a:pPr indent="0" marL="0">
              <a:buNone/>
            </a:pPr>
            <a:r>
              <a:rPr lang="en-US" sz="1050" dirty="0">
                <a:solidFill>
                  <a:srgbClr val="546E7A"/>
                </a:solidFill>
              </a:rPr>
              <a:t>Inicializa a comunicação serial com a taxa em baud (ex: 9600, 115200). Usar no setup().</a:t>
            </a:r>
            <a:endParaRPr lang="en-US" sz="1050" dirty="0"/>
          </a:p>
        </p:txBody>
      </p:sp>
      <p:sp>
        <p:nvSpPr>
          <p:cNvPr id="12" name="Text 10"/>
          <p:cNvSpPr/>
          <p:nvPr/>
        </p:nvSpPr>
        <p:spPr>
          <a:xfrm>
            <a:off x="5897880" y="1170432"/>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Serial.begin(9600);</a:t>
            </a:r>
            <a:endParaRPr lang="en-US" sz="1000" dirty="0"/>
          </a:p>
        </p:txBody>
      </p:sp>
      <p:sp>
        <p:nvSpPr>
          <p:cNvPr id="13" name="Shape 11"/>
          <p:cNvSpPr/>
          <p:nvPr/>
        </p:nvSpPr>
        <p:spPr>
          <a:xfrm>
            <a:off x="320040" y="1920240"/>
            <a:ext cx="8503920" cy="658368"/>
          </a:xfrm>
          <a:prstGeom prst="rect">
            <a:avLst/>
          </a:prstGeom>
          <a:solidFill>
            <a:srgbClr val="F5F5F5"/>
          </a:solidFill>
          <a:ln w="12700">
            <a:solidFill>
              <a:srgbClr val="2196F3"/>
            </a:solidFill>
            <a:prstDash val="solid"/>
          </a:ln>
        </p:spPr>
      </p:sp>
      <p:sp>
        <p:nvSpPr>
          <p:cNvPr id="14" name="Shape 12"/>
          <p:cNvSpPr/>
          <p:nvPr/>
        </p:nvSpPr>
        <p:spPr>
          <a:xfrm>
            <a:off x="320040" y="1920240"/>
            <a:ext cx="502920" cy="658368"/>
          </a:xfrm>
          <a:prstGeom prst="rect">
            <a:avLst/>
          </a:prstGeom>
          <a:solidFill>
            <a:srgbClr val="37474F"/>
          </a:solidFill>
          <a:ln w="12700">
            <a:solidFill>
              <a:srgbClr val="37474F"/>
            </a:solidFill>
            <a:prstDash val="solid"/>
          </a:ln>
        </p:spPr>
      </p:sp>
      <p:sp>
        <p:nvSpPr>
          <p:cNvPr id="15" name="Text 13"/>
          <p:cNvSpPr/>
          <p:nvPr/>
        </p:nvSpPr>
        <p:spPr>
          <a:xfrm>
            <a:off x="320040" y="1920240"/>
            <a:ext cx="502920" cy="658368"/>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16" name="Text 14"/>
          <p:cNvSpPr/>
          <p:nvPr/>
        </p:nvSpPr>
        <p:spPr>
          <a:xfrm>
            <a:off x="914400" y="1938528"/>
            <a:ext cx="3474720" cy="292608"/>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Serial.print(valor)</a:t>
            </a:r>
            <a:endParaRPr lang="en-US" sz="1200" dirty="0"/>
          </a:p>
        </p:txBody>
      </p:sp>
      <p:sp>
        <p:nvSpPr>
          <p:cNvPr id="17" name="Text 15"/>
          <p:cNvSpPr/>
          <p:nvPr/>
        </p:nvSpPr>
        <p:spPr>
          <a:xfrm>
            <a:off x="914400" y="2249424"/>
            <a:ext cx="4846320" cy="292608"/>
          </a:xfrm>
          <a:prstGeom prst="rect">
            <a:avLst/>
          </a:prstGeom>
          <a:noFill/>
          <a:ln/>
        </p:spPr>
        <p:txBody>
          <a:bodyPr wrap="square" rtlCol="0" anchor="ctr"/>
          <a:lstStyle/>
          <a:p>
            <a:pPr indent="0" marL="0">
              <a:buNone/>
            </a:pPr>
            <a:r>
              <a:rPr lang="en-US" sz="1050" dirty="0">
                <a:solidFill>
                  <a:srgbClr val="546E7A"/>
                </a:solidFill>
              </a:rPr>
              <a:t>Envia dados ao monitor serial sem quebra de linha. Aceita texto, int, float, char.</a:t>
            </a:r>
            <a:endParaRPr lang="en-US" sz="1050" dirty="0"/>
          </a:p>
        </p:txBody>
      </p:sp>
      <p:sp>
        <p:nvSpPr>
          <p:cNvPr id="18" name="Text 16"/>
          <p:cNvSpPr/>
          <p:nvPr/>
        </p:nvSpPr>
        <p:spPr>
          <a:xfrm>
            <a:off x="5897880" y="1920240"/>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Serial.print("Temp: ");</a:t>
            </a:r>
            <a:endParaRPr lang="en-US" sz="1000" dirty="0"/>
          </a:p>
        </p:txBody>
      </p:sp>
      <p:sp>
        <p:nvSpPr>
          <p:cNvPr id="19" name="Shape 17"/>
          <p:cNvSpPr/>
          <p:nvPr/>
        </p:nvSpPr>
        <p:spPr>
          <a:xfrm>
            <a:off x="320040" y="2670048"/>
            <a:ext cx="8503920" cy="658368"/>
          </a:xfrm>
          <a:prstGeom prst="rect">
            <a:avLst/>
          </a:prstGeom>
          <a:solidFill>
            <a:srgbClr val="E3F2FD"/>
          </a:solidFill>
          <a:ln w="12700">
            <a:solidFill>
              <a:srgbClr val="2196F3"/>
            </a:solidFill>
            <a:prstDash val="solid"/>
          </a:ln>
        </p:spPr>
      </p:sp>
      <p:sp>
        <p:nvSpPr>
          <p:cNvPr id="20" name="Shape 18"/>
          <p:cNvSpPr/>
          <p:nvPr/>
        </p:nvSpPr>
        <p:spPr>
          <a:xfrm>
            <a:off x="320040" y="2670048"/>
            <a:ext cx="502920" cy="658368"/>
          </a:xfrm>
          <a:prstGeom prst="rect">
            <a:avLst/>
          </a:prstGeom>
          <a:solidFill>
            <a:srgbClr val="37474F"/>
          </a:solidFill>
          <a:ln w="12700">
            <a:solidFill>
              <a:srgbClr val="37474F"/>
            </a:solidFill>
            <a:prstDash val="solid"/>
          </a:ln>
        </p:spPr>
      </p:sp>
      <p:sp>
        <p:nvSpPr>
          <p:cNvPr id="21" name="Text 19"/>
          <p:cNvSpPr/>
          <p:nvPr/>
        </p:nvSpPr>
        <p:spPr>
          <a:xfrm>
            <a:off x="320040" y="2670048"/>
            <a:ext cx="502920" cy="658368"/>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22" name="Text 20"/>
          <p:cNvSpPr/>
          <p:nvPr/>
        </p:nvSpPr>
        <p:spPr>
          <a:xfrm>
            <a:off x="914400" y="2688336"/>
            <a:ext cx="3474720" cy="292608"/>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Serial.println(valor)</a:t>
            </a:r>
            <a:endParaRPr lang="en-US" sz="1200" dirty="0"/>
          </a:p>
        </p:txBody>
      </p:sp>
      <p:sp>
        <p:nvSpPr>
          <p:cNvPr id="23" name="Text 21"/>
          <p:cNvSpPr/>
          <p:nvPr/>
        </p:nvSpPr>
        <p:spPr>
          <a:xfrm>
            <a:off x="914400" y="2999232"/>
            <a:ext cx="4846320" cy="292608"/>
          </a:xfrm>
          <a:prstGeom prst="rect">
            <a:avLst/>
          </a:prstGeom>
          <a:noFill/>
          <a:ln/>
        </p:spPr>
        <p:txBody>
          <a:bodyPr wrap="square" rtlCol="0" anchor="ctr"/>
          <a:lstStyle/>
          <a:p>
            <a:pPr indent="0" marL="0">
              <a:buNone/>
            </a:pPr>
            <a:r>
              <a:rPr lang="en-US" sz="1050" dirty="0">
                <a:solidFill>
                  <a:srgbClr val="546E7A"/>
                </a:solidFill>
              </a:rPr>
              <a:t>Envia dados com quebra de linha no final. Mais usado para depuração.</a:t>
            </a:r>
            <a:endParaRPr lang="en-US" sz="1050" dirty="0"/>
          </a:p>
        </p:txBody>
      </p:sp>
      <p:sp>
        <p:nvSpPr>
          <p:cNvPr id="24" name="Text 22"/>
          <p:cNvSpPr/>
          <p:nvPr/>
        </p:nvSpPr>
        <p:spPr>
          <a:xfrm>
            <a:off x="5897880" y="2670048"/>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Serial.println(temperatura);</a:t>
            </a:r>
            <a:endParaRPr lang="en-US" sz="1000" dirty="0"/>
          </a:p>
        </p:txBody>
      </p:sp>
      <p:sp>
        <p:nvSpPr>
          <p:cNvPr id="25" name="Shape 23"/>
          <p:cNvSpPr/>
          <p:nvPr/>
        </p:nvSpPr>
        <p:spPr>
          <a:xfrm>
            <a:off x="320040" y="3419856"/>
            <a:ext cx="8503920" cy="658368"/>
          </a:xfrm>
          <a:prstGeom prst="rect">
            <a:avLst/>
          </a:prstGeom>
          <a:solidFill>
            <a:srgbClr val="F5F5F5"/>
          </a:solidFill>
          <a:ln w="12700">
            <a:solidFill>
              <a:srgbClr val="2196F3"/>
            </a:solidFill>
            <a:prstDash val="solid"/>
          </a:ln>
        </p:spPr>
      </p:sp>
      <p:sp>
        <p:nvSpPr>
          <p:cNvPr id="26" name="Shape 24"/>
          <p:cNvSpPr/>
          <p:nvPr/>
        </p:nvSpPr>
        <p:spPr>
          <a:xfrm>
            <a:off x="320040" y="3419856"/>
            <a:ext cx="502920" cy="658368"/>
          </a:xfrm>
          <a:prstGeom prst="rect">
            <a:avLst/>
          </a:prstGeom>
          <a:solidFill>
            <a:srgbClr val="37474F"/>
          </a:solidFill>
          <a:ln w="12700">
            <a:solidFill>
              <a:srgbClr val="37474F"/>
            </a:solidFill>
            <a:prstDash val="solid"/>
          </a:ln>
        </p:spPr>
      </p:sp>
      <p:sp>
        <p:nvSpPr>
          <p:cNvPr id="27" name="Text 25"/>
          <p:cNvSpPr/>
          <p:nvPr/>
        </p:nvSpPr>
        <p:spPr>
          <a:xfrm>
            <a:off x="320040" y="3419856"/>
            <a:ext cx="502920" cy="658368"/>
          </a:xfrm>
          <a:prstGeom prst="rect">
            <a:avLst/>
          </a:prstGeom>
          <a:noFill/>
          <a:ln/>
        </p:spPr>
        <p:txBody>
          <a:bodyPr wrap="square" rtlCol="0" anchor="ctr"/>
          <a:lstStyle/>
          <a:p>
            <a:pPr algn="ctr" indent="0" marL="0">
              <a:buNone/>
            </a:pPr>
            <a:r>
              <a:rPr lang="en-US" sz="700" b="1" dirty="0">
                <a:solidFill>
                  <a:srgbClr val="FFFFFF"/>
                </a:solidFill>
              </a:rPr>
              <a:t>int</a:t>
            </a:r>
            <a:endParaRPr lang="en-US" sz="700" dirty="0"/>
          </a:p>
        </p:txBody>
      </p:sp>
      <p:sp>
        <p:nvSpPr>
          <p:cNvPr id="28" name="Text 26"/>
          <p:cNvSpPr/>
          <p:nvPr/>
        </p:nvSpPr>
        <p:spPr>
          <a:xfrm>
            <a:off x="914400" y="3438144"/>
            <a:ext cx="3474720" cy="292608"/>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Serial.available()</a:t>
            </a:r>
            <a:endParaRPr lang="en-US" sz="1200" dirty="0"/>
          </a:p>
        </p:txBody>
      </p:sp>
      <p:sp>
        <p:nvSpPr>
          <p:cNvPr id="29" name="Text 27"/>
          <p:cNvSpPr/>
          <p:nvPr/>
        </p:nvSpPr>
        <p:spPr>
          <a:xfrm>
            <a:off x="914400" y="3749040"/>
            <a:ext cx="4846320" cy="292608"/>
          </a:xfrm>
          <a:prstGeom prst="rect">
            <a:avLst/>
          </a:prstGeom>
          <a:noFill/>
          <a:ln/>
        </p:spPr>
        <p:txBody>
          <a:bodyPr wrap="square" rtlCol="0" anchor="ctr"/>
          <a:lstStyle/>
          <a:p>
            <a:pPr indent="0" marL="0">
              <a:buNone/>
            </a:pPr>
            <a:r>
              <a:rPr lang="en-US" sz="1050" dirty="0">
                <a:solidFill>
                  <a:srgbClr val="546E7A"/>
                </a:solidFill>
              </a:rPr>
              <a:t>Retorna quantos bytes foram recebidos no buffer serial e estão prontos para leitura.</a:t>
            </a:r>
            <a:endParaRPr lang="en-US" sz="1050" dirty="0"/>
          </a:p>
        </p:txBody>
      </p:sp>
      <p:sp>
        <p:nvSpPr>
          <p:cNvPr id="30" name="Text 28"/>
          <p:cNvSpPr/>
          <p:nvPr/>
        </p:nvSpPr>
        <p:spPr>
          <a:xfrm>
            <a:off x="5897880" y="3419856"/>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if(Serial.available()&gt;0){}</a:t>
            </a:r>
            <a:endParaRPr lang="en-US" sz="1000" dirty="0"/>
          </a:p>
        </p:txBody>
      </p:sp>
      <p:sp>
        <p:nvSpPr>
          <p:cNvPr id="31" name="Shape 29"/>
          <p:cNvSpPr/>
          <p:nvPr/>
        </p:nvSpPr>
        <p:spPr>
          <a:xfrm>
            <a:off x="320040" y="4169664"/>
            <a:ext cx="8503920" cy="658368"/>
          </a:xfrm>
          <a:prstGeom prst="rect">
            <a:avLst/>
          </a:prstGeom>
          <a:solidFill>
            <a:srgbClr val="E3F2FD"/>
          </a:solidFill>
          <a:ln w="12700">
            <a:solidFill>
              <a:srgbClr val="2196F3"/>
            </a:solidFill>
            <a:prstDash val="solid"/>
          </a:ln>
        </p:spPr>
      </p:sp>
      <p:sp>
        <p:nvSpPr>
          <p:cNvPr id="32" name="Shape 30"/>
          <p:cNvSpPr/>
          <p:nvPr/>
        </p:nvSpPr>
        <p:spPr>
          <a:xfrm>
            <a:off x="320040" y="4169664"/>
            <a:ext cx="502920" cy="658368"/>
          </a:xfrm>
          <a:prstGeom prst="rect">
            <a:avLst/>
          </a:prstGeom>
          <a:solidFill>
            <a:srgbClr val="37474F"/>
          </a:solidFill>
          <a:ln w="12700">
            <a:solidFill>
              <a:srgbClr val="37474F"/>
            </a:solidFill>
            <a:prstDash val="solid"/>
          </a:ln>
        </p:spPr>
      </p:sp>
      <p:sp>
        <p:nvSpPr>
          <p:cNvPr id="33" name="Text 31"/>
          <p:cNvSpPr/>
          <p:nvPr/>
        </p:nvSpPr>
        <p:spPr>
          <a:xfrm>
            <a:off x="320040" y="4169664"/>
            <a:ext cx="502920" cy="658368"/>
          </a:xfrm>
          <a:prstGeom prst="rect">
            <a:avLst/>
          </a:prstGeom>
          <a:noFill/>
          <a:ln/>
        </p:spPr>
        <p:txBody>
          <a:bodyPr wrap="square" rtlCol="0" anchor="ctr"/>
          <a:lstStyle/>
          <a:p>
            <a:pPr algn="ctr" indent="0" marL="0">
              <a:buNone/>
            </a:pPr>
            <a:r>
              <a:rPr lang="en-US" sz="700" b="1" dirty="0">
                <a:solidFill>
                  <a:srgbClr val="FFFFFF"/>
                </a:solidFill>
              </a:rPr>
              <a:t>int</a:t>
            </a:r>
            <a:endParaRPr lang="en-US" sz="700" dirty="0"/>
          </a:p>
        </p:txBody>
      </p:sp>
      <p:sp>
        <p:nvSpPr>
          <p:cNvPr id="34" name="Text 32"/>
          <p:cNvSpPr/>
          <p:nvPr/>
        </p:nvSpPr>
        <p:spPr>
          <a:xfrm>
            <a:off x="914400" y="4187952"/>
            <a:ext cx="3474720" cy="292608"/>
          </a:xfrm>
          <a:prstGeom prst="rect">
            <a:avLst/>
          </a:prstGeom>
          <a:noFill/>
          <a:ln/>
        </p:spPr>
        <p:txBody>
          <a:bodyPr wrap="square" rtlCol="0" anchor="ctr"/>
          <a:lstStyle/>
          <a:p>
            <a:pPr indent="0" marL="0">
              <a:buNone/>
            </a:pPr>
            <a:r>
              <a:rPr lang="en-US" sz="1200" b="1" dirty="0">
                <a:solidFill>
                  <a:srgbClr val="0D47A1"/>
                </a:solidFill>
                <a:latin typeface="Consolas" pitchFamily="34" charset="0"/>
                <a:ea typeface="Consolas" pitchFamily="34" charset="-122"/>
                <a:cs typeface="Consolas" pitchFamily="34" charset="-120"/>
              </a:rPr>
              <a:t>Serial.read()</a:t>
            </a:r>
            <a:endParaRPr lang="en-US" sz="1200" dirty="0"/>
          </a:p>
        </p:txBody>
      </p:sp>
      <p:sp>
        <p:nvSpPr>
          <p:cNvPr id="35" name="Text 33"/>
          <p:cNvSpPr/>
          <p:nvPr/>
        </p:nvSpPr>
        <p:spPr>
          <a:xfrm>
            <a:off x="914400" y="4498848"/>
            <a:ext cx="4846320" cy="292608"/>
          </a:xfrm>
          <a:prstGeom prst="rect">
            <a:avLst/>
          </a:prstGeom>
          <a:noFill/>
          <a:ln/>
        </p:spPr>
        <p:txBody>
          <a:bodyPr wrap="square" rtlCol="0" anchor="ctr"/>
          <a:lstStyle/>
          <a:p>
            <a:pPr indent="0" marL="0">
              <a:buNone/>
            </a:pPr>
            <a:r>
              <a:rPr lang="en-US" sz="1050" dirty="0">
                <a:solidFill>
                  <a:srgbClr val="546E7A"/>
                </a:solidFill>
              </a:rPr>
              <a:t>Lê e remove o primeiro byte disponível no buffer serial. Retorna -1 se vazio.</a:t>
            </a:r>
            <a:endParaRPr lang="en-US" sz="1050" dirty="0"/>
          </a:p>
        </p:txBody>
      </p:sp>
      <p:sp>
        <p:nvSpPr>
          <p:cNvPr id="36" name="Text 34"/>
          <p:cNvSpPr/>
          <p:nvPr/>
        </p:nvSpPr>
        <p:spPr>
          <a:xfrm>
            <a:off x="5897880" y="4169664"/>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char c = Serial.read();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Matemática e Conversão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70432"/>
            <a:ext cx="8503920" cy="658368"/>
          </a:xfrm>
          <a:prstGeom prst="rect">
            <a:avLst/>
          </a:prstGeom>
          <a:solidFill>
            <a:srgbClr val="E3F2FD"/>
          </a:solidFill>
          <a:ln w="12700">
            <a:solidFill>
              <a:srgbClr val="2196F3"/>
            </a:solidFill>
            <a:prstDash val="solid"/>
          </a:ln>
        </p:spPr>
      </p:sp>
      <p:sp>
        <p:nvSpPr>
          <p:cNvPr id="8" name="Shape 6"/>
          <p:cNvSpPr/>
          <p:nvPr/>
        </p:nvSpPr>
        <p:spPr>
          <a:xfrm>
            <a:off x="320040" y="1170432"/>
            <a:ext cx="502920" cy="658368"/>
          </a:xfrm>
          <a:prstGeom prst="rect">
            <a:avLst/>
          </a:prstGeom>
          <a:solidFill>
            <a:srgbClr val="6A1B9A"/>
          </a:solidFill>
          <a:ln w="12700">
            <a:solidFill>
              <a:srgbClr val="6A1B9A"/>
            </a:solidFill>
            <a:prstDash val="solid"/>
          </a:ln>
        </p:spPr>
      </p:sp>
      <p:sp>
        <p:nvSpPr>
          <p:cNvPr id="9" name="Text 7"/>
          <p:cNvSpPr/>
          <p:nvPr/>
        </p:nvSpPr>
        <p:spPr>
          <a:xfrm>
            <a:off x="320040" y="1170432"/>
            <a:ext cx="502920" cy="658368"/>
          </a:xfrm>
          <a:prstGeom prst="rect">
            <a:avLst/>
          </a:prstGeom>
          <a:noFill/>
          <a:ln/>
        </p:spPr>
        <p:txBody>
          <a:bodyPr wrap="square" rtlCol="0" anchor="ctr"/>
          <a:lstStyle/>
          <a:p>
            <a:pPr algn="ctr" indent="0" marL="0">
              <a:buNone/>
            </a:pPr>
            <a:r>
              <a:rPr lang="en-US" sz="700" b="1" dirty="0">
                <a:solidFill>
                  <a:srgbClr val="FFFFFF"/>
                </a:solidFill>
              </a:rPr>
              <a:t>long</a:t>
            </a:r>
            <a:endParaRPr lang="en-US" sz="700" dirty="0"/>
          </a:p>
        </p:txBody>
      </p:sp>
      <p:sp>
        <p:nvSpPr>
          <p:cNvPr id="10" name="Text 8"/>
          <p:cNvSpPr/>
          <p:nvPr/>
        </p:nvSpPr>
        <p:spPr>
          <a:xfrm>
            <a:off x="914400" y="1188720"/>
            <a:ext cx="384048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map(val, inMin, inMax, outMin, outMax)</a:t>
            </a:r>
            <a:endParaRPr lang="en-US" sz="1100" dirty="0"/>
          </a:p>
        </p:txBody>
      </p:sp>
      <p:sp>
        <p:nvSpPr>
          <p:cNvPr id="11" name="Text 9"/>
          <p:cNvSpPr/>
          <p:nvPr/>
        </p:nvSpPr>
        <p:spPr>
          <a:xfrm>
            <a:off x="914400" y="1499616"/>
            <a:ext cx="4846320" cy="292608"/>
          </a:xfrm>
          <a:prstGeom prst="rect">
            <a:avLst/>
          </a:prstGeom>
          <a:noFill/>
          <a:ln/>
        </p:spPr>
        <p:txBody>
          <a:bodyPr wrap="square" rtlCol="0" anchor="ctr"/>
          <a:lstStyle/>
          <a:p>
            <a:pPr indent="0" marL="0">
              <a:buNone/>
            </a:pPr>
            <a:r>
              <a:rPr lang="en-US" sz="1050" dirty="0">
                <a:solidFill>
                  <a:srgbClr val="546E7A"/>
                </a:solidFill>
              </a:rPr>
              <a:t>Remapeia um valor de uma faixa para outra. Essencial para converter leituras analógicas.</a:t>
            </a:r>
            <a:endParaRPr lang="en-US" sz="1050" dirty="0"/>
          </a:p>
        </p:txBody>
      </p:sp>
      <p:sp>
        <p:nvSpPr>
          <p:cNvPr id="12" name="Text 10"/>
          <p:cNvSpPr/>
          <p:nvPr/>
        </p:nvSpPr>
        <p:spPr>
          <a:xfrm>
            <a:off x="5897880" y="1170432"/>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map(leitura,0,1023,0,255);</a:t>
            </a:r>
            <a:endParaRPr lang="en-US" sz="1000" dirty="0"/>
          </a:p>
        </p:txBody>
      </p:sp>
      <p:sp>
        <p:nvSpPr>
          <p:cNvPr id="13" name="Shape 11"/>
          <p:cNvSpPr/>
          <p:nvPr/>
        </p:nvSpPr>
        <p:spPr>
          <a:xfrm>
            <a:off x="320040" y="1920240"/>
            <a:ext cx="8503920" cy="658368"/>
          </a:xfrm>
          <a:prstGeom prst="rect">
            <a:avLst/>
          </a:prstGeom>
          <a:solidFill>
            <a:srgbClr val="F5F5F5"/>
          </a:solidFill>
          <a:ln w="12700">
            <a:solidFill>
              <a:srgbClr val="2196F3"/>
            </a:solidFill>
            <a:prstDash val="solid"/>
          </a:ln>
        </p:spPr>
      </p:sp>
      <p:sp>
        <p:nvSpPr>
          <p:cNvPr id="14" name="Shape 12"/>
          <p:cNvSpPr/>
          <p:nvPr/>
        </p:nvSpPr>
        <p:spPr>
          <a:xfrm>
            <a:off x="320040" y="1920240"/>
            <a:ext cx="502920" cy="658368"/>
          </a:xfrm>
          <a:prstGeom prst="rect">
            <a:avLst/>
          </a:prstGeom>
          <a:solidFill>
            <a:srgbClr val="6A1B9A"/>
          </a:solidFill>
          <a:ln w="12700">
            <a:solidFill>
              <a:srgbClr val="6A1B9A"/>
            </a:solidFill>
            <a:prstDash val="solid"/>
          </a:ln>
        </p:spPr>
      </p:sp>
      <p:sp>
        <p:nvSpPr>
          <p:cNvPr id="15" name="Text 13"/>
          <p:cNvSpPr/>
          <p:nvPr/>
        </p:nvSpPr>
        <p:spPr>
          <a:xfrm>
            <a:off x="320040" y="1920240"/>
            <a:ext cx="502920" cy="658368"/>
          </a:xfrm>
          <a:prstGeom prst="rect">
            <a:avLst/>
          </a:prstGeom>
          <a:noFill/>
          <a:ln/>
        </p:spPr>
        <p:txBody>
          <a:bodyPr wrap="square" rtlCol="0" anchor="ctr"/>
          <a:lstStyle/>
          <a:p>
            <a:pPr algn="ctr" indent="0" marL="0">
              <a:buNone/>
            </a:pPr>
            <a:r>
              <a:rPr lang="en-US" sz="700" b="1" dirty="0">
                <a:solidFill>
                  <a:srgbClr val="FFFFFF"/>
                </a:solidFill>
              </a:rPr>
              <a:t>auto</a:t>
            </a:r>
            <a:endParaRPr lang="en-US" sz="700" dirty="0"/>
          </a:p>
        </p:txBody>
      </p:sp>
      <p:sp>
        <p:nvSpPr>
          <p:cNvPr id="16" name="Text 14"/>
          <p:cNvSpPr/>
          <p:nvPr/>
        </p:nvSpPr>
        <p:spPr>
          <a:xfrm>
            <a:off x="914400" y="1938528"/>
            <a:ext cx="384048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constrain(val, min, max)</a:t>
            </a:r>
            <a:endParaRPr lang="en-US" sz="1100" dirty="0"/>
          </a:p>
        </p:txBody>
      </p:sp>
      <p:sp>
        <p:nvSpPr>
          <p:cNvPr id="17" name="Text 15"/>
          <p:cNvSpPr/>
          <p:nvPr/>
        </p:nvSpPr>
        <p:spPr>
          <a:xfrm>
            <a:off x="914400" y="2249424"/>
            <a:ext cx="4846320" cy="292608"/>
          </a:xfrm>
          <a:prstGeom prst="rect">
            <a:avLst/>
          </a:prstGeom>
          <a:noFill/>
          <a:ln/>
        </p:spPr>
        <p:txBody>
          <a:bodyPr wrap="square" rtlCol="0" anchor="ctr"/>
          <a:lstStyle/>
          <a:p>
            <a:pPr indent="0" marL="0">
              <a:buNone/>
            </a:pPr>
            <a:r>
              <a:rPr lang="en-US" sz="1050" dirty="0">
                <a:solidFill>
                  <a:srgbClr val="546E7A"/>
                </a:solidFill>
              </a:rPr>
              <a:t>Limita um valor entre mínimo e máximo. Evita valores fora do intervalo esperado.</a:t>
            </a:r>
            <a:endParaRPr lang="en-US" sz="1050" dirty="0"/>
          </a:p>
        </p:txBody>
      </p:sp>
      <p:sp>
        <p:nvSpPr>
          <p:cNvPr id="18" name="Text 16"/>
          <p:cNvSpPr/>
          <p:nvPr/>
        </p:nvSpPr>
        <p:spPr>
          <a:xfrm>
            <a:off x="5897880" y="1920240"/>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constrain(v, 0, 100);</a:t>
            </a:r>
            <a:endParaRPr lang="en-US" sz="1000" dirty="0"/>
          </a:p>
        </p:txBody>
      </p:sp>
      <p:sp>
        <p:nvSpPr>
          <p:cNvPr id="19" name="Shape 17"/>
          <p:cNvSpPr/>
          <p:nvPr/>
        </p:nvSpPr>
        <p:spPr>
          <a:xfrm>
            <a:off x="320040" y="2670048"/>
            <a:ext cx="8503920" cy="658368"/>
          </a:xfrm>
          <a:prstGeom prst="rect">
            <a:avLst/>
          </a:prstGeom>
          <a:solidFill>
            <a:srgbClr val="E3F2FD"/>
          </a:solidFill>
          <a:ln w="12700">
            <a:solidFill>
              <a:srgbClr val="2196F3"/>
            </a:solidFill>
            <a:prstDash val="solid"/>
          </a:ln>
        </p:spPr>
      </p:sp>
      <p:sp>
        <p:nvSpPr>
          <p:cNvPr id="20" name="Shape 18"/>
          <p:cNvSpPr/>
          <p:nvPr/>
        </p:nvSpPr>
        <p:spPr>
          <a:xfrm>
            <a:off x="320040" y="2670048"/>
            <a:ext cx="502920" cy="658368"/>
          </a:xfrm>
          <a:prstGeom prst="rect">
            <a:avLst/>
          </a:prstGeom>
          <a:solidFill>
            <a:srgbClr val="6A1B9A"/>
          </a:solidFill>
          <a:ln w="12700">
            <a:solidFill>
              <a:srgbClr val="6A1B9A"/>
            </a:solidFill>
            <a:prstDash val="solid"/>
          </a:ln>
        </p:spPr>
      </p:sp>
      <p:sp>
        <p:nvSpPr>
          <p:cNvPr id="21" name="Text 19"/>
          <p:cNvSpPr/>
          <p:nvPr/>
        </p:nvSpPr>
        <p:spPr>
          <a:xfrm>
            <a:off x="320040" y="2670048"/>
            <a:ext cx="502920" cy="658368"/>
          </a:xfrm>
          <a:prstGeom prst="rect">
            <a:avLst/>
          </a:prstGeom>
          <a:noFill/>
          <a:ln/>
        </p:spPr>
        <p:txBody>
          <a:bodyPr wrap="square" rtlCol="0" anchor="ctr"/>
          <a:lstStyle/>
          <a:p>
            <a:pPr algn="ctr" indent="0" marL="0">
              <a:buNone/>
            </a:pPr>
            <a:r>
              <a:rPr lang="en-US" sz="700" b="1" dirty="0">
                <a:solidFill>
                  <a:srgbClr val="FFFFFF"/>
                </a:solidFill>
              </a:rPr>
              <a:t>auto</a:t>
            </a:r>
            <a:endParaRPr lang="en-US" sz="700" dirty="0"/>
          </a:p>
        </p:txBody>
      </p:sp>
      <p:sp>
        <p:nvSpPr>
          <p:cNvPr id="22" name="Text 20"/>
          <p:cNvSpPr/>
          <p:nvPr/>
        </p:nvSpPr>
        <p:spPr>
          <a:xfrm>
            <a:off x="914400" y="2688336"/>
            <a:ext cx="384048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abs(x)</a:t>
            </a:r>
            <a:endParaRPr lang="en-US" sz="1100" dirty="0"/>
          </a:p>
        </p:txBody>
      </p:sp>
      <p:sp>
        <p:nvSpPr>
          <p:cNvPr id="23" name="Text 21"/>
          <p:cNvSpPr/>
          <p:nvPr/>
        </p:nvSpPr>
        <p:spPr>
          <a:xfrm>
            <a:off x="914400" y="2999232"/>
            <a:ext cx="4846320" cy="292608"/>
          </a:xfrm>
          <a:prstGeom prst="rect">
            <a:avLst/>
          </a:prstGeom>
          <a:noFill/>
          <a:ln/>
        </p:spPr>
        <p:txBody>
          <a:bodyPr wrap="square" rtlCol="0" anchor="ctr"/>
          <a:lstStyle/>
          <a:p>
            <a:pPr indent="0" marL="0">
              <a:buNone/>
            </a:pPr>
            <a:r>
              <a:rPr lang="en-US" sz="1050" dirty="0">
                <a:solidFill>
                  <a:srgbClr val="546E7A"/>
                </a:solidFill>
              </a:rPr>
              <a:t>Retorna o valor absoluto (módulo) de x. Funciona com int e float.</a:t>
            </a:r>
            <a:endParaRPr lang="en-US" sz="1050" dirty="0"/>
          </a:p>
        </p:txBody>
      </p:sp>
      <p:sp>
        <p:nvSpPr>
          <p:cNvPr id="24" name="Text 22"/>
          <p:cNvSpPr/>
          <p:nvPr/>
        </p:nvSpPr>
        <p:spPr>
          <a:xfrm>
            <a:off x="5897880" y="2670048"/>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int a = abs(-42);</a:t>
            </a:r>
            <a:endParaRPr lang="en-US" sz="1000" dirty="0"/>
          </a:p>
        </p:txBody>
      </p:sp>
      <p:sp>
        <p:nvSpPr>
          <p:cNvPr id="25" name="Shape 23"/>
          <p:cNvSpPr/>
          <p:nvPr/>
        </p:nvSpPr>
        <p:spPr>
          <a:xfrm>
            <a:off x="320040" y="3419856"/>
            <a:ext cx="8503920" cy="658368"/>
          </a:xfrm>
          <a:prstGeom prst="rect">
            <a:avLst/>
          </a:prstGeom>
          <a:solidFill>
            <a:srgbClr val="F5F5F5"/>
          </a:solidFill>
          <a:ln w="12700">
            <a:solidFill>
              <a:srgbClr val="2196F3"/>
            </a:solidFill>
            <a:prstDash val="solid"/>
          </a:ln>
        </p:spPr>
      </p:sp>
      <p:sp>
        <p:nvSpPr>
          <p:cNvPr id="26" name="Shape 24"/>
          <p:cNvSpPr/>
          <p:nvPr/>
        </p:nvSpPr>
        <p:spPr>
          <a:xfrm>
            <a:off x="320040" y="3419856"/>
            <a:ext cx="502920" cy="658368"/>
          </a:xfrm>
          <a:prstGeom prst="rect">
            <a:avLst/>
          </a:prstGeom>
          <a:solidFill>
            <a:srgbClr val="6A1B9A"/>
          </a:solidFill>
          <a:ln w="12700">
            <a:solidFill>
              <a:srgbClr val="6A1B9A"/>
            </a:solidFill>
            <a:prstDash val="solid"/>
          </a:ln>
        </p:spPr>
      </p:sp>
      <p:sp>
        <p:nvSpPr>
          <p:cNvPr id="27" name="Text 25"/>
          <p:cNvSpPr/>
          <p:nvPr/>
        </p:nvSpPr>
        <p:spPr>
          <a:xfrm>
            <a:off x="320040" y="3419856"/>
            <a:ext cx="502920" cy="658368"/>
          </a:xfrm>
          <a:prstGeom prst="rect">
            <a:avLst/>
          </a:prstGeom>
          <a:noFill/>
          <a:ln/>
        </p:spPr>
        <p:txBody>
          <a:bodyPr wrap="square" rtlCol="0" anchor="ctr"/>
          <a:lstStyle/>
          <a:p>
            <a:pPr algn="ctr" indent="0" marL="0">
              <a:buNone/>
            </a:pPr>
            <a:r>
              <a:rPr lang="en-US" sz="700" b="1" dirty="0">
                <a:solidFill>
                  <a:srgbClr val="FFFFFF"/>
                </a:solidFill>
              </a:rPr>
              <a:t>auto</a:t>
            </a:r>
            <a:endParaRPr lang="en-US" sz="700" dirty="0"/>
          </a:p>
        </p:txBody>
      </p:sp>
      <p:sp>
        <p:nvSpPr>
          <p:cNvPr id="28" name="Text 26"/>
          <p:cNvSpPr/>
          <p:nvPr/>
        </p:nvSpPr>
        <p:spPr>
          <a:xfrm>
            <a:off x="914400" y="3438144"/>
            <a:ext cx="384048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min(a, b) / max(a, b)</a:t>
            </a:r>
            <a:endParaRPr lang="en-US" sz="1100" dirty="0"/>
          </a:p>
        </p:txBody>
      </p:sp>
      <p:sp>
        <p:nvSpPr>
          <p:cNvPr id="29" name="Text 27"/>
          <p:cNvSpPr/>
          <p:nvPr/>
        </p:nvSpPr>
        <p:spPr>
          <a:xfrm>
            <a:off x="914400" y="3749040"/>
            <a:ext cx="4846320" cy="292608"/>
          </a:xfrm>
          <a:prstGeom prst="rect">
            <a:avLst/>
          </a:prstGeom>
          <a:noFill/>
          <a:ln/>
        </p:spPr>
        <p:txBody>
          <a:bodyPr wrap="square" rtlCol="0" anchor="ctr"/>
          <a:lstStyle/>
          <a:p>
            <a:pPr indent="0" marL="0">
              <a:buNone/>
            </a:pPr>
            <a:r>
              <a:rPr lang="en-US" sz="1050" dirty="0">
                <a:solidFill>
                  <a:srgbClr val="546E7A"/>
                </a:solidFill>
              </a:rPr>
              <a:t>Retorna o menor ou maior valor entre dois. Útil para comparações rápidas.</a:t>
            </a:r>
            <a:endParaRPr lang="en-US" sz="1050" dirty="0"/>
          </a:p>
        </p:txBody>
      </p:sp>
      <p:sp>
        <p:nvSpPr>
          <p:cNvPr id="30" name="Text 28"/>
          <p:cNvSpPr/>
          <p:nvPr/>
        </p:nvSpPr>
        <p:spPr>
          <a:xfrm>
            <a:off x="5897880" y="3419856"/>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int m = min(a, b);</a:t>
            </a:r>
            <a:endParaRPr lang="en-US" sz="1000" dirty="0"/>
          </a:p>
        </p:txBody>
      </p:sp>
      <p:sp>
        <p:nvSpPr>
          <p:cNvPr id="31" name="Shape 29"/>
          <p:cNvSpPr/>
          <p:nvPr/>
        </p:nvSpPr>
        <p:spPr>
          <a:xfrm>
            <a:off x="320040" y="4169664"/>
            <a:ext cx="8503920" cy="658368"/>
          </a:xfrm>
          <a:prstGeom prst="rect">
            <a:avLst/>
          </a:prstGeom>
          <a:solidFill>
            <a:srgbClr val="E3F2FD"/>
          </a:solidFill>
          <a:ln w="12700">
            <a:solidFill>
              <a:srgbClr val="2196F3"/>
            </a:solidFill>
            <a:prstDash val="solid"/>
          </a:ln>
        </p:spPr>
      </p:sp>
      <p:sp>
        <p:nvSpPr>
          <p:cNvPr id="32" name="Shape 30"/>
          <p:cNvSpPr/>
          <p:nvPr/>
        </p:nvSpPr>
        <p:spPr>
          <a:xfrm>
            <a:off x="320040" y="4169664"/>
            <a:ext cx="502920" cy="658368"/>
          </a:xfrm>
          <a:prstGeom prst="rect">
            <a:avLst/>
          </a:prstGeom>
          <a:solidFill>
            <a:srgbClr val="6A1B9A"/>
          </a:solidFill>
          <a:ln w="12700">
            <a:solidFill>
              <a:srgbClr val="6A1B9A"/>
            </a:solidFill>
            <a:prstDash val="solid"/>
          </a:ln>
        </p:spPr>
      </p:sp>
      <p:sp>
        <p:nvSpPr>
          <p:cNvPr id="33" name="Text 31"/>
          <p:cNvSpPr/>
          <p:nvPr/>
        </p:nvSpPr>
        <p:spPr>
          <a:xfrm>
            <a:off x="320040" y="4169664"/>
            <a:ext cx="502920" cy="658368"/>
          </a:xfrm>
          <a:prstGeom prst="rect">
            <a:avLst/>
          </a:prstGeom>
          <a:noFill/>
          <a:ln/>
        </p:spPr>
        <p:txBody>
          <a:bodyPr wrap="square" rtlCol="0" anchor="ctr"/>
          <a:lstStyle/>
          <a:p>
            <a:pPr algn="ctr" indent="0" marL="0">
              <a:buNone/>
            </a:pPr>
            <a:r>
              <a:rPr lang="en-US" sz="700" b="1" dirty="0">
                <a:solidFill>
                  <a:srgbClr val="FFFFFF"/>
                </a:solidFill>
              </a:rPr>
              <a:t>double</a:t>
            </a:r>
            <a:endParaRPr lang="en-US" sz="700" dirty="0"/>
          </a:p>
        </p:txBody>
      </p:sp>
      <p:sp>
        <p:nvSpPr>
          <p:cNvPr id="34" name="Text 32"/>
          <p:cNvSpPr/>
          <p:nvPr/>
        </p:nvSpPr>
        <p:spPr>
          <a:xfrm>
            <a:off x="914400" y="4187952"/>
            <a:ext cx="384048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pow(base, exp) / sqrt(x)</a:t>
            </a:r>
            <a:endParaRPr lang="en-US" sz="1100" dirty="0"/>
          </a:p>
        </p:txBody>
      </p:sp>
      <p:sp>
        <p:nvSpPr>
          <p:cNvPr id="35" name="Text 33"/>
          <p:cNvSpPr/>
          <p:nvPr/>
        </p:nvSpPr>
        <p:spPr>
          <a:xfrm>
            <a:off x="914400" y="4498848"/>
            <a:ext cx="4846320" cy="292608"/>
          </a:xfrm>
          <a:prstGeom prst="rect">
            <a:avLst/>
          </a:prstGeom>
          <a:noFill/>
          <a:ln/>
        </p:spPr>
        <p:txBody>
          <a:bodyPr wrap="square" rtlCol="0" anchor="ctr"/>
          <a:lstStyle/>
          <a:p>
            <a:pPr indent="0" marL="0">
              <a:buNone/>
            </a:pPr>
            <a:r>
              <a:rPr lang="en-US" sz="1050" dirty="0">
                <a:solidFill>
                  <a:srgbClr val="546E7A"/>
                </a:solidFill>
              </a:rPr>
              <a:t>Potenciação e raiz quadrada. Funções matemáticas para cálculos de sensores.</a:t>
            </a:r>
            <a:endParaRPr lang="en-US" sz="1050" dirty="0"/>
          </a:p>
        </p:txBody>
      </p:sp>
      <p:sp>
        <p:nvSpPr>
          <p:cNvPr id="36" name="Text 34"/>
          <p:cNvSpPr/>
          <p:nvPr/>
        </p:nvSpPr>
        <p:spPr>
          <a:xfrm>
            <a:off x="5897880" y="4169664"/>
            <a:ext cx="2880360" cy="658368"/>
          </a:xfrm>
          <a:prstGeom prst="rect">
            <a:avLst/>
          </a:prstGeom>
          <a:noFill/>
          <a:ln/>
        </p:spPr>
        <p:txBody>
          <a:bodyPr wrap="square" rtlCol="0" anchor="ctr"/>
          <a:lstStyle/>
          <a:p>
            <a:pPr algn="ctr" indent="0" marL="0">
              <a:buNone/>
            </a:pPr>
            <a:r>
              <a:rPr lang="en-US" sz="1000" dirty="0">
                <a:solidFill>
                  <a:srgbClr val="1976D2"/>
                </a:solidFill>
                <a:latin typeface="Consolas" pitchFamily="34" charset="0"/>
                <a:ea typeface="Consolas" pitchFamily="34" charset="-122"/>
                <a:cs typeface="Consolas" pitchFamily="34" charset="-120"/>
              </a:rPr>
              <a:t>float r = sqrt(9.0);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Registradores de Hardware (DDRx / PORTx / PINx)</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594360"/>
          </a:xfrm>
          <a:prstGeom prst="rect">
            <a:avLst/>
          </a:prstGeom>
          <a:noFill/>
          <a:ln/>
        </p:spPr>
        <p:txBody>
          <a:bodyPr wrap="square" rtlCol="0" anchor="ctr"/>
          <a:lstStyle/>
          <a:p>
            <a:pPr indent="0" marL="0">
              <a:buNone/>
            </a:pPr>
            <a:r>
              <a:rPr lang="en-US" sz="1200" dirty="0">
                <a:solidFill>
                  <a:srgbClr val="1565C0"/>
                </a:solidFill>
              </a:rPr>
              <a:t>Registradores são posições de memória que controlam diretamente o hardware do microcontrolador. São comandos de baixo nível puro — mais rápidos que as funções padrão do Arduino.</a:t>
            </a:r>
            <a:endParaRPr lang="en-US" sz="1200" dirty="0"/>
          </a:p>
        </p:txBody>
      </p:sp>
      <p:sp>
        <p:nvSpPr>
          <p:cNvPr id="8" name="Shape 6"/>
          <p:cNvSpPr/>
          <p:nvPr/>
        </p:nvSpPr>
        <p:spPr>
          <a:xfrm>
            <a:off x="320040" y="1874520"/>
            <a:ext cx="8503920" cy="914400"/>
          </a:xfrm>
          <a:prstGeom prst="rect">
            <a:avLst/>
          </a:prstGeom>
          <a:solidFill>
            <a:srgbClr val="1E1E1E"/>
          </a:solidFill>
          <a:ln w="12700">
            <a:solidFill>
              <a:srgbClr val="444444"/>
            </a:solidFill>
            <a:prstDash val="solid"/>
          </a:ln>
        </p:spPr>
      </p:sp>
      <p:sp>
        <p:nvSpPr>
          <p:cNvPr id="9" name="Shape 7"/>
          <p:cNvSpPr/>
          <p:nvPr/>
        </p:nvSpPr>
        <p:spPr>
          <a:xfrm>
            <a:off x="320040" y="1874520"/>
            <a:ext cx="1005840" cy="914400"/>
          </a:xfrm>
          <a:prstGeom prst="rect">
            <a:avLst/>
          </a:prstGeom>
          <a:solidFill>
            <a:srgbClr val="B71C1C"/>
          </a:solidFill>
          <a:ln w="12700">
            <a:solidFill>
              <a:srgbClr val="B71C1C"/>
            </a:solidFill>
            <a:prstDash val="solid"/>
          </a:ln>
        </p:spPr>
      </p:sp>
      <p:sp>
        <p:nvSpPr>
          <p:cNvPr id="10" name="Text 8"/>
          <p:cNvSpPr/>
          <p:nvPr/>
        </p:nvSpPr>
        <p:spPr>
          <a:xfrm>
            <a:off x="320040" y="1874520"/>
            <a:ext cx="1005840" cy="91440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DDRx</a:t>
            </a:r>
            <a:endParaRPr lang="en-US" sz="1600" dirty="0"/>
          </a:p>
        </p:txBody>
      </p:sp>
      <p:sp>
        <p:nvSpPr>
          <p:cNvPr id="11" name="Text 9"/>
          <p:cNvSpPr/>
          <p:nvPr/>
        </p:nvSpPr>
        <p:spPr>
          <a:xfrm>
            <a:off x="1417320" y="1920240"/>
            <a:ext cx="4206240" cy="804672"/>
          </a:xfrm>
          <a:prstGeom prst="rect">
            <a:avLst/>
          </a:prstGeom>
          <a:noFill/>
          <a:ln/>
        </p:spPr>
        <p:txBody>
          <a:bodyPr wrap="square" rtlCol="0" anchor="ctr"/>
          <a:lstStyle/>
          <a:p>
            <a:pPr indent="0" marL="0">
              <a:buNone/>
            </a:pPr>
            <a:r>
              <a:rPr lang="en-US" sz="1100" dirty="0">
                <a:solidFill>
                  <a:srgbClr val="CCCCCC"/>
                </a:solidFill>
              </a:rPr>
              <a:t>Data Direction Register — define direção dos pinos do porto X (B, C ou D). Bit = 1 → OUTPUT; Bit = 0 → INPUT.</a:t>
            </a:r>
            <a:endParaRPr lang="en-US" sz="1100" dirty="0"/>
          </a:p>
        </p:txBody>
      </p:sp>
      <p:sp>
        <p:nvSpPr>
          <p:cNvPr id="12" name="Text 10"/>
          <p:cNvSpPr/>
          <p:nvPr/>
        </p:nvSpPr>
        <p:spPr>
          <a:xfrm>
            <a:off x="5715000" y="1920240"/>
            <a:ext cx="3017520" cy="804672"/>
          </a:xfrm>
          <a:prstGeom prst="rect">
            <a:avLst/>
          </a:prstGeom>
          <a:noFill/>
          <a:ln/>
        </p:spPr>
        <p:txBody>
          <a:bodyPr wrap="square"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DDRB |= (1&lt;&lt;PB5);   // pino 13 como OUTPUT</a:t>
            </a:r>
            <a:endParaRPr lang="en-US" sz="1000" dirty="0"/>
          </a:p>
        </p:txBody>
      </p:sp>
      <p:sp>
        <p:nvSpPr>
          <p:cNvPr id="13" name="Shape 11"/>
          <p:cNvSpPr/>
          <p:nvPr/>
        </p:nvSpPr>
        <p:spPr>
          <a:xfrm>
            <a:off x="320040" y="2898648"/>
            <a:ext cx="8503920" cy="914400"/>
          </a:xfrm>
          <a:prstGeom prst="rect">
            <a:avLst/>
          </a:prstGeom>
          <a:solidFill>
            <a:srgbClr val="252526"/>
          </a:solidFill>
          <a:ln w="12700">
            <a:solidFill>
              <a:srgbClr val="444444"/>
            </a:solidFill>
            <a:prstDash val="solid"/>
          </a:ln>
        </p:spPr>
      </p:sp>
      <p:sp>
        <p:nvSpPr>
          <p:cNvPr id="14" name="Shape 12"/>
          <p:cNvSpPr/>
          <p:nvPr/>
        </p:nvSpPr>
        <p:spPr>
          <a:xfrm>
            <a:off x="320040" y="2898648"/>
            <a:ext cx="1005840" cy="914400"/>
          </a:xfrm>
          <a:prstGeom prst="rect">
            <a:avLst/>
          </a:prstGeom>
          <a:solidFill>
            <a:srgbClr val="B71C1C"/>
          </a:solidFill>
          <a:ln w="12700">
            <a:solidFill>
              <a:srgbClr val="B71C1C"/>
            </a:solidFill>
            <a:prstDash val="solid"/>
          </a:ln>
        </p:spPr>
      </p:sp>
      <p:sp>
        <p:nvSpPr>
          <p:cNvPr id="15" name="Text 13"/>
          <p:cNvSpPr/>
          <p:nvPr/>
        </p:nvSpPr>
        <p:spPr>
          <a:xfrm>
            <a:off x="320040" y="2898648"/>
            <a:ext cx="1005840" cy="91440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PORTx</a:t>
            </a:r>
            <a:endParaRPr lang="en-US" sz="1600" dirty="0"/>
          </a:p>
        </p:txBody>
      </p:sp>
      <p:sp>
        <p:nvSpPr>
          <p:cNvPr id="16" name="Text 14"/>
          <p:cNvSpPr/>
          <p:nvPr/>
        </p:nvSpPr>
        <p:spPr>
          <a:xfrm>
            <a:off x="1417320" y="2944368"/>
            <a:ext cx="4206240" cy="804672"/>
          </a:xfrm>
          <a:prstGeom prst="rect">
            <a:avLst/>
          </a:prstGeom>
          <a:noFill/>
          <a:ln/>
        </p:spPr>
        <p:txBody>
          <a:bodyPr wrap="square" rtlCol="0" anchor="ctr"/>
          <a:lstStyle/>
          <a:p>
            <a:pPr indent="0" marL="0">
              <a:buNone/>
            </a:pPr>
            <a:r>
              <a:rPr lang="en-US" sz="1100" dirty="0">
                <a:solidFill>
                  <a:srgbClr val="CCCCCC"/>
                </a:solidFill>
              </a:rPr>
              <a:t>Escreve valor nos pinos do porto X. Quando pino é OUTPUT: 1=HIGH, 0=LOW. Quando INPUT: ativa/desativa pull-up interno.</a:t>
            </a:r>
            <a:endParaRPr lang="en-US" sz="1100" dirty="0"/>
          </a:p>
        </p:txBody>
      </p:sp>
      <p:sp>
        <p:nvSpPr>
          <p:cNvPr id="17" name="Text 15"/>
          <p:cNvSpPr/>
          <p:nvPr/>
        </p:nvSpPr>
        <p:spPr>
          <a:xfrm>
            <a:off x="5715000" y="2944368"/>
            <a:ext cx="3017520" cy="804672"/>
          </a:xfrm>
          <a:prstGeom prst="rect">
            <a:avLst/>
          </a:prstGeom>
          <a:noFill/>
          <a:ln/>
        </p:spPr>
        <p:txBody>
          <a:bodyPr wrap="square"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PORTB |= (1&lt;&lt;PB5);  // seta pino 13 HIGH</a:t>
            </a:r>
            <a:endParaRPr lang="en-US" sz="1000" dirty="0"/>
          </a:p>
          <a:p>
            <a:pPr indent="0" marL="0">
              <a:buNone/>
            </a:pPr>
            <a:r>
              <a:rPr lang="en-US" sz="1000" dirty="0">
                <a:solidFill>
                  <a:srgbClr val="4EC9B0"/>
                </a:solidFill>
                <a:latin typeface="Consolas" pitchFamily="34" charset="0"/>
                <a:ea typeface="Consolas" pitchFamily="34" charset="-122"/>
                <a:cs typeface="Consolas" pitchFamily="34" charset="-120"/>
              </a:rPr>
              <a:t>PORTB &amp;= ~(1&lt;&lt;PB5); // seta pino 13 LOW</a:t>
            </a:r>
            <a:endParaRPr lang="en-US" sz="1000" dirty="0"/>
          </a:p>
        </p:txBody>
      </p:sp>
      <p:sp>
        <p:nvSpPr>
          <p:cNvPr id="18" name="Shape 16"/>
          <p:cNvSpPr/>
          <p:nvPr/>
        </p:nvSpPr>
        <p:spPr>
          <a:xfrm>
            <a:off x="320040" y="3922776"/>
            <a:ext cx="8503920" cy="914400"/>
          </a:xfrm>
          <a:prstGeom prst="rect">
            <a:avLst/>
          </a:prstGeom>
          <a:solidFill>
            <a:srgbClr val="1E1E1E"/>
          </a:solidFill>
          <a:ln w="12700">
            <a:solidFill>
              <a:srgbClr val="444444"/>
            </a:solidFill>
            <a:prstDash val="solid"/>
          </a:ln>
        </p:spPr>
      </p:sp>
      <p:sp>
        <p:nvSpPr>
          <p:cNvPr id="19" name="Shape 17"/>
          <p:cNvSpPr/>
          <p:nvPr/>
        </p:nvSpPr>
        <p:spPr>
          <a:xfrm>
            <a:off x="320040" y="3922776"/>
            <a:ext cx="1005840" cy="914400"/>
          </a:xfrm>
          <a:prstGeom prst="rect">
            <a:avLst/>
          </a:prstGeom>
          <a:solidFill>
            <a:srgbClr val="B71C1C"/>
          </a:solidFill>
          <a:ln w="12700">
            <a:solidFill>
              <a:srgbClr val="B71C1C"/>
            </a:solidFill>
            <a:prstDash val="solid"/>
          </a:ln>
        </p:spPr>
      </p:sp>
      <p:sp>
        <p:nvSpPr>
          <p:cNvPr id="20" name="Text 18"/>
          <p:cNvSpPr/>
          <p:nvPr/>
        </p:nvSpPr>
        <p:spPr>
          <a:xfrm>
            <a:off x="320040" y="3922776"/>
            <a:ext cx="1005840" cy="91440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PINx</a:t>
            </a:r>
            <a:endParaRPr lang="en-US" sz="1600" dirty="0"/>
          </a:p>
        </p:txBody>
      </p:sp>
      <p:sp>
        <p:nvSpPr>
          <p:cNvPr id="21" name="Text 19"/>
          <p:cNvSpPr/>
          <p:nvPr/>
        </p:nvSpPr>
        <p:spPr>
          <a:xfrm>
            <a:off x="1417320" y="3968496"/>
            <a:ext cx="4206240" cy="804672"/>
          </a:xfrm>
          <a:prstGeom prst="rect">
            <a:avLst/>
          </a:prstGeom>
          <a:noFill/>
          <a:ln/>
        </p:spPr>
        <p:txBody>
          <a:bodyPr wrap="square" rtlCol="0" anchor="ctr"/>
          <a:lstStyle/>
          <a:p>
            <a:pPr indent="0" marL="0">
              <a:buNone/>
            </a:pPr>
            <a:r>
              <a:rPr lang="en-US" sz="1100" dirty="0">
                <a:solidFill>
                  <a:srgbClr val="CCCCCC"/>
                </a:solidFill>
              </a:rPr>
              <a:t>Lê o estado atual dos pinos do porto X. Retorna o valor lógico presente em cada pino configurado como INPUT.</a:t>
            </a:r>
            <a:endParaRPr lang="en-US" sz="1100" dirty="0"/>
          </a:p>
        </p:txBody>
      </p:sp>
      <p:sp>
        <p:nvSpPr>
          <p:cNvPr id="22" name="Text 20"/>
          <p:cNvSpPr/>
          <p:nvPr/>
        </p:nvSpPr>
        <p:spPr>
          <a:xfrm>
            <a:off x="5715000" y="3968496"/>
            <a:ext cx="3017520" cy="804672"/>
          </a:xfrm>
          <a:prstGeom prst="rect">
            <a:avLst/>
          </a:prstGeom>
          <a:noFill/>
          <a:ln/>
        </p:spPr>
        <p:txBody>
          <a:bodyPr wrap="square"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if (PINB &amp; (1&lt;&lt;PB0)) { } // lê pino 8</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Interrupções e Watchdog</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88720"/>
            <a:ext cx="8503920" cy="822960"/>
          </a:xfrm>
          <a:prstGeom prst="rect">
            <a:avLst/>
          </a:prstGeom>
          <a:solidFill>
            <a:srgbClr val="E3F2FD"/>
          </a:solidFill>
          <a:ln w="12700">
            <a:solidFill>
              <a:srgbClr val="2196F3"/>
            </a:solidFill>
            <a:prstDash val="solid"/>
          </a:ln>
        </p:spPr>
      </p:sp>
      <p:sp>
        <p:nvSpPr>
          <p:cNvPr id="8" name="Shape 6"/>
          <p:cNvSpPr/>
          <p:nvPr/>
        </p:nvSpPr>
        <p:spPr>
          <a:xfrm>
            <a:off x="320040" y="1188720"/>
            <a:ext cx="502920" cy="822960"/>
          </a:xfrm>
          <a:prstGeom prst="rect">
            <a:avLst/>
          </a:prstGeom>
          <a:solidFill>
            <a:srgbClr val="B71C1C"/>
          </a:solidFill>
          <a:ln w="12700">
            <a:solidFill>
              <a:srgbClr val="B71C1C"/>
            </a:solidFill>
            <a:prstDash val="solid"/>
          </a:ln>
        </p:spPr>
      </p:sp>
      <p:sp>
        <p:nvSpPr>
          <p:cNvPr id="9" name="Text 7"/>
          <p:cNvSpPr/>
          <p:nvPr/>
        </p:nvSpPr>
        <p:spPr>
          <a:xfrm>
            <a:off x="320040" y="1188720"/>
            <a:ext cx="502920" cy="822960"/>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10" name="Text 8"/>
          <p:cNvSpPr/>
          <p:nvPr/>
        </p:nvSpPr>
        <p:spPr>
          <a:xfrm>
            <a:off x="914400" y="1216152"/>
            <a:ext cx="3931920" cy="329184"/>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attachInterrupt(pino, ISR, modo)</a:t>
            </a:r>
            <a:endParaRPr lang="en-US" sz="1100" dirty="0"/>
          </a:p>
        </p:txBody>
      </p:sp>
      <p:sp>
        <p:nvSpPr>
          <p:cNvPr id="11" name="Text 9"/>
          <p:cNvSpPr/>
          <p:nvPr/>
        </p:nvSpPr>
        <p:spPr>
          <a:xfrm>
            <a:off x="914400" y="1591056"/>
            <a:ext cx="4846320" cy="365760"/>
          </a:xfrm>
          <a:prstGeom prst="rect">
            <a:avLst/>
          </a:prstGeom>
          <a:noFill/>
          <a:ln/>
        </p:spPr>
        <p:txBody>
          <a:bodyPr wrap="square" rtlCol="0" anchor="ctr"/>
          <a:lstStyle/>
          <a:p>
            <a:pPr indent="0" marL="0">
              <a:buNone/>
            </a:pPr>
            <a:r>
              <a:rPr lang="en-US" sz="1100" dirty="0">
                <a:solidFill>
                  <a:srgbClr val="546E7A"/>
                </a:solidFill>
              </a:rPr>
              <a:t>Vincula uma função ISR a uma interrupção externa. Modos: RISING, FALLING, CHANGE, LOW.</a:t>
            </a:r>
            <a:endParaRPr lang="en-US" sz="1100" dirty="0"/>
          </a:p>
        </p:txBody>
      </p:sp>
      <p:sp>
        <p:nvSpPr>
          <p:cNvPr id="12" name="Text 10"/>
          <p:cNvSpPr/>
          <p:nvPr/>
        </p:nvSpPr>
        <p:spPr>
          <a:xfrm>
            <a:off x="5897880" y="1216152"/>
            <a:ext cx="2880360" cy="74980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attachInterrupt(</a:t>
            </a:r>
            <a:endParaRPr lang="en-US" sz="950" dirty="0"/>
          </a:p>
          <a:p>
            <a:pPr indent="0" marL="0">
              <a:buNone/>
            </a:pPr>
            <a:r>
              <a:rPr lang="en-US" sz="950" dirty="0">
                <a:solidFill>
                  <a:srgbClr val="1976D2"/>
                </a:solidFill>
                <a:latin typeface="Consolas" pitchFamily="34" charset="0"/>
                <a:ea typeface="Consolas" pitchFamily="34" charset="-122"/>
                <a:cs typeface="Consolas" pitchFamily="34" charset="-120"/>
              </a:rPr>
              <a:t>  digitalPinToInterrupt(2),</a:t>
            </a:r>
            <a:endParaRPr lang="en-US" sz="950" dirty="0"/>
          </a:p>
          <a:p>
            <a:pPr indent="0" marL="0">
              <a:buNone/>
            </a:pPr>
            <a:r>
              <a:rPr lang="en-US" sz="950" dirty="0">
                <a:solidFill>
                  <a:srgbClr val="1976D2"/>
                </a:solidFill>
                <a:latin typeface="Consolas" pitchFamily="34" charset="0"/>
                <a:ea typeface="Consolas" pitchFamily="34" charset="-122"/>
                <a:cs typeface="Consolas" pitchFamily="34" charset="-120"/>
              </a:rPr>
              <a:t>  minhaISR, FALLING);</a:t>
            </a:r>
            <a:endParaRPr lang="en-US" sz="950" dirty="0"/>
          </a:p>
        </p:txBody>
      </p:sp>
      <p:sp>
        <p:nvSpPr>
          <p:cNvPr id="13" name="Shape 11"/>
          <p:cNvSpPr/>
          <p:nvPr/>
        </p:nvSpPr>
        <p:spPr>
          <a:xfrm>
            <a:off x="320040" y="2103120"/>
            <a:ext cx="8503920" cy="822960"/>
          </a:xfrm>
          <a:prstGeom prst="rect">
            <a:avLst/>
          </a:prstGeom>
          <a:solidFill>
            <a:srgbClr val="F5F5F5"/>
          </a:solidFill>
          <a:ln w="12700">
            <a:solidFill>
              <a:srgbClr val="2196F3"/>
            </a:solidFill>
            <a:prstDash val="solid"/>
          </a:ln>
        </p:spPr>
      </p:sp>
      <p:sp>
        <p:nvSpPr>
          <p:cNvPr id="14" name="Shape 12"/>
          <p:cNvSpPr/>
          <p:nvPr/>
        </p:nvSpPr>
        <p:spPr>
          <a:xfrm>
            <a:off x="320040" y="2103120"/>
            <a:ext cx="502920" cy="822960"/>
          </a:xfrm>
          <a:prstGeom prst="rect">
            <a:avLst/>
          </a:prstGeom>
          <a:solidFill>
            <a:srgbClr val="B71C1C"/>
          </a:solidFill>
          <a:ln w="12700">
            <a:solidFill>
              <a:srgbClr val="B71C1C"/>
            </a:solidFill>
            <a:prstDash val="solid"/>
          </a:ln>
        </p:spPr>
      </p:sp>
      <p:sp>
        <p:nvSpPr>
          <p:cNvPr id="15" name="Text 13"/>
          <p:cNvSpPr/>
          <p:nvPr/>
        </p:nvSpPr>
        <p:spPr>
          <a:xfrm>
            <a:off x="320040" y="2103120"/>
            <a:ext cx="502920" cy="822960"/>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16" name="Text 14"/>
          <p:cNvSpPr/>
          <p:nvPr/>
        </p:nvSpPr>
        <p:spPr>
          <a:xfrm>
            <a:off x="914400" y="2130552"/>
            <a:ext cx="3931920" cy="329184"/>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detachInterrupt(pino)</a:t>
            </a:r>
            <a:endParaRPr lang="en-US" sz="1100" dirty="0"/>
          </a:p>
        </p:txBody>
      </p:sp>
      <p:sp>
        <p:nvSpPr>
          <p:cNvPr id="17" name="Text 15"/>
          <p:cNvSpPr/>
          <p:nvPr/>
        </p:nvSpPr>
        <p:spPr>
          <a:xfrm>
            <a:off x="914400" y="2505456"/>
            <a:ext cx="4846320" cy="365760"/>
          </a:xfrm>
          <a:prstGeom prst="rect">
            <a:avLst/>
          </a:prstGeom>
          <a:noFill/>
          <a:ln/>
        </p:spPr>
        <p:txBody>
          <a:bodyPr wrap="square" rtlCol="0" anchor="ctr"/>
          <a:lstStyle/>
          <a:p>
            <a:pPr indent="0" marL="0">
              <a:buNone/>
            </a:pPr>
            <a:r>
              <a:rPr lang="en-US" sz="1100" dirty="0">
                <a:solidFill>
                  <a:srgbClr val="546E7A"/>
                </a:solidFill>
              </a:rPr>
              <a:t>Remove a função de interrupção associada ao pino, desativando a interrupção externa.</a:t>
            </a:r>
            <a:endParaRPr lang="en-US" sz="1100" dirty="0"/>
          </a:p>
        </p:txBody>
      </p:sp>
      <p:sp>
        <p:nvSpPr>
          <p:cNvPr id="18" name="Text 16"/>
          <p:cNvSpPr/>
          <p:nvPr/>
        </p:nvSpPr>
        <p:spPr>
          <a:xfrm>
            <a:off x="5897880" y="2130552"/>
            <a:ext cx="2880360" cy="74980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detachInterrupt(</a:t>
            </a:r>
            <a:endParaRPr lang="en-US" sz="950" dirty="0"/>
          </a:p>
          <a:p>
            <a:pPr indent="0" marL="0">
              <a:buNone/>
            </a:pPr>
            <a:r>
              <a:rPr lang="en-US" sz="950" dirty="0">
                <a:solidFill>
                  <a:srgbClr val="1976D2"/>
                </a:solidFill>
                <a:latin typeface="Consolas" pitchFamily="34" charset="0"/>
                <a:ea typeface="Consolas" pitchFamily="34" charset="-122"/>
                <a:cs typeface="Consolas" pitchFamily="34" charset="-120"/>
              </a:rPr>
              <a:t>  digitalPinToInterrupt(2));</a:t>
            </a:r>
            <a:endParaRPr lang="en-US" sz="950" dirty="0"/>
          </a:p>
        </p:txBody>
      </p:sp>
      <p:sp>
        <p:nvSpPr>
          <p:cNvPr id="19" name="Shape 17"/>
          <p:cNvSpPr/>
          <p:nvPr/>
        </p:nvSpPr>
        <p:spPr>
          <a:xfrm>
            <a:off x="320040" y="3017520"/>
            <a:ext cx="8503920" cy="822960"/>
          </a:xfrm>
          <a:prstGeom prst="rect">
            <a:avLst/>
          </a:prstGeom>
          <a:solidFill>
            <a:srgbClr val="E3F2FD"/>
          </a:solidFill>
          <a:ln w="12700">
            <a:solidFill>
              <a:srgbClr val="2196F3"/>
            </a:solidFill>
            <a:prstDash val="solid"/>
          </a:ln>
        </p:spPr>
      </p:sp>
      <p:sp>
        <p:nvSpPr>
          <p:cNvPr id="20" name="Shape 18"/>
          <p:cNvSpPr/>
          <p:nvPr/>
        </p:nvSpPr>
        <p:spPr>
          <a:xfrm>
            <a:off x="320040" y="3017520"/>
            <a:ext cx="502920" cy="822960"/>
          </a:xfrm>
          <a:prstGeom prst="rect">
            <a:avLst/>
          </a:prstGeom>
          <a:solidFill>
            <a:srgbClr val="B71C1C"/>
          </a:solidFill>
          <a:ln w="12700">
            <a:solidFill>
              <a:srgbClr val="B71C1C"/>
            </a:solidFill>
            <a:prstDash val="solid"/>
          </a:ln>
        </p:spPr>
      </p:sp>
      <p:sp>
        <p:nvSpPr>
          <p:cNvPr id="21" name="Text 19"/>
          <p:cNvSpPr/>
          <p:nvPr/>
        </p:nvSpPr>
        <p:spPr>
          <a:xfrm>
            <a:off x="320040" y="3017520"/>
            <a:ext cx="502920" cy="822960"/>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22" name="Text 20"/>
          <p:cNvSpPr/>
          <p:nvPr/>
        </p:nvSpPr>
        <p:spPr>
          <a:xfrm>
            <a:off x="914400" y="3044952"/>
            <a:ext cx="3931920" cy="329184"/>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interrupts() / noInterrupts()</a:t>
            </a:r>
            <a:endParaRPr lang="en-US" sz="1100" dirty="0"/>
          </a:p>
        </p:txBody>
      </p:sp>
      <p:sp>
        <p:nvSpPr>
          <p:cNvPr id="23" name="Text 21"/>
          <p:cNvSpPr/>
          <p:nvPr/>
        </p:nvSpPr>
        <p:spPr>
          <a:xfrm>
            <a:off x="914400" y="3419856"/>
            <a:ext cx="4846320" cy="365760"/>
          </a:xfrm>
          <a:prstGeom prst="rect">
            <a:avLst/>
          </a:prstGeom>
          <a:noFill/>
          <a:ln/>
        </p:spPr>
        <p:txBody>
          <a:bodyPr wrap="square" rtlCol="0" anchor="ctr"/>
          <a:lstStyle/>
          <a:p>
            <a:pPr indent="0" marL="0">
              <a:buNone/>
            </a:pPr>
            <a:r>
              <a:rPr lang="en-US" sz="1100" dirty="0">
                <a:solidFill>
                  <a:srgbClr val="546E7A"/>
                </a:solidFill>
              </a:rPr>
              <a:t>Habilita ou desabilita globalmente todas as interrupções. Útil para proteger seções críticas.</a:t>
            </a:r>
            <a:endParaRPr lang="en-US" sz="1100" dirty="0"/>
          </a:p>
        </p:txBody>
      </p:sp>
      <p:sp>
        <p:nvSpPr>
          <p:cNvPr id="24" name="Text 22"/>
          <p:cNvSpPr/>
          <p:nvPr/>
        </p:nvSpPr>
        <p:spPr>
          <a:xfrm>
            <a:off x="5897880" y="3044952"/>
            <a:ext cx="2880360" cy="74980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noInterrupts();</a:t>
            </a:r>
            <a:endParaRPr lang="en-US" sz="950" dirty="0"/>
          </a:p>
          <a:p>
            <a:pPr indent="0" marL="0">
              <a:buNone/>
            </a:pPr>
            <a:r>
              <a:rPr lang="en-US" sz="950" dirty="0">
                <a:solidFill>
                  <a:srgbClr val="1976D2"/>
                </a:solidFill>
                <a:latin typeface="Consolas" pitchFamily="34" charset="0"/>
                <a:ea typeface="Consolas" pitchFamily="34" charset="-122"/>
                <a:cs typeface="Consolas" pitchFamily="34" charset="-120"/>
              </a:rPr>
              <a:t>// código crítico</a:t>
            </a:r>
            <a:endParaRPr lang="en-US" sz="950" dirty="0"/>
          </a:p>
          <a:p>
            <a:pPr indent="0" marL="0">
              <a:buNone/>
            </a:pPr>
            <a:r>
              <a:rPr lang="en-US" sz="950" dirty="0">
                <a:solidFill>
                  <a:srgbClr val="1976D2"/>
                </a:solidFill>
                <a:latin typeface="Consolas" pitchFamily="34" charset="0"/>
                <a:ea typeface="Consolas" pitchFamily="34" charset="-122"/>
                <a:cs typeface="Consolas" pitchFamily="34" charset="-120"/>
              </a:rPr>
              <a:t>interrupts();</a:t>
            </a:r>
            <a:endParaRPr lang="en-US" sz="950" dirty="0"/>
          </a:p>
        </p:txBody>
      </p:sp>
      <p:sp>
        <p:nvSpPr>
          <p:cNvPr id="25" name="Shape 23"/>
          <p:cNvSpPr/>
          <p:nvPr/>
        </p:nvSpPr>
        <p:spPr>
          <a:xfrm>
            <a:off x="320040" y="3931920"/>
            <a:ext cx="8503920" cy="822960"/>
          </a:xfrm>
          <a:prstGeom prst="rect">
            <a:avLst/>
          </a:prstGeom>
          <a:solidFill>
            <a:srgbClr val="F5F5F5"/>
          </a:solidFill>
          <a:ln w="12700">
            <a:solidFill>
              <a:srgbClr val="2196F3"/>
            </a:solidFill>
            <a:prstDash val="solid"/>
          </a:ln>
        </p:spPr>
      </p:sp>
      <p:sp>
        <p:nvSpPr>
          <p:cNvPr id="26" name="Shape 24"/>
          <p:cNvSpPr/>
          <p:nvPr/>
        </p:nvSpPr>
        <p:spPr>
          <a:xfrm>
            <a:off x="320040" y="3931920"/>
            <a:ext cx="502920" cy="822960"/>
          </a:xfrm>
          <a:prstGeom prst="rect">
            <a:avLst/>
          </a:prstGeom>
          <a:solidFill>
            <a:srgbClr val="B71C1C"/>
          </a:solidFill>
          <a:ln w="12700">
            <a:solidFill>
              <a:srgbClr val="B71C1C"/>
            </a:solidFill>
            <a:prstDash val="solid"/>
          </a:ln>
        </p:spPr>
      </p:sp>
      <p:sp>
        <p:nvSpPr>
          <p:cNvPr id="27" name="Text 25"/>
          <p:cNvSpPr/>
          <p:nvPr/>
        </p:nvSpPr>
        <p:spPr>
          <a:xfrm>
            <a:off x="320040" y="3931920"/>
            <a:ext cx="502920" cy="822960"/>
          </a:xfrm>
          <a:prstGeom prst="rect">
            <a:avLst/>
          </a:prstGeom>
          <a:noFill/>
          <a:ln/>
        </p:spPr>
        <p:txBody>
          <a:bodyPr wrap="square" rtlCol="0" anchor="ctr"/>
          <a:lstStyle/>
          <a:p>
            <a:pPr algn="ctr" indent="0" marL="0">
              <a:buNone/>
            </a:pPr>
            <a:r>
              <a:rPr lang="en-US" sz="700" b="1" dirty="0">
                <a:solidFill>
                  <a:srgbClr val="FFFFFF"/>
                </a:solidFill>
              </a:rPr>
              <a:t>void</a:t>
            </a:r>
            <a:endParaRPr lang="en-US" sz="700" dirty="0"/>
          </a:p>
        </p:txBody>
      </p:sp>
      <p:sp>
        <p:nvSpPr>
          <p:cNvPr id="28" name="Text 26"/>
          <p:cNvSpPr/>
          <p:nvPr/>
        </p:nvSpPr>
        <p:spPr>
          <a:xfrm>
            <a:off x="914400" y="3959352"/>
            <a:ext cx="3931920" cy="329184"/>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sei() / cli()</a:t>
            </a:r>
            <a:endParaRPr lang="en-US" sz="1100" dirty="0"/>
          </a:p>
        </p:txBody>
      </p:sp>
      <p:sp>
        <p:nvSpPr>
          <p:cNvPr id="29" name="Text 27"/>
          <p:cNvSpPr/>
          <p:nvPr/>
        </p:nvSpPr>
        <p:spPr>
          <a:xfrm>
            <a:off x="914400" y="4334256"/>
            <a:ext cx="4846320" cy="365760"/>
          </a:xfrm>
          <a:prstGeom prst="rect">
            <a:avLst/>
          </a:prstGeom>
          <a:noFill/>
          <a:ln/>
        </p:spPr>
        <p:txBody>
          <a:bodyPr wrap="square" rtlCol="0" anchor="ctr"/>
          <a:lstStyle/>
          <a:p>
            <a:pPr indent="0" marL="0">
              <a:buNone/>
            </a:pPr>
            <a:r>
              <a:rPr lang="en-US" sz="1100" dirty="0">
                <a:solidFill>
                  <a:srgbClr val="546E7A"/>
                </a:solidFill>
              </a:rPr>
              <a:t>Equivalentes em linguagem Assembly inline: sei() = habilita; cli() = desabilita interrupções.</a:t>
            </a:r>
            <a:endParaRPr lang="en-US" sz="1100" dirty="0"/>
          </a:p>
        </p:txBody>
      </p:sp>
      <p:sp>
        <p:nvSpPr>
          <p:cNvPr id="30" name="Text 28"/>
          <p:cNvSpPr/>
          <p:nvPr/>
        </p:nvSpPr>
        <p:spPr>
          <a:xfrm>
            <a:off x="5897880" y="3959352"/>
            <a:ext cx="2880360" cy="74980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cli(); // desabilita</a:t>
            </a:r>
            <a:endParaRPr lang="en-US" sz="950" dirty="0"/>
          </a:p>
          <a:p>
            <a:pPr indent="0" marL="0">
              <a:buNone/>
            </a:pPr>
            <a:r>
              <a:rPr lang="en-US" sz="950" dirty="0">
                <a:solidFill>
                  <a:srgbClr val="1976D2"/>
                </a:solidFill>
                <a:latin typeface="Consolas" pitchFamily="34" charset="0"/>
                <a:ea typeface="Consolas" pitchFamily="34" charset="-122"/>
                <a:cs typeface="Consolas" pitchFamily="34" charset="-120"/>
              </a:rPr>
              <a:t>sei(); // habilita</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Operações em Nível de Bit (Bitwise)</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502920"/>
          </a:xfrm>
          <a:prstGeom prst="rect">
            <a:avLst/>
          </a:prstGeom>
          <a:noFill/>
          <a:ln/>
        </p:spPr>
        <p:txBody>
          <a:bodyPr wrap="square" rtlCol="0" anchor="ctr"/>
          <a:lstStyle/>
          <a:p>
            <a:pPr indent="0" marL="0">
              <a:buNone/>
            </a:pPr>
            <a:r>
              <a:rPr lang="en-US" sz="1200" dirty="0">
                <a:solidFill>
                  <a:srgbClr val="1565C0"/>
                </a:solidFill>
              </a:rPr>
              <a:t>Operações bitwise são fundamentais em programação de baixo nível — permitem manipular bits individuais de registradores e variáveis com máxima eficiência.</a:t>
            </a:r>
            <a:endParaRPr lang="en-US" sz="1200" dirty="0"/>
          </a:p>
        </p:txBody>
      </p:sp>
      <p:sp>
        <p:nvSpPr>
          <p:cNvPr id="8" name="Shape 6"/>
          <p:cNvSpPr/>
          <p:nvPr/>
        </p:nvSpPr>
        <p:spPr>
          <a:xfrm>
            <a:off x="320040" y="1783080"/>
            <a:ext cx="4206240" cy="658368"/>
          </a:xfrm>
          <a:prstGeom prst="rect">
            <a:avLst/>
          </a:prstGeom>
          <a:solidFill>
            <a:srgbClr val="E3F2FD"/>
          </a:solidFill>
          <a:ln w="12700">
            <a:solidFill>
              <a:srgbClr val="2196F3"/>
            </a:solidFill>
            <a:prstDash val="solid"/>
          </a:ln>
        </p:spPr>
      </p:sp>
      <p:sp>
        <p:nvSpPr>
          <p:cNvPr id="9" name="Text 7"/>
          <p:cNvSpPr/>
          <p:nvPr/>
        </p:nvSpPr>
        <p:spPr>
          <a:xfrm>
            <a:off x="411480" y="1810512"/>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bitSet(x, n)</a:t>
            </a:r>
            <a:endParaRPr lang="en-US" sz="1100" dirty="0"/>
          </a:p>
        </p:txBody>
      </p:sp>
      <p:sp>
        <p:nvSpPr>
          <p:cNvPr id="10" name="Text 8"/>
          <p:cNvSpPr/>
          <p:nvPr/>
        </p:nvSpPr>
        <p:spPr>
          <a:xfrm>
            <a:off x="411480" y="2121408"/>
            <a:ext cx="2377440" cy="274320"/>
          </a:xfrm>
          <a:prstGeom prst="rect">
            <a:avLst/>
          </a:prstGeom>
          <a:noFill/>
          <a:ln/>
        </p:spPr>
        <p:txBody>
          <a:bodyPr wrap="square" rtlCol="0" anchor="ctr"/>
          <a:lstStyle/>
          <a:p>
            <a:pPr indent="0" marL="0">
              <a:buNone/>
            </a:pPr>
            <a:r>
              <a:rPr lang="en-US" sz="1000" dirty="0">
                <a:solidFill>
                  <a:srgbClr val="546E7A"/>
                </a:solidFill>
              </a:rPr>
              <a:t>Seta (coloca 1) no bit n da variável x.</a:t>
            </a:r>
            <a:endParaRPr lang="en-US" sz="1000" dirty="0"/>
          </a:p>
        </p:txBody>
      </p:sp>
      <p:sp>
        <p:nvSpPr>
          <p:cNvPr id="11" name="Text 9"/>
          <p:cNvSpPr/>
          <p:nvPr/>
        </p:nvSpPr>
        <p:spPr>
          <a:xfrm>
            <a:off x="2788920" y="1783080"/>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bitSet(PORTB, 5);</a:t>
            </a:r>
            <a:endParaRPr lang="en-US" sz="950" dirty="0"/>
          </a:p>
        </p:txBody>
      </p:sp>
      <p:sp>
        <p:nvSpPr>
          <p:cNvPr id="12" name="Shape 10"/>
          <p:cNvSpPr/>
          <p:nvPr/>
        </p:nvSpPr>
        <p:spPr>
          <a:xfrm>
            <a:off x="4663440" y="1783080"/>
            <a:ext cx="4206240" cy="658368"/>
          </a:xfrm>
          <a:prstGeom prst="rect">
            <a:avLst/>
          </a:prstGeom>
          <a:solidFill>
            <a:srgbClr val="E3F2FD"/>
          </a:solidFill>
          <a:ln w="12700">
            <a:solidFill>
              <a:srgbClr val="2196F3"/>
            </a:solidFill>
            <a:prstDash val="solid"/>
          </a:ln>
        </p:spPr>
      </p:sp>
      <p:sp>
        <p:nvSpPr>
          <p:cNvPr id="13" name="Text 11"/>
          <p:cNvSpPr/>
          <p:nvPr/>
        </p:nvSpPr>
        <p:spPr>
          <a:xfrm>
            <a:off x="4754880" y="1810512"/>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bitClear(x, n)</a:t>
            </a:r>
            <a:endParaRPr lang="en-US" sz="1100" dirty="0"/>
          </a:p>
        </p:txBody>
      </p:sp>
      <p:sp>
        <p:nvSpPr>
          <p:cNvPr id="14" name="Text 12"/>
          <p:cNvSpPr/>
          <p:nvPr/>
        </p:nvSpPr>
        <p:spPr>
          <a:xfrm>
            <a:off x="4754880" y="2121408"/>
            <a:ext cx="2377440" cy="274320"/>
          </a:xfrm>
          <a:prstGeom prst="rect">
            <a:avLst/>
          </a:prstGeom>
          <a:noFill/>
          <a:ln/>
        </p:spPr>
        <p:txBody>
          <a:bodyPr wrap="square" rtlCol="0" anchor="ctr"/>
          <a:lstStyle/>
          <a:p>
            <a:pPr indent="0" marL="0">
              <a:buNone/>
            </a:pPr>
            <a:r>
              <a:rPr lang="en-US" sz="1000" dirty="0">
                <a:solidFill>
                  <a:srgbClr val="546E7A"/>
                </a:solidFill>
              </a:rPr>
              <a:t>Limpa (coloca 0) no bit n da variável x.</a:t>
            </a:r>
            <a:endParaRPr lang="en-US" sz="1000" dirty="0"/>
          </a:p>
        </p:txBody>
      </p:sp>
      <p:sp>
        <p:nvSpPr>
          <p:cNvPr id="15" name="Text 13"/>
          <p:cNvSpPr/>
          <p:nvPr/>
        </p:nvSpPr>
        <p:spPr>
          <a:xfrm>
            <a:off x="7132320" y="1783080"/>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bitClear(PORTB, 5);</a:t>
            </a:r>
            <a:endParaRPr lang="en-US" sz="950" dirty="0"/>
          </a:p>
        </p:txBody>
      </p:sp>
      <p:sp>
        <p:nvSpPr>
          <p:cNvPr id="16" name="Shape 14"/>
          <p:cNvSpPr/>
          <p:nvPr/>
        </p:nvSpPr>
        <p:spPr>
          <a:xfrm>
            <a:off x="320040" y="2532888"/>
            <a:ext cx="4206240" cy="658368"/>
          </a:xfrm>
          <a:prstGeom prst="rect">
            <a:avLst/>
          </a:prstGeom>
          <a:solidFill>
            <a:srgbClr val="F5F5F5"/>
          </a:solidFill>
          <a:ln w="12700">
            <a:solidFill>
              <a:srgbClr val="2196F3"/>
            </a:solidFill>
            <a:prstDash val="solid"/>
          </a:ln>
        </p:spPr>
      </p:sp>
      <p:sp>
        <p:nvSpPr>
          <p:cNvPr id="17" name="Text 15"/>
          <p:cNvSpPr/>
          <p:nvPr/>
        </p:nvSpPr>
        <p:spPr>
          <a:xfrm>
            <a:off x="411480" y="2560320"/>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bitRead(x, n)</a:t>
            </a:r>
            <a:endParaRPr lang="en-US" sz="1100" dirty="0"/>
          </a:p>
        </p:txBody>
      </p:sp>
      <p:sp>
        <p:nvSpPr>
          <p:cNvPr id="18" name="Text 16"/>
          <p:cNvSpPr/>
          <p:nvPr/>
        </p:nvSpPr>
        <p:spPr>
          <a:xfrm>
            <a:off x="411480" y="2871216"/>
            <a:ext cx="2377440" cy="274320"/>
          </a:xfrm>
          <a:prstGeom prst="rect">
            <a:avLst/>
          </a:prstGeom>
          <a:noFill/>
          <a:ln/>
        </p:spPr>
        <p:txBody>
          <a:bodyPr wrap="square" rtlCol="0" anchor="ctr"/>
          <a:lstStyle/>
          <a:p>
            <a:pPr indent="0" marL="0">
              <a:buNone/>
            </a:pPr>
            <a:r>
              <a:rPr lang="en-US" sz="1000" dirty="0">
                <a:solidFill>
                  <a:srgbClr val="546E7A"/>
                </a:solidFill>
              </a:rPr>
              <a:t>Lê o valor (0 ou 1) do bit n da variável x.</a:t>
            </a:r>
            <a:endParaRPr lang="en-US" sz="1000" dirty="0"/>
          </a:p>
        </p:txBody>
      </p:sp>
      <p:sp>
        <p:nvSpPr>
          <p:cNvPr id="19" name="Text 17"/>
          <p:cNvSpPr/>
          <p:nvPr/>
        </p:nvSpPr>
        <p:spPr>
          <a:xfrm>
            <a:off x="2788920" y="2532888"/>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int b = bitRead(v, 3);</a:t>
            </a:r>
            <a:endParaRPr lang="en-US" sz="950" dirty="0"/>
          </a:p>
        </p:txBody>
      </p:sp>
      <p:sp>
        <p:nvSpPr>
          <p:cNvPr id="20" name="Shape 18"/>
          <p:cNvSpPr/>
          <p:nvPr/>
        </p:nvSpPr>
        <p:spPr>
          <a:xfrm>
            <a:off x="4663440" y="2532888"/>
            <a:ext cx="4206240" cy="658368"/>
          </a:xfrm>
          <a:prstGeom prst="rect">
            <a:avLst/>
          </a:prstGeom>
          <a:solidFill>
            <a:srgbClr val="F5F5F5"/>
          </a:solidFill>
          <a:ln w="12700">
            <a:solidFill>
              <a:srgbClr val="2196F3"/>
            </a:solidFill>
            <a:prstDash val="solid"/>
          </a:ln>
        </p:spPr>
      </p:sp>
      <p:sp>
        <p:nvSpPr>
          <p:cNvPr id="21" name="Text 19"/>
          <p:cNvSpPr/>
          <p:nvPr/>
        </p:nvSpPr>
        <p:spPr>
          <a:xfrm>
            <a:off x="4754880" y="2560320"/>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bitWrite(x,n,b)</a:t>
            </a:r>
            <a:endParaRPr lang="en-US" sz="1100" dirty="0"/>
          </a:p>
        </p:txBody>
      </p:sp>
      <p:sp>
        <p:nvSpPr>
          <p:cNvPr id="22" name="Text 20"/>
          <p:cNvSpPr/>
          <p:nvPr/>
        </p:nvSpPr>
        <p:spPr>
          <a:xfrm>
            <a:off x="4754880" y="2871216"/>
            <a:ext cx="2377440" cy="274320"/>
          </a:xfrm>
          <a:prstGeom prst="rect">
            <a:avLst/>
          </a:prstGeom>
          <a:noFill/>
          <a:ln/>
        </p:spPr>
        <p:txBody>
          <a:bodyPr wrap="square" rtlCol="0" anchor="ctr"/>
          <a:lstStyle/>
          <a:p>
            <a:pPr indent="0" marL="0">
              <a:buNone/>
            </a:pPr>
            <a:r>
              <a:rPr lang="en-US" sz="1000" dirty="0">
                <a:solidFill>
                  <a:srgbClr val="546E7A"/>
                </a:solidFill>
              </a:rPr>
              <a:t>Escreve b (0 ou 1) no bit n da variável x.</a:t>
            </a:r>
            <a:endParaRPr lang="en-US" sz="1000" dirty="0"/>
          </a:p>
        </p:txBody>
      </p:sp>
      <p:sp>
        <p:nvSpPr>
          <p:cNvPr id="23" name="Text 21"/>
          <p:cNvSpPr/>
          <p:nvPr/>
        </p:nvSpPr>
        <p:spPr>
          <a:xfrm>
            <a:off x="7132320" y="2532888"/>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bitWrite(DDRB, 5, 1);</a:t>
            </a:r>
            <a:endParaRPr lang="en-US" sz="950" dirty="0"/>
          </a:p>
        </p:txBody>
      </p:sp>
      <p:sp>
        <p:nvSpPr>
          <p:cNvPr id="24" name="Shape 22"/>
          <p:cNvSpPr/>
          <p:nvPr/>
        </p:nvSpPr>
        <p:spPr>
          <a:xfrm>
            <a:off x="320040" y="3282696"/>
            <a:ext cx="4206240" cy="658368"/>
          </a:xfrm>
          <a:prstGeom prst="rect">
            <a:avLst/>
          </a:prstGeom>
          <a:solidFill>
            <a:srgbClr val="E3F2FD"/>
          </a:solidFill>
          <a:ln w="12700">
            <a:solidFill>
              <a:srgbClr val="2196F3"/>
            </a:solidFill>
            <a:prstDash val="solid"/>
          </a:ln>
        </p:spPr>
      </p:sp>
      <p:sp>
        <p:nvSpPr>
          <p:cNvPr id="25" name="Text 23"/>
          <p:cNvSpPr/>
          <p:nvPr/>
        </p:nvSpPr>
        <p:spPr>
          <a:xfrm>
            <a:off x="411480" y="3310128"/>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bit(n)</a:t>
            </a:r>
            <a:endParaRPr lang="en-US" sz="1100" dirty="0"/>
          </a:p>
        </p:txBody>
      </p:sp>
      <p:sp>
        <p:nvSpPr>
          <p:cNvPr id="26" name="Text 24"/>
          <p:cNvSpPr/>
          <p:nvPr/>
        </p:nvSpPr>
        <p:spPr>
          <a:xfrm>
            <a:off x="411480" y="3621024"/>
            <a:ext cx="2377440" cy="274320"/>
          </a:xfrm>
          <a:prstGeom prst="rect">
            <a:avLst/>
          </a:prstGeom>
          <a:noFill/>
          <a:ln/>
        </p:spPr>
        <p:txBody>
          <a:bodyPr wrap="square" rtlCol="0" anchor="ctr"/>
          <a:lstStyle/>
          <a:p>
            <a:pPr indent="0" marL="0">
              <a:buNone/>
            </a:pPr>
            <a:r>
              <a:rPr lang="en-US" sz="1000" dirty="0">
                <a:solidFill>
                  <a:srgbClr val="546E7A"/>
                </a:solidFill>
              </a:rPr>
              <a:t>Calcula o valor 2^n (deslocamento de bit).</a:t>
            </a:r>
            <a:endParaRPr lang="en-US" sz="1000" dirty="0"/>
          </a:p>
        </p:txBody>
      </p:sp>
      <p:sp>
        <p:nvSpPr>
          <p:cNvPr id="27" name="Text 25"/>
          <p:cNvSpPr/>
          <p:nvPr/>
        </p:nvSpPr>
        <p:spPr>
          <a:xfrm>
            <a:off x="2788920" y="3282696"/>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byte m = bit(3); //=8</a:t>
            </a:r>
            <a:endParaRPr lang="en-US" sz="950" dirty="0"/>
          </a:p>
        </p:txBody>
      </p:sp>
      <p:sp>
        <p:nvSpPr>
          <p:cNvPr id="28" name="Shape 26"/>
          <p:cNvSpPr/>
          <p:nvPr/>
        </p:nvSpPr>
        <p:spPr>
          <a:xfrm>
            <a:off x="4663440" y="3282696"/>
            <a:ext cx="4206240" cy="658368"/>
          </a:xfrm>
          <a:prstGeom prst="rect">
            <a:avLst/>
          </a:prstGeom>
          <a:solidFill>
            <a:srgbClr val="E3F2FD"/>
          </a:solidFill>
          <a:ln w="12700">
            <a:solidFill>
              <a:srgbClr val="2196F3"/>
            </a:solidFill>
            <a:prstDash val="solid"/>
          </a:ln>
        </p:spPr>
      </p:sp>
      <p:sp>
        <p:nvSpPr>
          <p:cNvPr id="29" name="Text 27"/>
          <p:cNvSpPr/>
          <p:nvPr/>
        </p:nvSpPr>
        <p:spPr>
          <a:xfrm>
            <a:off x="4754880" y="3310128"/>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x &amp; mask</a:t>
            </a:r>
            <a:endParaRPr lang="en-US" sz="1100" dirty="0"/>
          </a:p>
        </p:txBody>
      </p:sp>
      <p:sp>
        <p:nvSpPr>
          <p:cNvPr id="30" name="Text 28"/>
          <p:cNvSpPr/>
          <p:nvPr/>
        </p:nvSpPr>
        <p:spPr>
          <a:xfrm>
            <a:off x="4754880" y="3621024"/>
            <a:ext cx="2377440" cy="274320"/>
          </a:xfrm>
          <a:prstGeom prst="rect">
            <a:avLst/>
          </a:prstGeom>
          <a:noFill/>
          <a:ln/>
        </p:spPr>
        <p:txBody>
          <a:bodyPr wrap="square" rtlCol="0" anchor="ctr"/>
          <a:lstStyle/>
          <a:p>
            <a:pPr indent="0" marL="0">
              <a:buNone/>
            </a:pPr>
            <a:r>
              <a:rPr lang="en-US" sz="1000" dirty="0">
                <a:solidFill>
                  <a:srgbClr val="546E7A"/>
                </a:solidFill>
              </a:rPr>
              <a:t>AND bit a bit — isola bits específicos.</a:t>
            </a:r>
            <a:endParaRPr lang="en-US" sz="1000" dirty="0"/>
          </a:p>
        </p:txBody>
      </p:sp>
      <p:sp>
        <p:nvSpPr>
          <p:cNvPr id="31" name="Text 29"/>
          <p:cNvSpPr/>
          <p:nvPr/>
        </p:nvSpPr>
        <p:spPr>
          <a:xfrm>
            <a:off x="7132320" y="3282696"/>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if (PINB &amp; 0b00100000){}</a:t>
            </a:r>
            <a:endParaRPr lang="en-US" sz="950" dirty="0"/>
          </a:p>
        </p:txBody>
      </p:sp>
      <p:sp>
        <p:nvSpPr>
          <p:cNvPr id="32" name="Shape 30"/>
          <p:cNvSpPr/>
          <p:nvPr/>
        </p:nvSpPr>
        <p:spPr>
          <a:xfrm>
            <a:off x="320040" y="4032504"/>
            <a:ext cx="4206240" cy="658368"/>
          </a:xfrm>
          <a:prstGeom prst="rect">
            <a:avLst/>
          </a:prstGeom>
          <a:solidFill>
            <a:srgbClr val="F5F5F5"/>
          </a:solidFill>
          <a:ln w="12700">
            <a:solidFill>
              <a:srgbClr val="2196F3"/>
            </a:solidFill>
            <a:prstDash val="solid"/>
          </a:ln>
        </p:spPr>
      </p:sp>
      <p:sp>
        <p:nvSpPr>
          <p:cNvPr id="33" name="Text 31"/>
          <p:cNvSpPr/>
          <p:nvPr/>
        </p:nvSpPr>
        <p:spPr>
          <a:xfrm>
            <a:off x="411480" y="4059936"/>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x | mask</a:t>
            </a:r>
            <a:endParaRPr lang="en-US" sz="1100" dirty="0"/>
          </a:p>
        </p:txBody>
      </p:sp>
      <p:sp>
        <p:nvSpPr>
          <p:cNvPr id="34" name="Text 32"/>
          <p:cNvSpPr/>
          <p:nvPr/>
        </p:nvSpPr>
        <p:spPr>
          <a:xfrm>
            <a:off x="411480" y="4370832"/>
            <a:ext cx="2377440" cy="274320"/>
          </a:xfrm>
          <a:prstGeom prst="rect">
            <a:avLst/>
          </a:prstGeom>
          <a:noFill/>
          <a:ln/>
        </p:spPr>
        <p:txBody>
          <a:bodyPr wrap="square" rtlCol="0" anchor="ctr"/>
          <a:lstStyle/>
          <a:p>
            <a:pPr indent="0" marL="0">
              <a:buNone/>
            </a:pPr>
            <a:r>
              <a:rPr lang="en-US" sz="1000" dirty="0">
                <a:solidFill>
                  <a:srgbClr val="546E7A"/>
                </a:solidFill>
              </a:rPr>
              <a:t>OR bit a bit — seta bits específicos.</a:t>
            </a:r>
            <a:endParaRPr lang="en-US" sz="1000" dirty="0"/>
          </a:p>
        </p:txBody>
      </p:sp>
      <p:sp>
        <p:nvSpPr>
          <p:cNvPr id="35" name="Text 33"/>
          <p:cNvSpPr/>
          <p:nvPr/>
        </p:nvSpPr>
        <p:spPr>
          <a:xfrm>
            <a:off x="2788920" y="4032504"/>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PORTB |= (1 &lt;&lt; PB3);</a:t>
            </a:r>
            <a:endParaRPr lang="en-US" sz="950" dirty="0"/>
          </a:p>
        </p:txBody>
      </p:sp>
      <p:sp>
        <p:nvSpPr>
          <p:cNvPr id="36" name="Shape 34"/>
          <p:cNvSpPr/>
          <p:nvPr/>
        </p:nvSpPr>
        <p:spPr>
          <a:xfrm>
            <a:off x="4663440" y="4032504"/>
            <a:ext cx="4206240" cy="658368"/>
          </a:xfrm>
          <a:prstGeom prst="rect">
            <a:avLst/>
          </a:prstGeom>
          <a:solidFill>
            <a:srgbClr val="F5F5F5"/>
          </a:solidFill>
          <a:ln w="12700">
            <a:solidFill>
              <a:srgbClr val="2196F3"/>
            </a:solidFill>
            <a:prstDash val="solid"/>
          </a:ln>
        </p:spPr>
      </p:sp>
      <p:sp>
        <p:nvSpPr>
          <p:cNvPr id="37" name="Text 35"/>
          <p:cNvSpPr/>
          <p:nvPr/>
        </p:nvSpPr>
        <p:spPr>
          <a:xfrm>
            <a:off x="4754880" y="4059936"/>
            <a:ext cx="1828800" cy="292608"/>
          </a:xfrm>
          <a:prstGeom prst="rect">
            <a:avLst/>
          </a:prstGeom>
          <a:noFill/>
          <a:ln/>
        </p:spPr>
        <p:txBody>
          <a:bodyPr wrap="square" rtlCol="0" anchor="ctr"/>
          <a:lstStyle/>
          <a:p>
            <a:pPr indent="0" marL="0">
              <a:buNone/>
            </a:pPr>
            <a:r>
              <a:rPr lang="en-US" sz="1100" b="1" dirty="0">
                <a:solidFill>
                  <a:srgbClr val="0D47A1"/>
                </a:solidFill>
                <a:latin typeface="Consolas" pitchFamily="34" charset="0"/>
                <a:ea typeface="Consolas" pitchFamily="34" charset="-122"/>
                <a:cs typeface="Consolas" pitchFamily="34" charset="-120"/>
              </a:rPr>
              <a:t>x ^ mask</a:t>
            </a:r>
            <a:endParaRPr lang="en-US" sz="1100" dirty="0"/>
          </a:p>
        </p:txBody>
      </p:sp>
      <p:sp>
        <p:nvSpPr>
          <p:cNvPr id="38" name="Text 36"/>
          <p:cNvSpPr/>
          <p:nvPr/>
        </p:nvSpPr>
        <p:spPr>
          <a:xfrm>
            <a:off x="4754880" y="4370832"/>
            <a:ext cx="2377440" cy="274320"/>
          </a:xfrm>
          <a:prstGeom prst="rect">
            <a:avLst/>
          </a:prstGeom>
          <a:noFill/>
          <a:ln/>
        </p:spPr>
        <p:txBody>
          <a:bodyPr wrap="square" rtlCol="0" anchor="ctr"/>
          <a:lstStyle/>
          <a:p>
            <a:pPr indent="0" marL="0">
              <a:buNone/>
            </a:pPr>
            <a:r>
              <a:rPr lang="en-US" sz="1000" dirty="0">
                <a:solidFill>
                  <a:srgbClr val="546E7A"/>
                </a:solidFill>
              </a:rPr>
              <a:t>XOR bit a bit — inverte bits específicos.</a:t>
            </a:r>
            <a:endParaRPr lang="en-US" sz="1000" dirty="0"/>
          </a:p>
        </p:txBody>
      </p:sp>
      <p:sp>
        <p:nvSpPr>
          <p:cNvPr id="39" name="Text 37"/>
          <p:cNvSpPr/>
          <p:nvPr/>
        </p:nvSpPr>
        <p:spPr>
          <a:xfrm>
            <a:off x="7132320" y="4032504"/>
            <a:ext cx="1645920" cy="658368"/>
          </a:xfrm>
          <a:prstGeom prst="rect">
            <a:avLst/>
          </a:prstGeom>
          <a:noFill/>
          <a:ln/>
        </p:spPr>
        <p:txBody>
          <a:bodyPr wrap="square" rtlCol="0" anchor="ctr"/>
          <a:lstStyle/>
          <a:p>
            <a:pPr indent="0" marL="0">
              <a:buNone/>
            </a:pPr>
            <a:r>
              <a:rPr lang="en-US" sz="950" dirty="0">
                <a:solidFill>
                  <a:srgbClr val="1976D2"/>
                </a:solidFill>
                <a:latin typeface="Consolas" pitchFamily="34" charset="0"/>
                <a:ea typeface="Consolas" pitchFamily="34" charset="-122"/>
                <a:cs typeface="Consolas" pitchFamily="34" charset="-120"/>
              </a:rPr>
              <a:t>PORTB ^= (1 &lt;&lt; PB5);</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Comandos — Protocolos e Memória EEPROM</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 y="1143000"/>
            <a:ext cx="2606040" cy="365760"/>
          </a:xfrm>
          <a:prstGeom prst="rect">
            <a:avLst/>
          </a:prstGeom>
          <a:solidFill>
            <a:srgbClr val="0D47A1"/>
          </a:solidFill>
          <a:ln w="12700">
            <a:solidFill>
              <a:srgbClr val="0D47A1"/>
            </a:solidFill>
            <a:prstDash val="solid"/>
          </a:ln>
        </p:spPr>
      </p:sp>
      <p:sp>
        <p:nvSpPr>
          <p:cNvPr id="8" name="Text 6"/>
          <p:cNvSpPr/>
          <p:nvPr/>
        </p:nvSpPr>
        <p:spPr>
          <a:xfrm>
            <a:off x="365760" y="1143000"/>
            <a:ext cx="2514600" cy="365760"/>
          </a:xfrm>
          <a:prstGeom prst="rect">
            <a:avLst/>
          </a:prstGeom>
          <a:noFill/>
          <a:ln/>
        </p:spPr>
        <p:txBody>
          <a:bodyPr wrap="square" rtlCol="0" anchor="ctr"/>
          <a:lstStyle/>
          <a:p>
            <a:pPr indent="0" marL="0">
              <a:buNone/>
            </a:pPr>
            <a:r>
              <a:rPr lang="en-US" sz="1200" b="1" dirty="0">
                <a:solidFill>
                  <a:srgbClr val="FFFFFF"/>
                </a:solidFill>
              </a:rPr>
              <a:t>Protocolo I²C (Wire.h)</a:t>
            </a:r>
            <a:endParaRPr lang="en-US" sz="1200" dirty="0"/>
          </a:p>
        </p:txBody>
      </p:sp>
      <p:sp>
        <p:nvSpPr>
          <p:cNvPr id="9" name="Shape 7"/>
          <p:cNvSpPr/>
          <p:nvPr/>
        </p:nvSpPr>
        <p:spPr>
          <a:xfrm>
            <a:off x="320040" y="1572768"/>
            <a:ext cx="2606040" cy="338328"/>
          </a:xfrm>
          <a:prstGeom prst="rect">
            <a:avLst/>
          </a:prstGeom>
          <a:solidFill>
            <a:srgbClr val="E3F2FD"/>
          </a:solidFill>
          <a:ln w="12700">
            <a:solidFill>
              <a:srgbClr val="BBDEFB"/>
            </a:solidFill>
            <a:prstDash val="solid"/>
          </a:ln>
        </p:spPr>
      </p:sp>
      <p:sp>
        <p:nvSpPr>
          <p:cNvPr id="10" name="Text 8"/>
          <p:cNvSpPr/>
          <p:nvPr/>
        </p:nvSpPr>
        <p:spPr>
          <a:xfrm>
            <a:off x="411480" y="1572768"/>
            <a:ext cx="1325880" cy="338328"/>
          </a:xfrm>
          <a:prstGeom prst="rect">
            <a:avLst/>
          </a:prstGeom>
          <a:noFill/>
          <a:ln/>
        </p:spPr>
        <p:txBody>
          <a:bodyPr wrap="square" rtlCol="0" anchor="ctr"/>
          <a:lstStyle/>
          <a:p>
            <a:pPr indent="0" marL="0">
              <a:buNone/>
            </a:pPr>
            <a:r>
              <a:rPr lang="en-US" sz="950" b="1" dirty="0">
                <a:solidFill>
                  <a:srgbClr val="0D47A1"/>
                </a:solidFill>
                <a:latin typeface="Consolas" pitchFamily="34" charset="0"/>
                <a:ea typeface="Consolas" pitchFamily="34" charset="-122"/>
                <a:cs typeface="Consolas" pitchFamily="34" charset="-120"/>
              </a:rPr>
              <a:t>Wire.begin()</a:t>
            </a:r>
            <a:endParaRPr lang="en-US" sz="950" dirty="0"/>
          </a:p>
        </p:txBody>
      </p:sp>
      <p:sp>
        <p:nvSpPr>
          <p:cNvPr id="11" name="Text 9"/>
          <p:cNvSpPr/>
          <p:nvPr/>
        </p:nvSpPr>
        <p:spPr>
          <a:xfrm>
            <a:off x="1755648" y="1572768"/>
            <a:ext cx="1097280" cy="338328"/>
          </a:xfrm>
          <a:prstGeom prst="rect">
            <a:avLst/>
          </a:prstGeom>
          <a:noFill/>
          <a:ln/>
        </p:spPr>
        <p:txBody>
          <a:bodyPr wrap="square" rtlCol="0" anchor="ctr"/>
          <a:lstStyle/>
          <a:p>
            <a:pPr indent="0" marL="0">
              <a:buNone/>
            </a:pPr>
            <a:r>
              <a:rPr lang="en-US" sz="900" dirty="0">
                <a:solidFill>
                  <a:srgbClr val="546E7A"/>
                </a:solidFill>
              </a:rPr>
              <a:t>Inicia o barramento I²C como mestre</a:t>
            </a:r>
            <a:endParaRPr lang="en-US" sz="900" dirty="0"/>
          </a:p>
        </p:txBody>
      </p:sp>
      <p:sp>
        <p:nvSpPr>
          <p:cNvPr id="12" name="Shape 10"/>
          <p:cNvSpPr/>
          <p:nvPr/>
        </p:nvSpPr>
        <p:spPr>
          <a:xfrm>
            <a:off x="320040" y="1956816"/>
            <a:ext cx="2606040" cy="338328"/>
          </a:xfrm>
          <a:prstGeom prst="rect">
            <a:avLst/>
          </a:prstGeom>
          <a:solidFill>
            <a:srgbClr val="F5F5F5"/>
          </a:solidFill>
          <a:ln w="12700">
            <a:solidFill>
              <a:srgbClr val="BBDEFB"/>
            </a:solidFill>
            <a:prstDash val="solid"/>
          </a:ln>
        </p:spPr>
      </p:sp>
      <p:sp>
        <p:nvSpPr>
          <p:cNvPr id="13" name="Text 11"/>
          <p:cNvSpPr/>
          <p:nvPr/>
        </p:nvSpPr>
        <p:spPr>
          <a:xfrm>
            <a:off x="411480" y="1956816"/>
            <a:ext cx="1325880" cy="338328"/>
          </a:xfrm>
          <a:prstGeom prst="rect">
            <a:avLst/>
          </a:prstGeom>
          <a:noFill/>
          <a:ln/>
        </p:spPr>
        <p:txBody>
          <a:bodyPr wrap="square" rtlCol="0" anchor="ctr"/>
          <a:lstStyle/>
          <a:p>
            <a:pPr indent="0" marL="0">
              <a:buNone/>
            </a:pPr>
            <a:r>
              <a:rPr lang="en-US" sz="950" b="1" dirty="0">
                <a:solidFill>
                  <a:srgbClr val="0D47A1"/>
                </a:solidFill>
                <a:latin typeface="Consolas" pitchFamily="34" charset="0"/>
                <a:ea typeface="Consolas" pitchFamily="34" charset="-122"/>
                <a:cs typeface="Consolas" pitchFamily="34" charset="-120"/>
              </a:rPr>
              <a:t>Wire.beginTransmission(addr)</a:t>
            </a:r>
            <a:endParaRPr lang="en-US" sz="950" dirty="0"/>
          </a:p>
        </p:txBody>
      </p:sp>
      <p:sp>
        <p:nvSpPr>
          <p:cNvPr id="14" name="Text 12"/>
          <p:cNvSpPr/>
          <p:nvPr/>
        </p:nvSpPr>
        <p:spPr>
          <a:xfrm>
            <a:off x="1755648" y="1956816"/>
            <a:ext cx="1097280" cy="338328"/>
          </a:xfrm>
          <a:prstGeom prst="rect">
            <a:avLst/>
          </a:prstGeom>
          <a:noFill/>
          <a:ln/>
        </p:spPr>
        <p:txBody>
          <a:bodyPr wrap="square" rtlCol="0" anchor="ctr"/>
          <a:lstStyle/>
          <a:p>
            <a:pPr indent="0" marL="0">
              <a:buNone/>
            </a:pPr>
            <a:r>
              <a:rPr lang="en-US" sz="900" dirty="0">
                <a:solidFill>
                  <a:srgbClr val="546E7A"/>
                </a:solidFill>
              </a:rPr>
              <a:t>Inicia transmissão para o endereço</a:t>
            </a:r>
            <a:endParaRPr lang="en-US" sz="900" dirty="0"/>
          </a:p>
        </p:txBody>
      </p:sp>
      <p:sp>
        <p:nvSpPr>
          <p:cNvPr id="15" name="Shape 13"/>
          <p:cNvSpPr/>
          <p:nvPr/>
        </p:nvSpPr>
        <p:spPr>
          <a:xfrm>
            <a:off x="320040" y="2340864"/>
            <a:ext cx="2606040" cy="338328"/>
          </a:xfrm>
          <a:prstGeom prst="rect">
            <a:avLst/>
          </a:prstGeom>
          <a:solidFill>
            <a:srgbClr val="E3F2FD"/>
          </a:solidFill>
          <a:ln w="12700">
            <a:solidFill>
              <a:srgbClr val="BBDEFB"/>
            </a:solidFill>
            <a:prstDash val="solid"/>
          </a:ln>
        </p:spPr>
      </p:sp>
      <p:sp>
        <p:nvSpPr>
          <p:cNvPr id="16" name="Text 14"/>
          <p:cNvSpPr/>
          <p:nvPr/>
        </p:nvSpPr>
        <p:spPr>
          <a:xfrm>
            <a:off x="411480" y="2340864"/>
            <a:ext cx="1325880" cy="338328"/>
          </a:xfrm>
          <a:prstGeom prst="rect">
            <a:avLst/>
          </a:prstGeom>
          <a:noFill/>
          <a:ln/>
        </p:spPr>
        <p:txBody>
          <a:bodyPr wrap="square" rtlCol="0" anchor="ctr"/>
          <a:lstStyle/>
          <a:p>
            <a:pPr indent="0" marL="0">
              <a:buNone/>
            </a:pPr>
            <a:r>
              <a:rPr lang="en-US" sz="950" b="1" dirty="0">
                <a:solidFill>
                  <a:srgbClr val="0D47A1"/>
                </a:solidFill>
                <a:latin typeface="Consolas" pitchFamily="34" charset="0"/>
                <a:ea typeface="Consolas" pitchFamily="34" charset="-122"/>
                <a:cs typeface="Consolas" pitchFamily="34" charset="-120"/>
              </a:rPr>
              <a:t>Wire.write(dado)</a:t>
            </a:r>
            <a:endParaRPr lang="en-US" sz="950" dirty="0"/>
          </a:p>
        </p:txBody>
      </p:sp>
      <p:sp>
        <p:nvSpPr>
          <p:cNvPr id="17" name="Text 15"/>
          <p:cNvSpPr/>
          <p:nvPr/>
        </p:nvSpPr>
        <p:spPr>
          <a:xfrm>
            <a:off x="1755648" y="2340864"/>
            <a:ext cx="1097280" cy="338328"/>
          </a:xfrm>
          <a:prstGeom prst="rect">
            <a:avLst/>
          </a:prstGeom>
          <a:noFill/>
          <a:ln/>
        </p:spPr>
        <p:txBody>
          <a:bodyPr wrap="square" rtlCol="0" anchor="ctr"/>
          <a:lstStyle/>
          <a:p>
            <a:pPr indent="0" marL="0">
              <a:buNone/>
            </a:pPr>
            <a:r>
              <a:rPr lang="en-US" sz="900" dirty="0">
                <a:solidFill>
                  <a:srgbClr val="546E7A"/>
                </a:solidFill>
              </a:rPr>
              <a:t>Envia byte para o dispositivo</a:t>
            </a:r>
            <a:endParaRPr lang="en-US" sz="900" dirty="0"/>
          </a:p>
        </p:txBody>
      </p:sp>
      <p:sp>
        <p:nvSpPr>
          <p:cNvPr id="18" name="Shape 16"/>
          <p:cNvSpPr/>
          <p:nvPr/>
        </p:nvSpPr>
        <p:spPr>
          <a:xfrm>
            <a:off x="320040" y="2724912"/>
            <a:ext cx="2606040" cy="338328"/>
          </a:xfrm>
          <a:prstGeom prst="rect">
            <a:avLst/>
          </a:prstGeom>
          <a:solidFill>
            <a:srgbClr val="F5F5F5"/>
          </a:solidFill>
          <a:ln w="12700">
            <a:solidFill>
              <a:srgbClr val="BBDEFB"/>
            </a:solidFill>
            <a:prstDash val="solid"/>
          </a:ln>
        </p:spPr>
      </p:sp>
      <p:sp>
        <p:nvSpPr>
          <p:cNvPr id="19" name="Text 17"/>
          <p:cNvSpPr/>
          <p:nvPr/>
        </p:nvSpPr>
        <p:spPr>
          <a:xfrm>
            <a:off x="411480" y="2724912"/>
            <a:ext cx="1325880" cy="338328"/>
          </a:xfrm>
          <a:prstGeom prst="rect">
            <a:avLst/>
          </a:prstGeom>
          <a:noFill/>
          <a:ln/>
        </p:spPr>
        <p:txBody>
          <a:bodyPr wrap="square" rtlCol="0" anchor="ctr"/>
          <a:lstStyle/>
          <a:p>
            <a:pPr indent="0" marL="0">
              <a:buNone/>
            </a:pPr>
            <a:r>
              <a:rPr lang="en-US" sz="950" b="1" dirty="0">
                <a:solidFill>
                  <a:srgbClr val="0D47A1"/>
                </a:solidFill>
                <a:latin typeface="Consolas" pitchFamily="34" charset="0"/>
                <a:ea typeface="Consolas" pitchFamily="34" charset="-122"/>
                <a:cs typeface="Consolas" pitchFamily="34" charset="-120"/>
              </a:rPr>
              <a:t>Wire.endTransmission()</a:t>
            </a:r>
            <a:endParaRPr lang="en-US" sz="950" dirty="0"/>
          </a:p>
        </p:txBody>
      </p:sp>
      <p:sp>
        <p:nvSpPr>
          <p:cNvPr id="20" name="Text 18"/>
          <p:cNvSpPr/>
          <p:nvPr/>
        </p:nvSpPr>
        <p:spPr>
          <a:xfrm>
            <a:off x="1755648" y="2724912"/>
            <a:ext cx="1097280" cy="338328"/>
          </a:xfrm>
          <a:prstGeom prst="rect">
            <a:avLst/>
          </a:prstGeom>
          <a:noFill/>
          <a:ln/>
        </p:spPr>
        <p:txBody>
          <a:bodyPr wrap="square" rtlCol="0" anchor="ctr"/>
          <a:lstStyle/>
          <a:p>
            <a:pPr indent="0" marL="0">
              <a:buNone/>
            </a:pPr>
            <a:r>
              <a:rPr lang="en-US" sz="900" dirty="0">
                <a:solidFill>
                  <a:srgbClr val="546E7A"/>
                </a:solidFill>
              </a:rPr>
              <a:t>Finaliza e envia a transmissão</a:t>
            </a:r>
            <a:endParaRPr lang="en-US" sz="900" dirty="0"/>
          </a:p>
        </p:txBody>
      </p:sp>
      <p:sp>
        <p:nvSpPr>
          <p:cNvPr id="21" name="Shape 19"/>
          <p:cNvSpPr/>
          <p:nvPr/>
        </p:nvSpPr>
        <p:spPr>
          <a:xfrm>
            <a:off x="320040" y="3108960"/>
            <a:ext cx="2606040" cy="338328"/>
          </a:xfrm>
          <a:prstGeom prst="rect">
            <a:avLst/>
          </a:prstGeom>
          <a:solidFill>
            <a:srgbClr val="E3F2FD"/>
          </a:solidFill>
          <a:ln w="12700">
            <a:solidFill>
              <a:srgbClr val="BBDEFB"/>
            </a:solidFill>
            <a:prstDash val="solid"/>
          </a:ln>
        </p:spPr>
      </p:sp>
      <p:sp>
        <p:nvSpPr>
          <p:cNvPr id="22" name="Text 20"/>
          <p:cNvSpPr/>
          <p:nvPr/>
        </p:nvSpPr>
        <p:spPr>
          <a:xfrm>
            <a:off x="411480" y="3108960"/>
            <a:ext cx="1325880" cy="338328"/>
          </a:xfrm>
          <a:prstGeom prst="rect">
            <a:avLst/>
          </a:prstGeom>
          <a:noFill/>
          <a:ln/>
        </p:spPr>
        <p:txBody>
          <a:bodyPr wrap="square" rtlCol="0" anchor="ctr"/>
          <a:lstStyle/>
          <a:p>
            <a:pPr indent="0" marL="0">
              <a:buNone/>
            </a:pPr>
            <a:r>
              <a:rPr lang="en-US" sz="950" b="1" dirty="0">
                <a:solidFill>
                  <a:srgbClr val="0D47A1"/>
                </a:solidFill>
                <a:latin typeface="Consolas" pitchFamily="34" charset="0"/>
                <a:ea typeface="Consolas" pitchFamily="34" charset="-122"/>
                <a:cs typeface="Consolas" pitchFamily="34" charset="-120"/>
              </a:rPr>
              <a:t>Wire.requestFrom(addr, qtd)</a:t>
            </a:r>
            <a:endParaRPr lang="en-US" sz="950" dirty="0"/>
          </a:p>
        </p:txBody>
      </p:sp>
      <p:sp>
        <p:nvSpPr>
          <p:cNvPr id="23" name="Text 21"/>
          <p:cNvSpPr/>
          <p:nvPr/>
        </p:nvSpPr>
        <p:spPr>
          <a:xfrm>
            <a:off x="1755648" y="3108960"/>
            <a:ext cx="1097280" cy="338328"/>
          </a:xfrm>
          <a:prstGeom prst="rect">
            <a:avLst/>
          </a:prstGeom>
          <a:noFill/>
          <a:ln/>
        </p:spPr>
        <p:txBody>
          <a:bodyPr wrap="square" rtlCol="0" anchor="ctr"/>
          <a:lstStyle/>
          <a:p>
            <a:pPr indent="0" marL="0">
              <a:buNone/>
            </a:pPr>
            <a:r>
              <a:rPr lang="en-US" sz="900" dirty="0">
                <a:solidFill>
                  <a:srgbClr val="546E7A"/>
                </a:solidFill>
              </a:rPr>
              <a:t>Solicita bytes de um dispositivo</a:t>
            </a:r>
            <a:endParaRPr lang="en-US" sz="900" dirty="0"/>
          </a:p>
        </p:txBody>
      </p:sp>
      <p:sp>
        <p:nvSpPr>
          <p:cNvPr id="24" name="Shape 22"/>
          <p:cNvSpPr/>
          <p:nvPr/>
        </p:nvSpPr>
        <p:spPr>
          <a:xfrm>
            <a:off x="320040" y="3493008"/>
            <a:ext cx="2606040" cy="338328"/>
          </a:xfrm>
          <a:prstGeom prst="rect">
            <a:avLst/>
          </a:prstGeom>
          <a:solidFill>
            <a:srgbClr val="F5F5F5"/>
          </a:solidFill>
          <a:ln w="12700">
            <a:solidFill>
              <a:srgbClr val="BBDEFB"/>
            </a:solidFill>
            <a:prstDash val="solid"/>
          </a:ln>
        </p:spPr>
      </p:sp>
      <p:sp>
        <p:nvSpPr>
          <p:cNvPr id="25" name="Text 23"/>
          <p:cNvSpPr/>
          <p:nvPr/>
        </p:nvSpPr>
        <p:spPr>
          <a:xfrm>
            <a:off x="411480" y="3493008"/>
            <a:ext cx="1325880" cy="338328"/>
          </a:xfrm>
          <a:prstGeom prst="rect">
            <a:avLst/>
          </a:prstGeom>
          <a:noFill/>
          <a:ln/>
        </p:spPr>
        <p:txBody>
          <a:bodyPr wrap="square" rtlCol="0" anchor="ctr"/>
          <a:lstStyle/>
          <a:p>
            <a:pPr indent="0" marL="0">
              <a:buNone/>
            </a:pPr>
            <a:r>
              <a:rPr lang="en-US" sz="950" b="1" dirty="0">
                <a:solidFill>
                  <a:srgbClr val="0D47A1"/>
                </a:solidFill>
                <a:latin typeface="Consolas" pitchFamily="34" charset="0"/>
                <a:ea typeface="Consolas" pitchFamily="34" charset="-122"/>
                <a:cs typeface="Consolas" pitchFamily="34" charset="-120"/>
              </a:rPr>
              <a:t>Wire.read()</a:t>
            </a:r>
            <a:endParaRPr lang="en-US" sz="950" dirty="0"/>
          </a:p>
        </p:txBody>
      </p:sp>
      <p:sp>
        <p:nvSpPr>
          <p:cNvPr id="26" name="Text 24"/>
          <p:cNvSpPr/>
          <p:nvPr/>
        </p:nvSpPr>
        <p:spPr>
          <a:xfrm>
            <a:off x="1755648" y="3493008"/>
            <a:ext cx="1097280" cy="338328"/>
          </a:xfrm>
          <a:prstGeom prst="rect">
            <a:avLst/>
          </a:prstGeom>
          <a:noFill/>
          <a:ln/>
        </p:spPr>
        <p:txBody>
          <a:bodyPr wrap="square" rtlCol="0" anchor="ctr"/>
          <a:lstStyle/>
          <a:p>
            <a:pPr indent="0" marL="0">
              <a:buNone/>
            </a:pPr>
            <a:r>
              <a:rPr lang="en-US" sz="900" dirty="0">
                <a:solidFill>
                  <a:srgbClr val="546E7A"/>
                </a:solidFill>
              </a:rPr>
              <a:t>Lê um byte recebido via I²C</a:t>
            </a:r>
            <a:endParaRPr lang="en-US" sz="900" dirty="0"/>
          </a:p>
        </p:txBody>
      </p:sp>
      <p:sp>
        <p:nvSpPr>
          <p:cNvPr id="27" name="Shape 25"/>
          <p:cNvSpPr/>
          <p:nvPr/>
        </p:nvSpPr>
        <p:spPr>
          <a:xfrm>
            <a:off x="3108960" y="1143000"/>
            <a:ext cx="2606040" cy="365760"/>
          </a:xfrm>
          <a:prstGeom prst="rect">
            <a:avLst/>
          </a:prstGeom>
          <a:solidFill>
            <a:srgbClr val="1B5E20"/>
          </a:solidFill>
          <a:ln w="12700">
            <a:solidFill>
              <a:srgbClr val="1B5E20"/>
            </a:solidFill>
            <a:prstDash val="solid"/>
          </a:ln>
        </p:spPr>
      </p:sp>
      <p:sp>
        <p:nvSpPr>
          <p:cNvPr id="28" name="Text 26"/>
          <p:cNvSpPr/>
          <p:nvPr/>
        </p:nvSpPr>
        <p:spPr>
          <a:xfrm>
            <a:off x="3154680" y="1143000"/>
            <a:ext cx="2514600" cy="365760"/>
          </a:xfrm>
          <a:prstGeom prst="rect">
            <a:avLst/>
          </a:prstGeom>
          <a:noFill/>
          <a:ln/>
        </p:spPr>
        <p:txBody>
          <a:bodyPr wrap="square" rtlCol="0" anchor="ctr"/>
          <a:lstStyle/>
          <a:p>
            <a:pPr indent="0" marL="0">
              <a:buNone/>
            </a:pPr>
            <a:r>
              <a:rPr lang="en-US" sz="1200" b="1" dirty="0">
                <a:solidFill>
                  <a:srgbClr val="FFFFFF"/>
                </a:solidFill>
              </a:rPr>
              <a:t>Protocolo SPI (SPI.h)</a:t>
            </a:r>
            <a:endParaRPr lang="en-US" sz="1200" dirty="0"/>
          </a:p>
        </p:txBody>
      </p:sp>
      <p:sp>
        <p:nvSpPr>
          <p:cNvPr id="29" name="Shape 27"/>
          <p:cNvSpPr/>
          <p:nvPr/>
        </p:nvSpPr>
        <p:spPr>
          <a:xfrm>
            <a:off x="3108960" y="1572768"/>
            <a:ext cx="2606040" cy="338328"/>
          </a:xfrm>
          <a:prstGeom prst="rect">
            <a:avLst/>
          </a:prstGeom>
          <a:solidFill>
            <a:srgbClr val="E8F5E9"/>
          </a:solidFill>
          <a:ln w="12700">
            <a:solidFill>
              <a:srgbClr val="C8E6C9"/>
            </a:solidFill>
            <a:prstDash val="solid"/>
          </a:ln>
        </p:spPr>
      </p:sp>
      <p:sp>
        <p:nvSpPr>
          <p:cNvPr id="30" name="Text 28"/>
          <p:cNvSpPr/>
          <p:nvPr/>
        </p:nvSpPr>
        <p:spPr>
          <a:xfrm>
            <a:off x="3200400" y="1572768"/>
            <a:ext cx="1371600" cy="338328"/>
          </a:xfrm>
          <a:prstGeom prst="rect">
            <a:avLst/>
          </a:prstGeom>
          <a:noFill/>
          <a:ln/>
        </p:spPr>
        <p:txBody>
          <a:bodyPr wrap="square" rtlCol="0" anchor="ctr"/>
          <a:lstStyle/>
          <a:p>
            <a:pPr indent="0" marL="0">
              <a:buNone/>
            </a:pPr>
            <a:r>
              <a:rPr lang="en-US" sz="950" b="1" dirty="0">
                <a:solidFill>
                  <a:srgbClr val="1B5E20"/>
                </a:solidFill>
                <a:latin typeface="Consolas" pitchFamily="34" charset="0"/>
                <a:ea typeface="Consolas" pitchFamily="34" charset="-122"/>
                <a:cs typeface="Consolas" pitchFamily="34" charset="-120"/>
              </a:rPr>
              <a:t>SPI.begin()</a:t>
            </a:r>
            <a:endParaRPr lang="en-US" sz="950" dirty="0"/>
          </a:p>
        </p:txBody>
      </p:sp>
      <p:sp>
        <p:nvSpPr>
          <p:cNvPr id="31" name="Text 29"/>
          <p:cNvSpPr/>
          <p:nvPr/>
        </p:nvSpPr>
        <p:spPr>
          <a:xfrm>
            <a:off x="4590288" y="1572768"/>
            <a:ext cx="1051560" cy="338328"/>
          </a:xfrm>
          <a:prstGeom prst="rect">
            <a:avLst/>
          </a:prstGeom>
          <a:noFill/>
          <a:ln/>
        </p:spPr>
        <p:txBody>
          <a:bodyPr wrap="square" rtlCol="0" anchor="ctr"/>
          <a:lstStyle/>
          <a:p>
            <a:pPr indent="0" marL="0">
              <a:buNone/>
            </a:pPr>
            <a:r>
              <a:rPr lang="en-US" sz="900" dirty="0">
                <a:solidFill>
                  <a:srgbClr val="546E7A"/>
                </a:solidFill>
              </a:rPr>
              <a:t>Inicia o barramento SPI</a:t>
            </a:r>
            <a:endParaRPr lang="en-US" sz="900" dirty="0"/>
          </a:p>
        </p:txBody>
      </p:sp>
      <p:sp>
        <p:nvSpPr>
          <p:cNvPr id="32" name="Shape 30"/>
          <p:cNvSpPr/>
          <p:nvPr/>
        </p:nvSpPr>
        <p:spPr>
          <a:xfrm>
            <a:off x="3108960" y="1956816"/>
            <a:ext cx="2606040" cy="338328"/>
          </a:xfrm>
          <a:prstGeom prst="rect">
            <a:avLst/>
          </a:prstGeom>
          <a:solidFill>
            <a:srgbClr val="F5F5F5"/>
          </a:solidFill>
          <a:ln w="12700">
            <a:solidFill>
              <a:srgbClr val="C8E6C9"/>
            </a:solidFill>
            <a:prstDash val="solid"/>
          </a:ln>
        </p:spPr>
      </p:sp>
      <p:sp>
        <p:nvSpPr>
          <p:cNvPr id="33" name="Text 31"/>
          <p:cNvSpPr/>
          <p:nvPr/>
        </p:nvSpPr>
        <p:spPr>
          <a:xfrm>
            <a:off x="3200400" y="1956816"/>
            <a:ext cx="1371600" cy="338328"/>
          </a:xfrm>
          <a:prstGeom prst="rect">
            <a:avLst/>
          </a:prstGeom>
          <a:noFill/>
          <a:ln/>
        </p:spPr>
        <p:txBody>
          <a:bodyPr wrap="square" rtlCol="0" anchor="ctr"/>
          <a:lstStyle/>
          <a:p>
            <a:pPr indent="0" marL="0">
              <a:buNone/>
            </a:pPr>
            <a:r>
              <a:rPr lang="en-US" sz="950" b="1" dirty="0">
                <a:solidFill>
                  <a:srgbClr val="1B5E20"/>
                </a:solidFill>
                <a:latin typeface="Consolas" pitchFamily="34" charset="0"/>
                <a:ea typeface="Consolas" pitchFamily="34" charset="-122"/>
                <a:cs typeface="Consolas" pitchFamily="34" charset="-120"/>
              </a:rPr>
              <a:t>SPI.beginTransaction(set)</a:t>
            </a:r>
            <a:endParaRPr lang="en-US" sz="950" dirty="0"/>
          </a:p>
        </p:txBody>
      </p:sp>
      <p:sp>
        <p:nvSpPr>
          <p:cNvPr id="34" name="Text 32"/>
          <p:cNvSpPr/>
          <p:nvPr/>
        </p:nvSpPr>
        <p:spPr>
          <a:xfrm>
            <a:off x="4590288" y="1956816"/>
            <a:ext cx="1051560" cy="338328"/>
          </a:xfrm>
          <a:prstGeom prst="rect">
            <a:avLst/>
          </a:prstGeom>
          <a:noFill/>
          <a:ln/>
        </p:spPr>
        <p:txBody>
          <a:bodyPr wrap="square" rtlCol="0" anchor="ctr"/>
          <a:lstStyle/>
          <a:p>
            <a:pPr indent="0" marL="0">
              <a:buNone/>
            </a:pPr>
            <a:r>
              <a:rPr lang="en-US" sz="900" dirty="0">
                <a:solidFill>
                  <a:srgbClr val="546E7A"/>
                </a:solidFill>
              </a:rPr>
              <a:t>Define velocidade e modo</a:t>
            </a:r>
            <a:endParaRPr lang="en-US" sz="900" dirty="0"/>
          </a:p>
        </p:txBody>
      </p:sp>
      <p:sp>
        <p:nvSpPr>
          <p:cNvPr id="35" name="Shape 33"/>
          <p:cNvSpPr/>
          <p:nvPr/>
        </p:nvSpPr>
        <p:spPr>
          <a:xfrm>
            <a:off x="3108960" y="2340864"/>
            <a:ext cx="2606040" cy="338328"/>
          </a:xfrm>
          <a:prstGeom prst="rect">
            <a:avLst/>
          </a:prstGeom>
          <a:solidFill>
            <a:srgbClr val="E8F5E9"/>
          </a:solidFill>
          <a:ln w="12700">
            <a:solidFill>
              <a:srgbClr val="C8E6C9"/>
            </a:solidFill>
            <a:prstDash val="solid"/>
          </a:ln>
        </p:spPr>
      </p:sp>
      <p:sp>
        <p:nvSpPr>
          <p:cNvPr id="36" name="Text 34"/>
          <p:cNvSpPr/>
          <p:nvPr/>
        </p:nvSpPr>
        <p:spPr>
          <a:xfrm>
            <a:off x="3200400" y="2340864"/>
            <a:ext cx="1371600" cy="338328"/>
          </a:xfrm>
          <a:prstGeom prst="rect">
            <a:avLst/>
          </a:prstGeom>
          <a:noFill/>
          <a:ln/>
        </p:spPr>
        <p:txBody>
          <a:bodyPr wrap="square" rtlCol="0" anchor="ctr"/>
          <a:lstStyle/>
          <a:p>
            <a:pPr indent="0" marL="0">
              <a:buNone/>
            </a:pPr>
            <a:r>
              <a:rPr lang="en-US" sz="950" b="1" dirty="0">
                <a:solidFill>
                  <a:srgbClr val="1B5E20"/>
                </a:solidFill>
                <a:latin typeface="Consolas" pitchFamily="34" charset="0"/>
                <a:ea typeface="Consolas" pitchFamily="34" charset="-122"/>
                <a:cs typeface="Consolas" pitchFamily="34" charset="-120"/>
              </a:rPr>
              <a:t>SPI.transfer(dado)</a:t>
            </a:r>
            <a:endParaRPr lang="en-US" sz="950" dirty="0"/>
          </a:p>
        </p:txBody>
      </p:sp>
      <p:sp>
        <p:nvSpPr>
          <p:cNvPr id="37" name="Text 35"/>
          <p:cNvSpPr/>
          <p:nvPr/>
        </p:nvSpPr>
        <p:spPr>
          <a:xfrm>
            <a:off x="4590288" y="2340864"/>
            <a:ext cx="1051560" cy="338328"/>
          </a:xfrm>
          <a:prstGeom prst="rect">
            <a:avLst/>
          </a:prstGeom>
          <a:noFill/>
          <a:ln/>
        </p:spPr>
        <p:txBody>
          <a:bodyPr wrap="square" rtlCol="0" anchor="ctr"/>
          <a:lstStyle/>
          <a:p>
            <a:pPr indent="0" marL="0">
              <a:buNone/>
            </a:pPr>
            <a:r>
              <a:rPr lang="en-US" sz="900" dirty="0">
                <a:solidFill>
                  <a:srgbClr val="546E7A"/>
                </a:solidFill>
              </a:rPr>
              <a:t>Envia/recebe 1 byte simultaneamente</a:t>
            </a:r>
            <a:endParaRPr lang="en-US" sz="900" dirty="0"/>
          </a:p>
        </p:txBody>
      </p:sp>
      <p:sp>
        <p:nvSpPr>
          <p:cNvPr id="38" name="Shape 36"/>
          <p:cNvSpPr/>
          <p:nvPr/>
        </p:nvSpPr>
        <p:spPr>
          <a:xfrm>
            <a:off x="3108960" y="2724912"/>
            <a:ext cx="2606040" cy="338328"/>
          </a:xfrm>
          <a:prstGeom prst="rect">
            <a:avLst/>
          </a:prstGeom>
          <a:solidFill>
            <a:srgbClr val="F5F5F5"/>
          </a:solidFill>
          <a:ln w="12700">
            <a:solidFill>
              <a:srgbClr val="C8E6C9"/>
            </a:solidFill>
            <a:prstDash val="solid"/>
          </a:ln>
        </p:spPr>
      </p:sp>
      <p:sp>
        <p:nvSpPr>
          <p:cNvPr id="39" name="Text 37"/>
          <p:cNvSpPr/>
          <p:nvPr/>
        </p:nvSpPr>
        <p:spPr>
          <a:xfrm>
            <a:off x="3200400" y="2724912"/>
            <a:ext cx="1371600" cy="338328"/>
          </a:xfrm>
          <a:prstGeom prst="rect">
            <a:avLst/>
          </a:prstGeom>
          <a:noFill/>
          <a:ln/>
        </p:spPr>
        <p:txBody>
          <a:bodyPr wrap="square" rtlCol="0" anchor="ctr"/>
          <a:lstStyle/>
          <a:p>
            <a:pPr indent="0" marL="0">
              <a:buNone/>
            </a:pPr>
            <a:r>
              <a:rPr lang="en-US" sz="950" b="1" dirty="0">
                <a:solidFill>
                  <a:srgbClr val="1B5E20"/>
                </a:solidFill>
                <a:latin typeface="Consolas" pitchFamily="34" charset="0"/>
                <a:ea typeface="Consolas" pitchFamily="34" charset="-122"/>
                <a:cs typeface="Consolas" pitchFamily="34" charset="-120"/>
              </a:rPr>
              <a:t>SPI.endTransaction()</a:t>
            </a:r>
            <a:endParaRPr lang="en-US" sz="950" dirty="0"/>
          </a:p>
        </p:txBody>
      </p:sp>
      <p:sp>
        <p:nvSpPr>
          <p:cNvPr id="40" name="Text 38"/>
          <p:cNvSpPr/>
          <p:nvPr/>
        </p:nvSpPr>
        <p:spPr>
          <a:xfrm>
            <a:off x="4590288" y="2724912"/>
            <a:ext cx="1051560" cy="338328"/>
          </a:xfrm>
          <a:prstGeom prst="rect">
            <a:avLst/>
          </a:prstGeom>
          <a:noFill/>
          <a:ln/>
        </p:spPr>
        <p:txBody>
          <a:bodyPr wrap="square" rtlCol="0" anchor="ctr"/>
          <a:lstStyle/>
          <a:p>
            <a:pPr indent="0" marL="0">
              <a:buNone/>
            </a:pPr>
            <a:r>
              <a:rPr lang="en-US" sz="900" dirty="0">
                <a:solidFill>
                  <a:srgbClr val="546E7A"/>
                </a:solidFill>
              </a:rPr>
              <a:t>Libera o barramento SPI</a:t>
            </a:r>
            <a:endParaRPr lang="en-US" sz="900" dirty="0"/>
          </a:p>
        </p:txBody>
      </p:sp>
      <p:sp>
        <p:nvSpPr>
          <p:cNvPr id="41" name="Shape 39"/>
          <p:cNvSpPr/>
          <p:nvPr/>
        </p:nvSpPr>
        <p:spPr>
          <a:xfrm>
            <a:off x="3108960" y="3108960"/>
            <a:ext cx="2606040" cy="338328"/>
          </a:xfrm>
          <a:prstGeom prst="rect">
            <a:avLst/>
          </a:prstGeom>
          <a:solidFill>
            <a:srgbClr val="E8F5E9"/>
          </a:solidFill>
          <a:ln w="12700">
            <a:solidFill>
              <a:srgbClr val="C8E6C9"/>
            </a:solidFill>
            <a:prstDash val="solid"/>
          </a:ln>
        </p:spPr>
      </p:sp>
      <p:sp>
        <p:nvSpPr>
          <p:cNvPr id="42" name="Text 40"/>
          <p:cNvSpPr/>
          <p:nvPr/>
        </p:nvSpPr>
        <p:spPr>
          <a:xfrm>
            <a:off x="3200400" y="3108960"/>
            <a:ext cx="1371600" cy="338328"/>
          </a:xfrm>
          <a:prstGeom prst="rect">
            <a:avLst/>
          </a:prstGeom>
          <a:noFill/>
          <a:ln/>
        </p:spPr>
        <p:txBody>
          <a:bodyPr wrap="square" rtlCol="0" anchor="ctr"/>
          <a:lstStyle/>
          <a:p>
            <a:pPr indent="0" marL="0">
              <a:buNone/>
            </a:pPr>
            <a:r>
              <a:rPr lang="en-US" sz="950" b="1" dirty="0">
                <a:solidFill>
                  <a:srgbClr val="1B5E20"/>
                </a:solidFill>
                <a:latin typeface="Consolas" pitchFamily="34" charset="0"/>
                <a:ea typeface="Consolas" pitchFamily="34" charset="-122"/>
                <a:cs typeface="Consolas" pitchFamily="34" charset="-120"/>
              </a:rPr>
              <a:t>digitalWrite(CS, LOW)</a:t>
            </a:r>
            <a:endParaRPr lang="en-US" sz="950" dirty="0"/>
          </a:p>
        </p:txBody>
      </p:sp>
      <p:sp>
        <p:nvSpPr>
          <p:cNvPr id="43" name="Text 41"/>
          <p:cNvSpPr/>
          <p:nvPr/>
        </p:nvSpPr>
        <p:spPr>
          <a:xfrm>
            <a:off x="4590288" y="3108960"/>
            <a:ext cx="1051560" cy="338328"/>
          </a:xfrm>
          <a:prstGeom prst="rect">
            <a:avLst/>
          </a:prstGeom>
          <a:noFill/>
          <a:ln/>
        </p:spPr>
        <p:txBody>
          <a:bodyPr wrap="square" rtlCol="0" anchor="ctr"/>
          <a:lstStyle/>
          <a:p>
            <a:pPr indent="0" marL="0">
              <a:buNone/>
            </a:pPr>
            <a:r>
              <a:rPr lang="en-US" sz="900" dirty="0">
                <a:solidFill>
                  <a:srgbClr val="546E7A"/>
                </a:solidFill>
              </a:rPr>
              <a:t>Seleciona o dispositivo (CS)</a:t>
            </a:r>
            <a:endParaRPr lang="en-US" sz="900" dirty="0"/>
          </a:p>
        </p:txBody>
      </p:sp>
      <p:sp>
        <p:nvSpPr>
          <p:cNvPr id="44" name="Shape 42"/>
          <p:cNvSpPr/>
          <p:nvPr/>
        </p:nvSpPr>
        <p:spPr>
          <a:xfrm>
            <a:off x="3108960" y="3493008"/>
            <a:ext cx="2606040" cy="338328"/>
          </a:xfrm>
          <a:prstGeom prst="rect">
            <a:avLst/>
          </a:prstGeom>
          <a:solidFill>
            <a:srgbClr val="F5F5F5"/>
          </a:solidFill>
          <a:ln w="12700">
            <a:solidFill>
              <a:srgbClr val="C8E6C9"/>
            </a:solidFill>
            <a:prstDash val="solid"/>
          </a:ln>
        </p:spPr>
      </p:sp>
      <p:sp>
        <p:nvSpPr>
          <p:cNvPr id="45" name="Text 43"/>
          <p:cNvSpPr/>
          <p:nvPr/>
        </p:nvSpPr>
        <p:spPr>
          <a:xfrm>
            <a:off x="3200400" y="3493008"/>
            <a:ext cx="1371600" cy="338328"/>
          </a:xfrm>
          <a:prstGeom prst="rect">
            <a:avLst/>
          </a:prstGeom>
          <a:noFill/>
          <a:ln/>
        </p:spPr>
        <p:txBody>
          <a:bodyPr wrap="square" rtlCol="0" anchor="ctr"/>
          <a:lstStyle/>
          <a:p>
            <a:pPr indent="0" marL="0">
              <a:buNone/>
            </a:pPr>
            <a:r>
              <a:rPr lang="en-US" sz="950" b="1" dirty="0">
                <a:solidFill>
                  <a:srgbClr val="1B5E20"/>
                </a:solidFill>
                <a:latin typeface="Consolas" pitchFamily="34" charset="0"/>
                <a:ea typeface="Consolas" pitchFamily="34" charset="-122"/>
                <a:cs typeface="Consolas" pitchFamily="34" charset="-120"/>
              </a:rPr>
              <a:t>digitalWrite(CS, HIGH)</a:t>
            </a:r>
            <a:endParaRPr lang="en-US" sz="950" dirty="0"/>
          </a:p>
        </p:txBody>
      </p:sp>
      <p:sp>
        <p:nvSpPr>
          <p:cNvPr id="46" name="Text 44"/>
          <p:cNvSpPr/>
          <p:nvPr/>
        </p:nvSpPr>
        <p:spPr>
          <a:xfrm>
            <a:off x="4590288" y="3493008"/>
            <a:ext cx="1051560" cy="338328"/>
          </a:xfrm>
          <a:prstGeom prst="rect">
            <a:avLst/>
          </a:prstGeom>
          <a:noFill/>
          <a:ln/>
        </p:spPr>
        <p:txBody>
          <a:bodyPr wrap="square" rtlCol="0" anchor="ctr"/>
          <a:lstStyle/>
          <a:p>
            <a:pPr indent="0" marL="0">
              <a:buNone/>
            </a:pPr>
            <a:r>
              <a:rPr lang="en-US" sz="900" dirty="0">
                <a:solidFill>
                  <a:srgbClr val="546E7A"/>
                </a:solidFill>
              </a:rPr>
              <a:t>Libera o dispositivo (CS)</a:t>
            </a:r>
            <a:endParaRPr lang="en-US" sz="900" dirty="0"/>
          </a:p>
        </p:txBody>
      </p:sp>
      <p:sp>
        <p:nvSpPr>
          <p:cNvPr id="47" name="Shape 45"/>
          <p:cNvSpPr/>
          <p:nvPr/>
        </p:nvSpPr>
        <p:spPr>
          <a:xfrm>
            <a:off x="5897880" y="1143000"/>
            <a:ext cx="2926080" cy="365760"/>
          </a:xfrm>
          <a:prstGeom prst="rect">
            <a:avLst/>
          </a:prstGeom>
          <a:solidFill>
            <a:srgbClr val="4A148C"/>
          </a:solidFill>
          <a:ln w="12700">
            <a:solidFill>
              <a:srgbClr val="4A148C"/>
            </a:solidFill>
            <a:prstDash val="solid"/>
          </a:ln>
        </p:spPr>
      </p:sp>
      <p:sp>
        <p:nvSpPr>
          <p:cNvPr id="48" name="Text 46"/>
          <p:cNvSpPr/>
          <p:nvPr/>
        </p:nvSpPr>
        <p:spPr>
          <a:xfrm>
            <a:off x="5943600" y="1143000"/>
            <a:ext cx="2834640" cy="365760"/>
          </a:xfrm>
          <a:prstGeom prst="rect">
            <a:avLst/>
          </a:prstGeom>
          <a:noFill/>
          <a:ln/>
        </p:spPr>
        <p:txBody>
          <a:bodyPr wrap="square" rtlCol="0" anchor="ctr"/>
          <a:lstStyle/>
          <a:p>
            <a:pPr indent="0" marL="0">
              <a:buNone/>
            </a:pPr>
            <a:r>
              <a:rPr lang="en-US" sz="1100" b="1" dirty="0">
                <a:solidFill>
                  <a:srgbClr val="FFFFFF"/>
                </a:solidFill>
              </a:rPr>
              <a:t>Memória EEPROM (EEPROM.h)</a:t>
            </a:r>
            <a:endParaRPr lang="en-US" sz="1100" dirty="0"/>
          </a:p>
        </p:txBody>
      </p:sp>
      <p:sp>
        <p:nvSpPr>
          <p:cNvPr id="49" name="Shape 47"/>
          <p:cNvSpPr/>
          <p:nvPr/>
        </p:nvSpPr>
        <p:spPr>
          <a:xfrm>
            <a:off x="5897880" y="1572768"/>
            <a:ext cx="2926080" cy="338328"/>
          </a:xfrm>
          <a:prstGeom prst="rect">
            <a:avLst/>
          </a:prstGeom>
          <a:solidFill>
            <a:srgbClr val="F3E5F5"/>
          </a:solidFill>
          <a:ln w="12700">
            <a:solidFill>
              <a:srgbClr val="E1BEE7"/>
            </a:solidFill>
            <a:prstDash val="solid"/>
          </a:ln>
        </p:spPr>
      </p:sp>
      <p:sp>
        <p:nvSpPr>
          <p:cNvPr id="50" name="Text 48"/>
          <p:cNvSpPr/>
          <p:nvPr/>
        </p:nvSpPr>
        <p:spPr>
          <a:xfrm>
            <a:off x="5989320" y="1572768"/>
            <a:ext cx="1463040" cy="338328"/>
          </a:xfrm>
          <a:prstGeom prst="rect">
            <a:avLst/>
          </a:prstGeom>
          <a:noFill/>
          <a:ln/>
        </p:spPr>
        <p:txBody>
          <a:bodyPr wrap="square" rtlCol="0" anchor="ctr"/>
          <a:lstStyle/>
          <a:p>
            <a:pPr indent="0" marL="0">
              <a:buNone/>
            </a:pPr>
            <a:r>
              <a:rPr lang="en-US" sz="950" b="1" dirty="0">
                <a:solidFill>
                  <a:srgbClr val="4A148C"/>
                </a:solidFill>
                <a:latin typeface="Consolas" pitchFamily="34" charset="0"/>
                <a:ea typeface="Consolas" pitchFamily="34" charset="-122"/>
                <a:cs typeface="Consolas" pitchFamily="34" charset="-120"/>
              </a:rPr>
              <a:t>EEPROM.read(addr)</a:t>
            </a:r>
            <a:endParaRPr lang="en-US" sz="950" dirty="0"/>
          </a:p>
        </p:txBody>
      </p:sp>
      <p:sp>
        <p:nvSpPr>
          <p:cNvPr id="51" name="Text 49"/>
          <p:cNvSpPr/>
          <p:nvPr/>
        </p:nvSpPr>
        <p:spPr>
          <a:xfrm>
            <a:off x="7470648" y="1572768"/>
            <a:ext cx="1280160" cy="338328"/>
          </a:xfrm>
          <a:prstGeom prst="rect">
            <a:avLst/>
          </a:prstGeom>
          <a:noFill/>
          <a:ln/>
        </p:spPr>
        <p:txBody>
          <a:bodyPr wrap="square" rtlCol="0" anchor="ctr"/>
          <a:lstStyle/>
          <a:p>
            <a:pPr indent="0" marL="0">
              <a:buNone/>
            </a:pPr>
            <a:r>
              <a:rPr lang="en-US" sz="900" dirty="0">
                <a:solidFill>
                  <a:srgbClr val="546E7A"/>
                </a:solidFill>
              </a:rPr>
              <a:t>Lê byte no endereço addr</a:t>
            </a:r>
            <a:endParaRPr lang="en-US" sz="900" dirty="0"/>
          </a:p>
        </p:txBody>
      </p:sp>
      <p:sp>
        <p:nvSpPr>
          <p:cNvPr id="52" name="Shape 50"/>
          <p:cNvSpPr/>
          <p:nvPr/>
        </p:nvSpPr>
        <p:spPr>
          <a:xfrm>
            <a:off x="5897880" y="1956816"/>
            <a:ext cx="2926080" cy="338328"/>
          </a:xfrm>
          <a:prstGeom prst="rect">
            <a:avLst/>
          </a:prstGeom>
          <a:solidFill>
            <a:srgbClr val="F5F5F5"/>
          </a:solidFill>
          <a:ln w="12700">
            <a:solidFill>
              <a:srgbClr val="E1BEE7"/>
            </a:solidFill>
            <a:prstDash val="solid"/>
          </a:ln>
        </p:spPr>
      </p:sp>
      <p:sp>
        <p:nvSpPr>
          <p:cNvPr id="53" name="Text 51"/>
          <p:cNvSpPr/>
          <p:nvPr/>
        </p:nvSpPr>
        <p:spPr>
          <a:xfrm>
            <a:off x="5989320" y="1956816"/>
            <a:ext cx="1463040" cy="338328"/>
          </a:xfrm>
          <a:prstGeom prst="rect">
            <a:avLst/>
          </a:prstGeom>
          <a:noFill/>
          <a:ln/>
        </p:spPr>
        <p:txBody>
          <a:bodyPr wrap="square" rtlCol="0" anchor="ctr"/>
          <a:lstStyle/>
          <a:p>
            <a:pPr indent="0" marL="0">
              <a:buNone/>
            </a:pPr>
            <a:r>
              <a:rPr lang="en-US" sz="950" b="1" dirty="0">
                <a:solidFill>
                  <a:srgbClr val="4A148C"/>
                </a:solidFill>
                <a:latin typeface="Consolas" pitchFamily="34" charset="0"/>
                <a:ea typeface="Consolas" pitchFamily="34" charset="-122"/>
                <a:cs typeface="Consolas" pitchFamily="34" charset="-120"/>
              </a:rPr>
              <a:t>EEPROM.write(addr, val)</a:t>
            </a:r>
            <a:endParaRPr lang="en-US" sz="950" dirty="0"/>
          </a:p>
        </p:txBody>
      </p:sp>
      <p:sp>
        <p:nvSpPr>
          <p:cNvPr id="54" name="Text 52"/>
          <p:cNvSpPr/>
          <p:nvPr/>
        </p:nvSpPr>
        <p:spPr>
          <a:xfrm>
            <a:off x="7470648" y="1956816"/>
            <a:ext cx="1280160" cy="338328"/>
          </a:xfrm>
          <a:prstGeom prst="rect">
            <a:avLst/>
          </a:prstGeom>
          <a:noFill/>
          <a:ln/>
        </p:spPr>
        <p:txBody>
          <a:bodyPr wrap="square" rtlCol="0" anchor="ctr"/>
          <a:lstStyle/>
          <a:p>
            <a:pPr indent="0" marL="0">
              <a:buNone/>
            </a:pPr>
            <a:r>
              <a:rPr lang="en-US" sz="900" dirty="0">
                <a:solidFill>
                  <a:srgbClr val="546E7A"/>
                </a:solidFill>
              </a:rPr>
              <a:t>Grava byte no endereço</a:t>
            </a:r>
            <a:endParaRPr lang="en-US" sz="900" dirty="0"/>
          </a:p>
        </p:txBody>
      </p:sp>
      <p:sp>
        <p:nvSpPr>
          <p:cNvPr id="55" name="Shape 53"/>
          <p:cNvSpPr/>
          <p:nvPr/>
        </p:nvSpPr>
        <p:spPr>
          <a:xfrm>
            <a:off x="5897880" y="2340864"/>
            <a:ext cx="2926080" cy="338328"/>
          </a:xfrm>
          <a:prstGeom prst="rect">
            <a:avLst/>
          </a:prstGeom>
          <a:solidFill>
            <a:srgbClr val="F3E5F5"/>
          </a:solidFill>
          <a:ln w="12700">
            <a:solidFill>
              <a:srgbClr val="E1BEE7"/>
            </a:solidFill>
            <a:prstDash val="solid"/>
          </a:ln>
        </p:spPr>
      </p:sp>
      <p:sp>
        <p:nvSpPr>
          <p:cNvPr id="56" name="Text 54"/>
          <p:cNvSpPr/>
          <p:nvPr/>
        </p:nvSpPr>
        <p:spPr>
          <a:xfrm>
            <a:off x="5989320" y="2340864"/>
            <a:ext cx="1463040" cy="338328"/>
          </a:xfrm>
          <a:prstGeom prst="rect">
            <a:avLst/>
          </a:prstGeom>
          <a:noFill/>
          <a:ln/>
        </p:spPr>
        <p:txBody>
          <a:bodyPr wrap="square" rtlCol="0" anchor="ctr"/>
          <a:lstStyle/>
          <a:p>
            <a:pPr indent="0" marL="0">
              <a:buNone/>
            </a:pPr>
            <a:r>
              <a:rPr lang="en-US" sz="950" b="1" dirty="0">
                <a:solidFill>
                  <a:srgbClr val="4A148C"/>
                </a:solidFill>
                <a:latin typeface="Consolas" pitchFamily="34" charset="0"/>
                <a:ea typeface="Consolas" pitchFamily="34" charset="-122"/>
                <a:cs typeface="Consolas" pitchFamily="34" charset="-120"/>
              </a:rPr>
              <a:t>EEPROM.update(addr, val)</a:t>
            </a:r>
            <a:endParaRPr lang="en-US" sz="950" dirty="0"/>
          </a:p>
        </p:txBody>
      </p:sp>
      <p:sp>
        <p:nvSpPr>
          <p:cNvPr id="57" name="Text 55"/>
          <p:cNvSpPr/>
          <p:nvPr/>
        </p:nvSpPr>
        <p:spPr>
          <a:xfrm>
            <a:off x="7470648" y="2340864"/>
            <a:ext cx="1280160" cy="338328"/>
          </a:xfrm>
          <a:prstGeom prst="rect">
            <a:avLst/>
          </a:prstGeom>
          <a:noFill/>
          <a:ln/>
        </p:spPr>
        <p:txBody>
          <a:bodyPr wrap="square" rtlCol="0" anchor="ctr"/>
          <a:lstStyle/>
          <a:p>
            <a:pPr indent="0" marL="0">
              <a:buNone/>
            </a:pPr>
            <a:r>
              <a:rPr lang="en-US" sz="900" dirty="0">
                <a:solidFill>
                  <a:srgbClr val="546E7A"/>
                </a:solidFill>
              </a:rPr>
              <a:t>Grava só se valor mudou (protege)</a:t>
            </a:r>
            <a:endParaRPr lang="en-US" sz="900" dirty="0"/>
          </a:p>
        </p:txBody>
      </p:sp>
      <p:sp>
        <p:nvSpPr>
          <p:cNvPr id="58" name="Shape 56"/>
          <p:cNvSpPr/>
          <p:nvPr/>
        </p:nvSpPr>
        <p:spPr>
          <a:xfrm>
            <a:off x="5897880" y="2724912"/>
            <a:ext cx="2926080" cy="338328"/>
          </a:xfrm>
          <a:prstGeom prst="rect">
            <a:avLst/>
          </a:prstGeom>
          <a:solidFill>
            <a:srgbClr val="F5F5F5"/>
          </a:solidFill>
          <a:ln w="12700">
            <a:solidFill>
              <a:srgbClr val="E1BEE7"/>
            </a:solidFill>
            <a:prstDash val="solid"/>
          </a:ln>
        </p:spPr>
      </p:sp>
      <p:sp>
        <p:nvSpPr>
          <p:cNvPr id="59" name="Text 57"/>
          <p:cNvSpPr/>
          <p:nvPr/>
        </p:nvSpPr>
        <p:spPr>
          <a:xfrm>
            <a:off x="5989320" y="2724912"/>
            <a:ext cx="1463040" cy="338328"/>
          </a:xfrm>
          <a:prstGeom prst="rect">
            <a:avLst/>
          </a:prstGeom>
          <a:noFill/>
          <a:ln/>
        </p:spPr>
        <p:txBody>
          <a:bodyPr wrap="square" rtlCol="0" anchor="ctr"/>
          <a:lstStyle/>
          <a:p>
            <a:pPr indent="0" marL="0">
              <a:buNone/>
            </a:pPr>
            <a:r>
              <a:rPr lang="en-US" sz="950" b="1" dirty="0">
                <a:solidFill>
                  <a:srgbClr val="4A148C"/>
                </a:solidFill>
                <a:latin typeface="Consolas" pitchFamily="34" charset="0"/>
                <a:ea typeface="Consolas" pitchFamily="34" charset="-122"/>
                <a:cs typeface="Consolas" pitchFamily="34" charset="-120"/>
              </a:rPr>
              <a:t>EEPROM.get(addr, var)</a:t>
            </a:r>
            <a:endParaRPr lang="en-US" sz="950" dirty="0"/>
          </a:p>
        </p:txBody>
      </p:sp>
      <p:sp>
        <p:nvSpPr>
          <p:cNvPr id="60" name="Text 58"/>
          <p:cNvSpPr/>
          <p:nvPr/>
        </p:nvSpPr>
        <p:spPr>
          <a:xfrm>
            <a:off x="7470648" y="2724912"/>
            <a:ext cx="1280160" cy="338328"/>
          </a:xfrm>
          <a:prstGeom prst="rect">
            <a:avLst/>
          </a:prstGeom>
          <a:noFill/>
          <a:ln/>
        </p:spPr>
        <p:txBody>
          <a:bodyPr wrap="square" rtlCol="0" anchor="ctr"/>
          <a:lstStyle/>
          <a:p>
            <a:pPr indent="0" marL="0">
              <a:buNone/>
            </a:pPr>
            <a:r>
              <a:rPr lang="en-US" sz="900" dirty="0">
                <a:solidFill>
                  <a:srgbClr val="546E7A"/>
                </a:solidFill>
              </a:rPr>
              <a:t>Lê qualquer tipo de dado</a:t>
            </a:r>
            <a:endParaRPr lang="en-US" sz="900" dirty="0"/>
          </a:p>
        </p:txBody>
      </p:sp>
      <p:sp>
        <p:nvSpPr>
          <p:cNvPr id="61" name="Shape 59"/>
          <p:cNvSpPr/>
          <p:nvPr/>
        </p:nvSpPr>
        <p:spPr>
          <a:xfrm>
            <a:off x="5897880" y="3108960"/>
            <a:ext cx="2926080" cy="338328"/>
          </a:xfrm>
          <a:prstGeom prst="rect">
            <a:avLst/>
          </a:prstGeom>
          <a:solidFill>
            <a:srgbClr val="F3E5F5"/>
          </a:solidFill>
          <a:ln w="12700">
            <a:solidFill>
              <a:srgbClr val="E1BEE7"/>
            </a:solidFill>
            <a:prstDash val="solid"/>
          </a:ln>
        </p:spPr>
      </p:sp>
      <p:sp>
        <p:nvSpPr>
          <p:cNvPr id="62" name="Text 60"/>
          <p:cNvSpPr/>
          <p:nvPr/>
        </p:nvSpPr>
        <p:spPr>
          <a:xfrm>
            <a:off x="5989320" y="3108960"/>
            <a:ext cx="1463040" cy="338328"/>
          </a:xfrm>
          <a:prstGeom prst="rect">
            <a:avLst/>
          </a:prstGeom>
          <a:noFill/>
          <a:ln/>
        </p:spPr>
        <p:txBody>
          <a:bodyPr wrap="square" rtlCol="0" anchor="ctr"/>
          <a:lstStyle/>
          <a:p>
            <a:pPr indent="0" marL="0">
              <a:buNone/>
            </a:pPr>
            <a:r>
              <a:rPr lang="en-US" sz="950" b="1" dirty="0">
                <a:solidFill>
                  <a:srgbClr val="4A148C"/>
                </a:solidFill>
                <a:latin typeface="Consolas" pitchFamily="34" charset="0"/>
                <a:ea typeface="Consolas" pitchFamily="34" charset="-122"/>
                <a:cs typeface="Consolas" pitchFamily="34" charset="-120"/>
              </a:rPr>
              <a:t>EEPROM.put(addr, var)</a:t>
            </a:r>
            <a:endParaRPr lang="en-US" sz="950" dirty="0"/>
          </a:p>
        </p:txBody>
      </p:sp>
      <p:sp>
        <p:nvSpPr>
          <p:cNvPr id="63" name="Text 61"/>
          <p:cNvSpPr/>
          <p:nvPr/>
        </p:nvSpPr>
        <p:spPr>
          <a:xfrm>
            <a:off x="7470648" y="3108960"/>
            <a:ext cx="1280160" cy="338328"/>
          </a:xfrm>
          <a:prstGeom prst="rect">
            <a:avLst/>
          </a:prstGeom>
          <a:noFill/>
          <a:ln/>
        </p:spPr>
        <p:txBody>
          <a:bodyPr wrap="square" rtlCol="0" anchor="ctr"/>
          <a:lstStyle/>
          <a:p>
            <a:pPr indent="0" marL="0">
              <a:buNone/>
            </a:pPr>
            <a:r>
              <a:rPr lang="en-US" sz="900" dirty="0">
                <a:solidFill>
                  <a:srgbClr val="546E7A"/>
                </a:solidFill>
              </a:rPr>
              <a:t>Grava qualquer tipo de dado</a:t>
            </a:r>
            <a:endParaRPr lang="en-US" sz="900" dirty="0"/>
          </a:p>
        </p:txBody>
      </p:sp>
      <p:sp>
        <p:nvSpPr>
          <p:cNvPr id="64" name="Shape 62"/>
          <p:cNvSpPr/>
          <p:nvPr/>
        </p:nvSpPr>
        <p:spPr>
          <a:xfrm>
            <a:off x="5897880" y="3493008"/>
            <a:ext cx="2926080" cy="338328"/>
          </a:xfrm>
          <a:prstGeom prst="rect">
            <a:avLst/>
          </a:prstGeom>
          <a:solidFill>
            <a:srgbClr val="F5F5F5"/>
          </a:solidFill>
          <a:ln w="12700">
            <a:solidFill>
              <a:srgbClr val="E1BEE7"/>
            </a:solidFill>
            <a:prstDash val="solid"/>
          </a:ln>
        </p:spPr>
      </p:sp>
      <p:sp>
        <p:nvSpPr>
          <p:cNvPr id="65" name="Text 63"/>
          <p:cNvSpPr/>
          <p:nvPr/>
        </p:nvSpPr>
        <p:spPr>
          <a:xfrm>
            <a:off x="5989320" y="3493008"/>
            <a:ext cx="1463040" cy="338328"/>
          </a:xfrm>
          <a:prstGeom prst="rect">
            <a:avLst/>
          </a:prstGeom>
          <a:noFill/>
          <a:ln/>
        </p:spPr>
        <p:txBody>
          <a:bodyPr wrap="square" rtlCol="0" anchor="ctr"/>
          <a:lstStyle/>
          <a:p>
            <a:pPr indent="0" marL="0">
              <a:buNone/>
            </a:pPr>
            <a:r>
              <a:rPr lang="en-US" sz="950" b="1" dirty="0">
                <a:solidFill>
                  <a:srgbClr val="4A148C"/>
                </a:solidFill>
                <a:latin typeface="Consolas" pitchFamily="34" charset="0"/>
                <a:ea typeface="Consolas" pitchFamily="34" charset="-122"/>
                <a:cs typeface="Consolas" pitchFamily="34" charset="-120"/>
              </a:rPr>
              <a:t>EEPROM.length()</a:t>
            </a:r>
            <a:endParaRPr lang="en-US" sz="950" dirty="0"/>
          </a:p>
        </p:txBody>
      </p:sp>
      <p:sp>
        <p:nvSpPr>
          <p:cNvPr id="66" name="Text 64"/>
          <p:cNvSpPr/>
          <p:nvPr/>
        </p:nvSpPr>
        <p:spPr>
          <a:xfrm>
            <a:off x="7470648" y="3493008"/>
            <a:ext cx="1280160" cy="338328"/>
          </a:xfrm>
          <a:prstGeom prst="rect">
            <a:avLst/>
          </a:prstGeom>
          <a:noFill/>
          <a:ln/>
        </p:spPr>
        <p:txBody>
          <a:bodyPr wrap="square" rtlCol="0" anchor="ctr"/>
          <a:lstStyle/>
          <a:p>
            <a:pPr indent="0" marL="0">
              <a:buNone/>
            </a:pPr>
            <a:r>
              <a:rPr lang="en-US" sz="900" dirty="0">
                <a:solidFill>
                  <a:srgbClr val="546E7A"/>
                </a:solidFill>
              </a:rPr>
              <a:t>Retorna tamanho total da EEPROM</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 Tabela Resumo — Comandos Mais Usados</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74320" y="1143000"/>
          <a:ext cx="8595360" cy="3703320"/>
        </p:xfrm>
        <a:graphic>
          <a:graphicData uri="http://schemas.openxmlformats.org/drawingml/2006/table">
            <a:tbl>
              <a:tblPr/>
              <a:tblGrid>
                <a:gridCol w="1554480"/>
                <a:gridCol w="2560320"/>
                <a:gridCol w="4480560"/>
              </a:tblGrid>
              <a:tr h="336665">
                <a:tc>
                  <a:txBody>
                    <a:bodyPr/>
                    <a:lstStyle/>
                    <a:p>
                      <a:pPr indent="0" marL="0">
                        <a:buNone/>
                      </a:pPr>
                      <a:r>
                        <a:rPr lang="en-US" sz="1100" b="1" dirty="0">
                          <a:solidFill>
                            <a:srgbClr val="FFFFFF"/>
                          </a:solidFill>
                        </a:rPr>
                        <a:t>Categoria</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c>
                  <a:txBody>
                    <a:bodyPr/>
                    <a:lstStyle/>
                    <a:p>
                      <a:pPr indent="0" marL="0">
                        <a:buNone/>
                      </a:pPr>
                      <a:r>
                        <a:rPr lang="en-US" sz="1100" b="1" dirty="0">
                          <a:solidFill>
                            <a:srgbClr val="FFFFFF"/>
                          </a:solidFill>
                        </a:rPr>
                        <a:t>Comando</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c>
                  <a:txBody>
                    <a:bodyPr/>
                    <a:lstStyle/>
                    <a:p>
                      <a:pPr indent="0" marL="0">
                        <a:buNone/>
                      </a:pPr>
                      <a:r>
                        <a:rPr lang="en-US" sz="1100" b="1" dirty="0">
                          <a:solidFill>
                            <a:srgbClr val="FFFFFF"/>
                          </a:solidFill>
                        </a:rPr>
                        <a:t>Para que serve</a:t>
                      </a:r>
                      <a:endParaRPr lang="en-US" sz="110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0D47A1"/>
                    </a:solidFill>
                  </a:tcPr>
                </a:tc>
              </a:tr>
              <a:tr h="336665">
                <a:tc>
                  <a:txBody>
                    <a:bodyPr/>
                    <a:lstStyle/>
                    <a:p>
                      <a:pPr indent="0" marL="0">
                        <a:buNone/>
                      </a:pPr>
                      <a:r>
                        <a:rPr lang="en-US" sz="1050" dirty="0">
                          <a:solidFill>
                            <a:srgbClr val="1565C0"/>
                          </a:solidFill>
                        </a:rPr>
                        <a:t>E/S Digital</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digitalWrite / digitalRead</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Controla e lê pinos digitais (HIGH/LOW)</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336665">
                <a:tc>
                  <a:txBody>
                    <a:bodyPr/>
                    <a:lstStyle/>
                    <a:p>
                      <a:pPr indent="0" marL="0">
                        <a:buNone/>
                      </a:pPr>
                      <a:r>
                        <a:rPr lang="en-US" sz="1050" dirty="0">
                          <a:solidFill>
                            <a:srgbClr val="1565C0"/>
                          </a:solidFill>
                        </a:rPr>
                        <a:t>E/S Analógica</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analogRead / analogWrite</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Lê tensão (0-1023) e gera PWM (0-255)</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336665">
                <a:tc>
                  <a:txBody>
                    <a:bodyPr/>
                    <a:lstStyle/>
                    <a:p>
                      <a:pPr indent="0" marL="0">
                        <a:buNone/>
                      </a:pPr>
                      <a:r>
                        <a:rPr lang="en-US" sz="1050" dirty="0">
                          <a:solidFill>
                            <a:srgbClr val="1565C0"/>
                          </a:solidFill>
                        </a:rPr>
                        <a:t>Tempo</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delay / millis / micros</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Pausa execução ou mede tempo decorrido</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336665">
                <a:tc>
                  <a:txBody>
                    <a:bodyPr/>
                    <a:lstStyle/>
                    <a:p>
                      <a:pPr indent="0" marL="0">
                        <a:buNone/>
                      </a:pPr>
                      <a:r>
                        <a:rPr lang="en-US" sz="1050" dirty="0">
                          <a:solidFill>
                            <a:srgbClr val="1565C0"/>
                          </a:solidFill>
                        </a:rPr>
                        <a:t>Serial</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Serial.begin / print / println</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Comunica com o computador via USB</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336665">
                <a:tc>
                  <a:txBody>
                    <a:bodyPr/>
                    <a:lstStyle/>
                    <a:p>
                      <a:pPr indent="0" marL="0">
                        <a:buNone/>
                      </a:pPr>
                      <a:r>
                        <a:rPr lang="en-US" sz="1050" dirty="0">
                          <a:solidFill>
                            <a:srgbClr val="1565C0"/>
                          </a:solidFill>
                        </a:rPr>
                        <a:t>Matemática</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map / constrain / abs</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Converte e limita valores numéricos</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336665">
                <a:tc>
                  <a:txBody>
                    <a:bodyPr/>
                    <a:lstStyle/>
                    <a:p>
                      <a:pPr indent="0" marL="0">
                        <a:buNone/>
                      </a:pPr>
                      <a:r>
                        <a:rPr lang="en-US" sz="1050" dirty="0">
                          <a:solidFill>
                            <a:srgbClr val="1565C0"/>
                          </a:solidFill>
                        </a:rPr>
                        <a:t>Registrador</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DDRx / PORTx / PINx</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Controle direto de pinos em nível de hardware</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336665">
                <a:tc>
                  <a:txBody>
                    <a:bodyPr/>
                    <a:lstStyle/>
                    <a:p>
                      <a:pPr indent="0" marL="0">
                        <a:buNone/>
                      </a:pPr>
                      <a:r>
                        <a:rPr lang="en-US" sz="1050" dirty="0">
                          <a:solidFill>
                            <a:srgbClr val="1565C0"/>
                          </a:solidFill>
                        </a:rPr>
                        <a:t>Interrupção</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attachInterrupt / detachInterrupt</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Resposta imediata a eventos externos</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336665">
                <a:tc>
                  <a:txBody>
                    <a:bodyPr/>
                    <a:lstStyle/>
                    <a:p>
                      <a:pPr indent="0" marL="0">
                        <a:buNone/>
                      </a:pPr>
                      <a:r>
                        <a:rPr lang="en-US" sz="1050" dirty="0">
                          <a:solidFill>
                            <a:srgbClr val="1565C0"/>
                          </a:solidFill>
                        </a:rPr>
                        <a:t>Bits</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bitSet / bitClear / bitRead</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Manipula bits individuais de variáveis</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r h="336665">
                <a:tc>
                  <a:txBody>
                    <a:bodyPr/>
                    <a:lstStyle/>
                    <a:p>
                      <a:pPr indent="0" marL="0">
                        <a:buNone/>
                      </a:pPr>
                      <a:r>
                        <a:rPr lang="en-US" sz="1050" dirty="0">
                          <a:solidFill>
                            <a:srgbClr val="1565C0"/>
                          </a:solidFill>
                        </a:rPr>
                        <a:t>I²C</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Wire.begin / write / read</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c>
                  <a:txBody>
                    <a:bodyPr/>
                    <a:lstStyle/>
                    <a:p>
                      <a:pPr indent="0" marL="0">
                        <a:buNone/>
                      </a:pPr>
                      <a:r>
                        <a:rPr lang="en-US" sz="1050" dirty="0">
                          <a:solidFill>
                            <a:srgbClr val="1565C0"/>
                          </a:solidFill>
                        </a:rPr>
                        <a:t>Comunicação com sensores e displays I²C</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FFFFFF"/>
                    </a:solidFill>
                  </a:tcPr>
                </a:tc>
              </a:tr>
              <a:tr h="336665">
                <a:tc>
                  <a:txBody>
                    <a:bodyPr/>
                    <a:lstStyle/>
                    <a:p>
                      <a:pPr indent="0" marL="0">
                        <a:buNone/>
                      </a:pPr>
                      <a:r>
                        <a:rPr lang="en-US" sz="1050" dirty="0">
                          <a:solidFill>
                            <a:srgbClr val="1565C0"/>
                          </a:solidFill>
                        </a:rPr>
                        <a:t>EEPROM</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EEPROM.read / write / update</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c>
                  <a:txBody>
                    <a:bodyPr/>
                    <a:lstStyle/>
                    <a:p>
                      <a:pPr indent="0" marL="0">
                        <a:buNone/>
                      </a:pPr>
                      <a:r>
                        <a:rPr lang="en-US" sz="1050" dirty="0">
                          <a:solidFill>
                            <a:srgbClr val="1565C0"/>
                          </a:solidFill>
                        </a:rPr>
                        <a:t>Armazena dados permanentes no Arduino</a:t>
                      </a:r>
                      <a:endParaRPr lang="en-US" sz="1050" dirty="0"/>
                    </a:p>
                  </a:txBody>
                  <a:tcPr marL="91440" marR="91440" marT="45720" marB="45720">
                    <a:lnL w="12700" cap="flat" cmpd="sng" algn="ctr">
                      <a:solidFill>
                        <a:srgbClr val="BBDEFB"/>
                      </a:solidFill>
                      <a:prstDash val="solid"/>
                      <a:round/>
                      <a:headEnd type="none" w="med" len="med"/>
                      <a:tailEnd type="none" w="med" len="med"/>
                    </a:lnL>
                    <a:lnR w="12700" cap="flat" cmpd="sng" algn="ctr">
                      <a:solidFill>
                        <a:srgbClr val="BBDEFB"/>
                      </a:solidFill>
                      <a:prstDash val="solid"/>
                      <a:round/>
                      <a:headEnd type="none" w="med" len="med"/>
                      <a:tailEnd type="none" w="med" len="med"/>
                    </a:lnR>
                    <a:lnT w="12700" cap="flat" cmpd="sng" algn="ctr">
                      <a:solidFill>
                        <a:srgbClr val="BBDEFB"/>
                      </a:solidFill>
                      <a:prstDash val="solid"/>
                      <a:round/>
                      <a:headEnd type="none" w="med" len="med"/>
                      <a:tailEnd type="none" w="med" len="med"/>
                    </a:lnT>
                    <a:lnB w="12700" cap="flat" cmpd="sng" algn="ctr">
                      <a:solidFill>
                        <a:srgbClr val="BBDEFB"/>
                      </a:solidFill>
                      <a:prstDash val="solid"/>
                      <a:round/>
                      <a:headEnd type="none" w="med" len="med"/>
                      <a:tailEnd type="none" w="med" len="med"/>
                    </a:lnB>
                    <a:solidFill>
                      <a:srgbClr val="E3F2FD"/>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47A1"/>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00979C"/>
          </a:solidFill>
          <a:ln w="12700">
            <a:solidFill>
              <a:srgbClr val="00979C"/>
            </a:solidFill>
            <a:prstDash val="solid"/>
          </a:ln>
        </p:spPr>
      </p:sp>
      <p:sp>
        <p:nvSpPr>
          <p:cNvPr id="3" name="Shape 1"/>
          <p:cNvSpPr/>
          <p:nvPr/>
        </p:nvSpPr>
        <p:spPr>
          <a:xfrm>
            <a:off x="0" y="3657600"/>
            <a:ext cx="9144000" cy="1485900"/>
          </a:xfrm>
          <a:prstGeom prst="rect">
            <a:avLst/>
          </a:prstGeom>
          <a:solidFill>
            <a:srgbClr val="0A3A7A"/>
          </a:solidFill>
          <a:ln w="12700">
            <a:solidFill>
              <a:srgbClr val="0A3A7A"/>
            </a:solidFill>
            <a:prstDash val="solid"/>
          </a:ln>
        </p:spPr>
      </p:sp>
      <p:sp>
        <p:nvSpPr>
          <p:cNvPr id="4" name="Text 2"/>
          <p:cNvSpPr/>
          <p:nvPr/>
        </p:nvSpPr>
        <p:spPr>
          <a:xfrm>
            <a:off x="822960" y="457200"/>
            <a:ext cx="8229600" cy="502920"/>
          </a:xfrm>
          <a:prstGeom prst="rect">
            <a:avLst/>
          </a:prstGeom>
          <a:noFill/>
          <a:ln/>
        </p:spPr>
        <p:txBody>
          <a:bodyPr wrap="square" rtlCol="0" anchor="ctr"/>
          <a:lstStyle/>
          <a:p>
            <a:pPr indent="0" marL="0">
              <a:buNone/>
            </a:pPr>
            <a:r>
              <a:rPr lang="en-US" sz="1600" i="1" dirty="0">
                <a:solidFill>
                  <a:srgbClr val="90CAF9"/>
                </a:solidFill>
              </a:rPr>
              <a:t>Situação de Aprendizagem 1</a:t>
            </a:r>
            <a:endParaRPr lang="en-US" sz="1600" dirty="0"/>
          </a:p>
        </p:txBody>
      </p:sp>
      <p:sp>
        <p:nvSpPr>
          <p:cNvPr id="5" name="Text 3"/>
          <p:cNvSpPr/>
          <p:nvPr/>
        </p:nvSpPr>
        <p:spPr>
          <a:xfrm>
            <a:off x="822960" y="1005840"/>
            <a:ext cx="8229600" cy="1371600"/>
          </a:xfrm>
          <a:prstGeom prst="rect">
            <a:avLst/>
          </a:prstGeom>
          <a:noFill/>
          <a:ln/>
        </p:spPr>
        <p:txBody>
          <a:bodyPr wrap="square" rtlCol="0" anchor="ctr"/>
          <a:lstStyle/>
          <a:p>
            <a:pPr indent="0" marL="0">
              <a:buNone/>
            </a:pPr>
            <a:r>
              <a:rPr lang="en-US" sz="4000" b="1" dirty="0">
                <a:solidFill>
                  <a:srgbClr val="FFFFFF"/>
                </a:solidFill>
              </a:rPr>
              <a:t>Controle de</a:t>
            </a:r>
            <a:endParaRPr lang="en-US" sz="4000" dirty="0"/>
          </a:p>
          <a:p>
            <a:pPr indent="0" marL="0">
              <a:buNone/>
            </a:pPr>
            <a:r>
              <a:rPr lang="en-US" sz="4000" b="1" dirty="0">
                <a:solidFill>
                  <a:srgbClr val="FFFFFF"/>
                </a:solidFill>
              </a:rPr>
              <a:t>Esteira Industrial</a:t>
            </a:r>
            <a:endParaRPr lang="en-US" sz="4000" dirty="0"/>
          </a:p>
        </p:txBody>
      </p:sp>
      <p:sp>
        <p:nvSpPr>
          <p:cNvPr id="6" name="Text 4"/>
          <p:cNvSpPr/>
          <p:nvPr/>
        </p:nvSpPr>
        <p:spPr>
          <a:xfrm>
            <a:off x="822960" y="2468880"/>
            <a:ext cx="7772400" cy="548640"/>
          </a:xfrm>
          <a:prstGeom prst="rect">
            <a:avLst/>
          </a:prstGeom>
          <a:noFill/>
          <a:ln/>
        </p:spPr>
        <p:txBody>
          <a:bodyPr wrap="square" rtlCol="0" anchor="ctr"/>
          <a:lstStyle/>
          <a:p>
            <a:pPr indent="0" marL="0">
              <a:buNone/>
            </a:pPr>
            <a:r>
              <a:rPr lang="en-US" sz="1600" dirty="0">
                <a:solidFill>
                  <a:srgbClr val="90CAF9"/>
                </a:solidFill>
              </a:rPr>
              <a:t>Acionamento automático de motor via sensor de presença</a:t>
            </a:r>
            <a:endParaRPr lang="en-US" sz="1600" dirty="0"/>
          </a:p>
        </p:txBody>
      </p:sp>
      <p:sp>
        <p:nvSpPr>
          <p:cNvPr id="7" name="Shape 5"/>
          <p:cNvSpPr/>
          <p:nvPr/>
        </p:nvSpPr>
        <p:spPr>
          <a:xfrm>
            <a:off x="822960" y="3108960"/>
            <a:ext cx="2286000" cy="411480"/>
          </a:xfrm>
          <a:prstGeom prst="rect">
            <a:avLst/>
          </a:prstGeom>
          <a:solidFill>
            <a:srgbClr val="00979C"/>
          </a:solidFill>
          <a:ln w="12700">
            <a:solidFill>
              <a:srgbClr val="00979C"/>
            </a:solidFill>
            <a:prstDash val="solid"/>
          </a:ln>
        </p:spPr>
      </p:sp>
      <p:sp>
        <p:nvSpPr>
          <p:cNvPr id="8" name="Text 6"/>
          <p:cNvSpPr/>
          <p:nvPr/>
        </p:nvSpPr>
        <p:spPr>
          <a:xfrm>
            <a:off x="822960" y="3108960"/>
            <a:ext cx="2286000" cy="411480"/>
          </a:xfrm>
          <a:prstGeom prst="rect">
            <a:avLst/>
          </a:prstGeom>
          <a:noFill/>
          <a:ln/>
        </p:spPr>
        <p:txBody>
          <a:bodyPr wrap="square" rtlCol="0" anchor="ctr"/>
          <a:lstStyle/>
          <a:p>
            <a:pPr algn="ctr" indent="0" marL="0">
              <a:buNone/>
            </a:pPr>
            <a:r>
              <a:rPr lang="en-US" sz="1100" b="1" dirty="0">
                <a:solidFill>
                  <a:srgbClr val="FFFFFF"/>
                </a:solidFill>
              </a:rPr>
              <a:t>✅ EXEMPLO RESOLVIDO</a:t>
            </a:r>
            <a:endParaRPr lang="en-US" sz="1100" dirty="0"/>
          </a:p>
        </p:txBody>
      </p:sp>
      <p:sp>
        <p:nvSpPr>
          <p:cNvPr id="9" name="Text 7"/>
          <p:cNvSpPr/>
          <p:nvPr/>
        </p:nvSpPr>
        <p:spPr>
          <a:xfrm>
            <a:off x="822960" y="3840480"/>
            <a:ext cx="8229600" cy="365760"/>
          </a:xfrm>
          <a:prstGeom prst="rect">
            <a:avLst/>
          </a:prstGeom>
          <a:noFill/>
          <a:ln/>
        </p:spPr>
        <p:txBody>
          <a:bodyPr wrap="square" rtlCol="0" anchor="ctr"/>
          <a:lstStyle/>
          <a:p>
            <a:pPr indent="0" marL="0">
              <a:buNone/>
            </a:pPr>
            <a:r>
              <a:rPr lang="en-US" sz="1200" dirty="0">
                <a:solidFill>
                  <a:srgbClr val="90CAF9"/>
                </a:solidFill>
              </a:rPr>
              <a:t>Internet das Coisas  |  Prof. Mizael Carlos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SA1 — Contexto: Esteira Industrial com Sensor</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1005840"/>
          </a:xfrm>
          <a:prstGeom prst="rect">
            <a:avLst/>
          </a:prstGeom>
          <a:solidFill>
            <a:srgbClr val="FFF8E1"/>
          </a:solidFill>
          <a:ln w="12700">
            <a:solidFill>
              <a:srgbClr val="F9A825"/>
            </a:solidFill>
            <a:prstDash val="solid"/>
          </a:ln>
        </p:spPr>
      </p:sp>
      <p:sp>
        <p:nvSpPr>
          <p:cNvPr id="8" name="Text 6"/>
          <p:cNvSpPr/>
          <p:nvPr/>
        </p:nvSpPr>
        <p:spPr>
          <a:xfrm>
            <a:off x="502920" y="1188720"/>
            <a:ext cx="2743200" cy="320040"/>
          </a:xfrm>
          <a:prstGeom prst="rect">
            <a:avLst/>
          </a:prstGeom>
          <a:noFill/>
          <a:ln/>
        </p:spPr>
        <p:txBody>
          <a:bodyPr wrap="square" rtlCol="0" anchor="ctr"/>
          <a:lstStyle/>
          <a:p>
            <a:pPr indent="0" marL="0">
              <a:buNone/>
            </a:pPr>
            <a:r>
              <a:rPr lang="en-US" sz="1300" b="1" dirty="0">
                <a:solidFill>
                  <a:srgbClr val="E65100"/>
                </a:solidFill>
              </a:rPr>
              <a:t>📌 Situação-Problema</a:t>
            </a:r>
            <a:endParaRPr lang="en-US" sz="1300" dirty="0"/>
          </a:p>
        </p:txBody>
      </p:sp>
      <p:sp>
        <p:nvSpPr>
          <p:cNvPr id="9" name="Text 7"/>
          <p:cNvSpPr/>
          <p:nvPr/>
        </p:nvSpPr>
        <p:spPr>
          <a:xfrm>
            <a:off x="502920" y="1481328"/>
            <a:ext cx="8138160" cy="548640"/>
          </a:xfrm>
          <a:prstGeom prst="rect">
            <a:avLst/>
          </a:prstGeom>
          <a:noFill/>
          <a:ln/>
        </p:spPr>
        <p:txBody>
          <a:bodyPr wrap="square" rtlCol="0" anchor="ctr"/>
          <a:lstStyle/>
          <a:p>
            <a:pPr indent="0" marL="0">
              <a:buNone/>
            </a:pPr>
            <a:r>
              <a:rPr lang="en-US" sz="1200" dirty="0">
                <a:solidFill>
                  <a:srgbClr val="5D4037"/>
                </a:solidFill>
              </a:rPr>
              <a:t>Uma fábrica precisa que a esteira transportadora ligue automaticamente quando uma peça é detectada e desligue após um tempo, evitando desperdício de energia.</a:t>
            </a:r>
            <a:endParaRPr lang="en-US" sz="1200" dirty="0"/>
          </a:p>
        </p:txBody>
      </p:sp>
      <p:sp>
        <p:nvSpPr>
          <p:cNvPr id="10" name="Shape 8"/>
          <p:cNvSpPr/>
          <p:nvPr/>
        </p:nvSpPr>
        <p:spPr>
          <a:xfrm>
            <a:off x="365760" y="2331720"/>
            <a:ext cx="8412480" cy="777240"/>
          </a:xfrm>
          <a:prstGeom prst="rect">
            <a:avLst/>
          </a:prstGeom>
          <a:solidFill>
            <a:srgbClr val="E3F2FD"/>
          </a:solidFill>
          <a:ln w="12700">
            <a:solidFill>
              <a:srgbClr val="2196F3"/>
            </a:solidFill>
            <a:prstDash val="solid"/>
          </a:ln>
        </p:spPr>
      </p:sp>
      <p:sp>
        <p:nvSpPr>
          <p:cNvPr id="11" name="Text 9"/>
          <p:cNvSpPr/>
          <p:nvPr/>
        </p:nvSpPr>
        <p:spPr>
          <a:xfrm>
            <a:off x="502920" y="2331720"/>
            <a:ext cx="2286000" cy="777240"/>
          </a:xfrm>
          <a:prstGeom prst="rect">
            <a:avLst/>
          </a:prstGeom>
          <a:noFill/>
          <a:ln/>
        </p:spPr>
        <p:txBody>
          <a:bodyPr wrap="square" rtlCol="0" anchor="ctr"/>
          <a:lstStyle/>
          <a:p>
            <a:pPr indent="0" marL="0">
              <a:buNone/>
            </a:pPr>
            <a:r>
              <a:rPr lang="en-US" sz="1200" b="1" dirty="0">
                <a:solidFill>
                  <a:srgbClr val="0D47A1"/>
                </a:solidFill>
              </a:rPr>
              <a:t>🔧 Componentes necessários:</a:t>
            </a:r>
            <a:endParaRPr lang="en-US" sz="1200" dirty="0"/>
          </a:p>
        </p:txBody>
      </p:sp>
      <p:sp>
        <p:nvSpPr>
          <p:cNvPr id="12" name="Text 10"/>
          <p:cNvSpPr/>
          <p:nvPr/>
        </p:nvSpPr>
        <p:spPr>
          <a:xfrm>
            <a:off x="2834640" y="2331720"/>
            <a:ext cx="5760720" cy="777240"/>
          </a:xfrm>
          <a:prstGeom prst="rect">
            <a:avLst/>
          </a:prstGeom>
          <a:noFill/>
          <a:ln/>
        </p:spPr>
        <p:txBody>
          <a:bodyPr wrap="square" rtlCol="0" anchor="ctr"/>
          <a:lstStyle/>
          <a:p>
            <a:pPr indent="0" marL="0">
              <a:buNone/>
            </a:pPr>
            <a:r>
              <a:rPr lang="en-US" sz="1200" dirty="0">
                <a:solidFill>
                  <a:srgbClr val="546E7A"/>
                </a:solidFill>
              </a:rPr>
              <a:t>Arduino Uno, Sensor IR (obstáculo), Módulo Relé, LED verde (simula motor), resistor 220Ω</a:t>
            </a:r>
            <a:endParaRPr lang="en-US" sz="1200" dirty="0"/>
          </a:p>
        </p:txBody>
      </p:sp>
      <p:sp>
        <p:nvSpPr>
          <p:cNvPr id="13" name="Shape 11"/>
          <p:cNvSpPr/>
          <p:nvPr/>
        </p:nvSpPr>
        <p:spPr>
          <a:xfrm>
            <a:off x="365760" y="3246120"/>
            <a:ext cx="8412480" cy="777240"/>
          </a:xfrm>
          <a:prstGeom prst="rect">
            <a:avLst/>
          </a:prstGeom>
          <a:solidFill>
            <a:srgbClr val="F5F5F5"/>
          </a:solidFill>
          <a:ln w="12700">
            <a:solidFill>
              <a:srgbClr val="2196F3"/>
            </a:solidFill>
            <a:prstDash val="solid"/>
          </a:ln>
        </p:spPr>
      </p:sp>
      <p:sp>
        <p:nvSpPr>
          <p:cNvPr id="14" name="Text 12"/>
          <p:cNvSpPr/>
          <p:nvPr/>
        </p:nvSpPr>
        <p:spPr>
          <a:xfrm>
            <a:off x="502920" y="3246120"/>
            <a:ext cx="2286000" cy="777240"/>
          </a:xfrm>
          <a:prstGeom prst="rect">
            <a:avLst/>
          </a:prstGeom>
          <a:noFill/>
          <a:ln/>
        </p:spPr>
        <p:txBody>
          <a:bodyPr wrap="square" rtlCol="0" anchor="ctr"/>
          <a:lstStyle/>
          <a:p>
            <a:pPr indent="0" marL="0">
              <a:buNone/>
            </a:pPr>
            <a:r>
              <a:rPr lang="en-US" sz="1200" b="1" dirty="0">
                <a:solidFill>
                  <a:srgbClr val="0D47A1"/>
                </a:solidFill>
              </a:rPr>
              <a:t>📐 Pinos utilizados:</a:t>
            </a:r>
            <a:endParaRPr lang="en-US" sz="1200" dirty="0"/>
          </a:p>
        </p:txBody>
      </p:sp>
      <p:sp>
        <p:nvSpPr>
          <p:cNvPr id="15" name="Text 13"/>
          <p:cNvSpPr/>
          <p:nvPr/>
        </p:nvSpPr>
        <p:spPr>
          <a:xfrm>
            <a:off x="2834640" y="3246120"/>
            <a:ext cx="5760720" cy="777240"/>
          </a:xfrm>
          <a:prstGeom prst="rect">
            <a:avLst/>
          </a:prstGeom>
          <a:noFill/>
          <a:ln/>
        </p:spPr>
        <p:txBody>
          <a:bodyPr wrap="square" rtlCol="0" anchor="ctr"/>
          <a:lstStyle/>
          <a:p>
            <a:pPr indent="0" marL="0">
              <a:buNone/>
            </a:pPr>
            <a:r>
              <a:rPr lang="en-US" sz="1200" dirty="0">
                <a:solidFill>
                  <a:srgbClr val="546E7A"/>
                </a:solidFill>
              </a:rPr>
              <a:t>Pino 7 → Sensor IR  |  Pino 8 → Relé/LED (motor)</a:t>
            </a:r>
            <a:endParaRPr lang="en-US" sz="1200" dirty="0"/>
          </a:p>
        </p:txBody>
      </p:sp>
      <p:sp>
        <p:nvSpPr>
          <p:cNvPr id="16" name="Shape 14"/>
          <p:cNvSpPr/>
          <p:nvPr/>
        </p:nvSpPr>
        <p:spPr>
          <a:xfrm>
            <a:off x="365760" y="4160520"/>
            <a:ext cx="8412480" cy="777240"/>
          </a:xfrm>
          <a:prstGeom prst="rect">
            <a:avLst/>
          </a:prstGeom>
          <a:solidFill>
            <a:srgbClr val="E3F2FD"/>
          </a:solidFill>
          <a:ln w="12700">
            <a:solidFill>
              <a:srgbClr val="2196F3"/>
            </a:solidFill>
            <a:prstDash val="solid"/>
          </a:ln>
        </p:spPr>
      </p:sp>
      <p:sp>
        <p:nvSpPr>
          <p:cNvPr id="17" name="Text 15"/>
          <p:cNvSpPr/>
          <p:nvPr/>
        </p:nvSpPr>
        <p:spPr>
          <a:xfrm>
            <a:off x="502920" y="4160520"/>
            <a:ext cx="2286000" cy="777240"/>
          </a:xfrm>
          <a:prstGeom prst="rect">
            <a:avLst/>
          </a:prstGeom>
          <a:noFill/>
          <a:ln/>
        </p:spPr>
        <p:txBody>
          <a:bodyPr wrap="square" rtlCol="0" anchor="ctr"/>
          <a:lstStyle/>
          <a:p>
            <a:pPr indent="0" marL="0">
              <a:buNone/>
            </a:pPr>
            <a:r>
              <a:rPr lang="en-US" sz="1200" b="1" dirty="0">
                <a:solidFill>
                  <a:srgbClr val="0D47A1"/>
                </a:solidFill>
              </a:rPr>
              <a:t>🎯 Objetivo:</a:t>
            </a:r>
            <a:endParaRPr lang="en-US" sz="1200" dirty="0"/>
          </a:p>
        </p:txBody>
      </p:sp>
      <p:sp>
        <p:nvSpPr>
          <p:cNvPr id="18" name="Text 16"/>
          <p:cNvSpPr/>
          <p:nvPr/>
        </p:nvSpPr>
        <p:spPr>
          <a:xfrm>
            <a:off x="2834640" y="4160520"/>
            <a:ext cx="5760720" cy="777240"/>
          </a:xfrm>
          <a:prstGeom prst="rect">
            <a:avLst/>
          </a:prstGeom>
          <a:noFill/>
          <a:ln/>
        </p:spPr>
        <p:txBody>
          <a:bodyPr wrap="square" rtlCol="0" anchor="ctr"/>
          <a:lstStyle/>
          <a:p>
            <a:pPr indent="0" marL="0">
              <a:buNone/>
            </a:pPr>
            <a:r>
              <a:rPr lang="en-US" sz="1200" dirty="0">
                <a:solidFill>
                  <a:srgbClr val="546E7A"/>
                </a:solidFill>
              </a:rPr>
              <a:t>Quando o sensor detectar uma peça (LOW), o motor liga por 3 segundos e depois desliga automaticamente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SA1 — Esquema de Ligação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200400" y="1280160"/>
            <a:ext cx="2743200" cy="3200400"/>
          </a:xfrm>
          <a:prstGeom prst="rect">
            <a:avLst/>
          </a:prstGeom>
          <a:solidFill>
            <a:srgbClr val="1B5E20"/>
          </a:solidFill>
          <a:ln w="25400">
            <a:solidFill>
              <a:srgbClr val="4CAF50"/>
            </a:solidFill>
            <a:prstDash val="solid"/>
          </a:ln>
        </p:spPr>
      </p:sp>
      <p:sp>
        <p:nvSpPr>
          <p:cNvPr id="8" name="Text 6"/>
          <p:cNvSpPr/>
          <p:nvPr/>
        </p:nvSpPr>
        <p:spPr>
          <a:xfrm>
            <a:off x="3200400" y="1280160"/>
            <a:ext cx="2743200" cy="685800"/>
          </a:xfrm>
          <a:prstGeom prst="rect">
            <a:avLst/>
          </a:prstGeom>
          <a:noFill/>
          <a:ln/>
        </p:spPr>
        <p:txBody>
          <a:bodyPr wrap="square" rtlCol="0" anchor="ctr"/>
          <a:lstStyle/>
          <a:p>
            <a:pPr algn="ctr" indent="0" marL="0">
              <a:buNone/>
            </a:pPr>
            <a:r>
              <a:rPr lang="en-US" sz="1400" b="1" dirty="0">
                <a:solidFill>
                  <a:srgbClr val="FFFFFF"/>
                </a:solidFill>
              </a:rPr>
              <a:t>ARDUINO</a:t>
            </a:r>
            <a:endParaRPr lang="en-US" sz="1400" dirty="0"/>
          </a:p>
          <a:p>
            <a:pPr algn="ctr" indent="0" marL="0">
              <a:buNone/>
            </a:pPr>
            <a:r>
              <a:rPr lang="en-US" sz="1400" b="1" dirty="0">
                <a:solidFill>
                  <a:srgbClr val="FFFFFF"/>
                </a:solidFill>
              </a:rPr>
              <a:t>UNO</a:t>
            </a:r>
            <a:endParaRPr lang="en-US" sz="1400" dirty="0"/>
          </a:p>
        </p:txBody>
      </p:sp>
      <p:sp>
        <p:nvSpPr>
          <p:cNvPr id="9" name="Shape 7"/>
          <p:cNvSpPr/>
          <p:nvPr/>
        </p:nvSpPr>
        <p:spPr>
          <a:xfrm>
            <a:off x="3246120" y="2103120"/>
            <a:ext cx="1097280" cy="347472"/>
          </a:xfrm>
          <a:prstGeom prst="rect">
            <a:avLst/>
          </a:prstGeom>
          <a:solidFill>
            <a:srgbClr val="2E7D32"/>
          </a:solidFill>
          <a:ln w="12700">
            <a:solidFill>
              <a:srgbClr val="4CAF50"/>
            </a:solidFill>
            <a:prstDash val="solid"/>
          </a:ln>
        </p:spPr>
      </p:sp>
      <p:sp>
        <p:nvSpPr>
          <p:cNvPr id="10" name="Text 8"/>
          <p:cNvSpPr/>
          <p:nvPr/>
        </p:nvSpPr>
        <p:spPr>
          <a:xfrm>
            <a:off x="3246120" y="2103120"/>
            <a:ext cx="1097280" cy="347472"/>
          </a:xfrm>
          <a:prstGeom prst="rect">
            <a:avLst/>
          </a:prstGeom>
          <a:noFill/>
          <a:ln/>
        </p:spPr>
        <p:txBody>
          <a:bodyPr wrap="square" rtlCol="0" anchor="ctr"/>
          <a:lstStyle/>
          <a:p>
            <a:pPr algn="ctr" indent="0" marL="0">
              <a:buNone/>
            </a:pPr>
            <a:r>
              <a:rPr lang="en-US" sz="1000" b="1" dirty="0">
                <a:solidFill>
                  <a:srgbClr val="FFFFFF"/>
                </a:solidFill>
              </a:rPr>
              <a:t>5V</a:t>
            </a:r>
            <a:endParaRPr lang="en-US" sz="1000" dirty="0"/>
          </a:p>
        </p:txBody>
      </p:sp>
      <p:sp>
        <p:nvSpPr>
          <p:cNvPr id="11" name="Shape 9"/>
          <p:cNvSpPr/>
          <p:nvPr/>
        </p:nvSpPr>
        <p:spPr>
          <a:xfrm>
            <a:off x="3246120" y="2606040"/>
            <a:ext cx="1097280" cy="347472"/>
          </a:xfrm>
          <a:prstGeom prst="rect">
            <a:avLst/>
          </a:prstGeom>
          <a:solidFill>
            <a:srgbClr val="2E7D32"/>
          </a:solidFill>
          <a:ln w="12700">
            <a:solidFill>
              <a:srgbClr val="4CAF50"/>
            </a:solidFill>
            <a:prstDash val="solid"/>
          </a:ln>
        </p:spPr>
      </p:sp>
      <p:sp>
        <p:nvSpPr>
          <p:cNvPr id="12" name="Text 10"/>
          <p:cNvSpPr/>
          <p:nvPr/>
        </p:nvSpPr>
        <p:spPr>
          <a:xfrm>
            <a:off x="3246120" y="2606040"/>
            <a:ext cx="1097280" cy="347472"/>
          </a:xfrm>
          <a:prstGeom prst="rect">
            <a:avLst/>
          </a:prstGeom>
          <a:noFill/>
          <a:ln/>
        </p:spPr>
        <p:txBody>
          <a:bodyPr wrap="square" rtlCol="0" anchor="ctr"/>
          <a:lstStyle/>
          <a:p>
            <a:pPr algn="ctr" indent="0" marL="0">
              <a:buNone/>
            </a:pPr>
            <a:r>
              <a:rPr lang="en-US" sz="1000" b="1" dirty="0">
                <a:solidFill>
                  <a:srgbClr val="FFFFFF"/>
                </a:solidFill>
              </a:rPr>
              <a:t>GND</a:t>
            </a:r>
            <a:endParaRPr lang="en-US" sz="1000" dirty="0"/>
          </a:p>
        </p:txBody>
      </p:sp>
      <p:sp>
        <p:nvSpPr>
          <p:cNvPr id="13" name="Shape 11"/>
          <p:cNvSpPr/>
          <p:nvPr/>
        </p:nvSpPr>
        <p:spPr>
          <a:xfrm>
            <a:off x="3246120" y="3108960"/>
            <a:ext cx="1097280" cy="347472"/>
          </a:xfrm>
          <a:prstGeom prst="rect">
            <a:avLst/>
          </a:prstGeom>
          <a:solidFill>
            <a:srgbClr val="2E7D32"/>
          </a:solidFill>
          <a:ln w="12700">
            <a:solidFill>
              <a:srgbClr val="4CAF50"/>
            </a:solidFill>
            <a:prstDash val="solid"/>
          </a:ln>
        </p:spPr>
      </p:sp>
      <p:sp>
        <p:nvSpPr>
          <p:cNvPr id="14" name="Text 12"/>
          <p:cNvSpPr/>
          <p:nvPr/>
        </p:nvSpPr>
        <p:spPr>
          <a:xfrm>
            <a:off x="3246120" y="3108960"/>
            <a:ext cx="1097280" cy="347472"/>
          </a:xfrm>
          <a:prstGeom prst="rect">
            <a:avLst/>
          </a:prstGeom>
          <a:noFill/>
          <a:ln/>
        </p:spPr>
        <p:txBody>
          <a:bodyPr wrap="square" rtlCol="0" anchor="ctr"/>
          <a:lstStyle/>
          <a:p>
            <a:pPr algn="ctr" indent="0" marL="0">
              <a:buNone/>
            </a:pPr>
            <a:r>
              <a:rPr lang="en-US" sz="1000" b="1" dirty="0">
                <a:solidFill>
                  <a:srgbClr val="FFFFFF"/>
                </a:solidFill>
              </a:rPr>
              <a:t>Pino 7</a:t>
            </a:r>
            <a:endParaRPr lang="en-US" sz="1000" dirty="0"/>
          </a:p>
        </p:txBody>
      </p:sp>
      <p:sp>
        <p:nvSpPr>
          <p:cNvPr id="15" name="Shape 13"/>
          <p:cNvSpPr/>
          <p:nvPr/>
        </p:nvSpPr>
        <p:spPr>
          <a:xfrm>
            <a:off x="3246120" y="3611880"/>
            <a:ext cx="1097280" cy="347472"/>
          </a:xfrm>
          <a:prstGeom prst="rect">
            <a:avLst/>
          </a:prstGeom>
          <a:solidFill>
            <a:srgbClr val="2E7D32"/>
          </a:solidFill>
          <a:ln w="12700">
            <a:solidFill>
              <a:srgbClr val="4CAF50"/>
            </a:solidFill>
            <a:prstDash val="solid"/>
          </a:ln>
        </p:spPr>
      </p:sp>
      <p:sp>
        <p:nvSpPr>
          <p:cNvPr id="16" name="Text 14"/>
          <p:cNvSpPr/>
          <p:nvPr/>
        </p:nvSpPr>
        <p:spPr>
          <a:xfrm>
            <a:off x="3246120" y="3611880"/>
            <a:ext cx="1097280" cy="347472"/>
          </a:xfrm>
          <a:prstGeom prst="rect">
            <a:avLst/>
          </a:prstGeom>
          <a:noFill/>
          <a:ln/>
        </p:spPr>
        <p:txBody>
          <a:bodyPr wrap="square" rtlCol="0" anchor="ctr"/>
          <a:lstStyle/>
          <a:p>
            <a:pPr algn="ctr" indent="0" marL="0">
              <a:buNone/>
            </a:pPr>
            <a:r>
              <a:rPr lang="en-US" sz="1000" b="1" dirty="0">
                <a:solidFill>
                  <a:srgbClr val="FFFFFF"/>
                </a:solidFill>
              </a:rPr>
              <a:t>Pino 8</a:t>
            </a:r>
            <a:endParaRPr lang="en-US" sz="1000" dirty="0"/>
          </a:p>
        </p:txBody>
      </p:sp>
      <p:sp>
        <p:nvSpPr>
          <p:cNvPr id="17" name="Shape 15"/>
          <p:cNvSpPr/>
          <p:nvPr/>
        </p:nvSpPr>
        <p:spPr>
          <a:xfrm>
            <a:off x="274320" y="1828800"/>
            <a:ext cx="2011680" cy="1645920"/>
          </a:xfrm>
          <a:prstGeom prst="rect">
            <a:avLst/>
          </a:prstGeom>
          <a:solidFill>
            <a:srgbClr val="E3F2FD"/>
          </a:solidFill>
          <a:ln w="12700">
            <a:solidFill>
              <a:srgbClr val="0D47A1"/>
            </a:solidFill>
            <a:prstDash val="solid"/>
          </a:ln>
        </p:spPr>
      </p:sp>
      <p:sp>
        <p:nvSpPr>
          <p:cNvPr id="18" name="Text 16"/>
          <p:cNvSpPr/>
          <p:nvPr/>
        </p:nvSpPr>
        <p:spPr>
          <a:xfrm>
            <a:off x="274320" y="1828800"/>
            <a:ext cx="2011680" cy="548640"/>
          </a:xfrm>
          <a:prstGeom prst="rect">
            <a:avLst/>
          </a:prstGeom>
          <a:noFill/>
          <a:ln/>
        </p:spPr>
        <p:txBody>
          <a:bodyPr wrap="square" rtlCol="0" anchor="ctr"/>
          <a:lstStyle/>
          <a:p>
            <a:pPr algn="ctr" indent="0" marL="0">
              <a:buNone/>
            </a:pPr>
            <a:r>
              <a:rPr lang="en-US" sz="1100" b="1" dirty="0">
                <a:solidFill>
                  <a:srgbClr val="0D47A1"/>
                </a:solidFill>
              </a:rPr>
              <a:t>SENSOR IR</a:t>
            </a:r>
            <a:endParaRPr lang="en-US" sz="1100" dirty="0"/>
          </a:p>
          <a:p>
            <a:pPr algn="ctr" indent="0" marL="0">
              <a:buNone/>
            </a:pPr>
            <a:r>
              <a:rPr lang="en-US" sz="1100" b="1" dirty="0">
                <a:solidFill>
                  <a:srgbClr val="0D47A1"/>
                </a:solidFill>
              </a:rPr>
              <a:t>(obstáculo)</a:t>
            </a:r>
            <a:endParaRPr lang="en-US" sz="1100" dirty="0"/>
          </a:p>
        </p:txBody>
      </p:sp>
      <p:sp>
        <p:nvSpPr>
          <p:cNvPr id="19" name="Text 17"/>
          <p:cNvSpPr/>
          <p:nvPr/>
        </p:nvSpPr>
        <p:spPr>
          <a:xfrm>
            <a:off x="320040" y="2423160"/>
            <a:ext cx="1920240" cy="914400"/>
          </a:xfrm>
          <a:prstGeom prst="rect">
            <a:avLst/>
          </a:prstGeom>
          <a:noFill/>
          <a:ln/>
        </p:spPr>
        <p:txBody>
          <a:bodyPr wrap="square" rtlCol="0" anchor="ctr"/>
          <a:lstStyle/>
          <a:p>
            <a:pPr indent="0" marL="0">
              <a:buNone/>
            </a:pPr>
            <a:r>
              <a:rPr lang="en-US" sz="1000" dirty="0">
                <a:solidFill>
                  <a:srgbClr val="546E7A"/>
                </a:solidFill>
                <a:latin typeface="Consolas" pitchFamily="34" charset="0"/>
                <a:ea typeface="Consolas" pitchFamily="34" charset="-122"/>
                <a:cs typeface="Consolas" pitchFamily="34" charset="-120"/>
              </a:rPr>
              <a:t>VCC → 5V</a:t>
            </a:r>
            <a:endParaRPr lang="en-US" sz="1000" dirty="0"/>
          </a:p>
          <a:p>
            <a:pPr indent="0" marL="0">
              <a:buNone/>
            </a:pPr>
            <a:r>
              <a:rPr lang="en-US" sz="1000" dirty="0">
                <a:solidFill>
                  <a:srgbClr val="546E7A"/>
                </a:solidFill>
                <a:latin typeface="Consolas" pitchFamily="34" charset="0"/>
                <a:ea typeface="Consolas" pitchFamily="34" charset="-122"/>
                <a:cs typeface="Consolas" pitchFamily="34" charset="-120"/>
              </a:rPr>
              <a:t>GND → GND</a:t>
            </a:r>
            <a:endParaRPr lang="en-US" sz="1000" dirty="0"/>
          </a:p>
          <a:p>
            <a:pPr indent="0" marL="0">
              <a:buNone/>
            </a:pPr>
            <a:r>
              <a:rPr lang="en-US" sz="1000" dirty="0">
                <a:solidFill>
                  <a:srgbClr val="546E7A"/>
                </a:solidFill>
                <a:latin typeface="Consolas" pitchFamily="34" charset="0"/>
                <a:ea typeface="Consolas" pitchFamily="34" charset="-122"/>
                <a:cs typeface="Consolas" pitchFamily="34" charset="-120"/>
              </a:rPr>
              <a:t>OUT → Pino 7</a:t>
            </a:r>
            <a:endParaRPr lang="en-US" sz="1000" dirty="0"/>
          </a:p>
        </p:txBody>
      </p:sp>
      <p:sp>
        <p:nvSpPr>
          <p:cNvPr id="20" name="Shape 18"/>
          <p:cNvSpPr/>
          <p:nvPr/>
        </p:nvSpPr>
        <p:spPr>
          <a:xfrm>
            <a:off x="2286000" y="2148840"/>
            <a:ext cx="960120" cy="0"/>
          </a:xfrm>
          <a:prstGeom prst="line">
            <a:avLst/>
          </a:prstGeom>
          <a:noFill/>
          <a:ln w="25400">
            <a:solidFill>
              <a:srgbClr val="F44336"/>
            </a:solidFill>
            <a:prstDash val="solid"/>
          </a:ln>
        </p:spPr>
      </p:sp>
      <p:sp>
        <p:nvSpPr>
          <p:cNvPr id="21" name="Shape 19"/>
          <p:cNvSpPr/>
          <p:nvPr/>
        </p:nvSpPr>
        <p:spPr>
          <a:xfrm>
            <a:off x="2286000" y="2468880"/>
            <a:ext cx="960120" cy="0"/>
          </a:xfrm>
          <a:prstGeom prst="line">
            <a:avLst/>
          </a:prstGeom>
          <a:noFill/>
          <a:ln w="25400">
            <a:solidFill>
              <a:srgbClr val="333333"/>
            </a:solidFill>
            <a:prstDash val="solid"/>
          </a:ln>
        </p:spPr>
      </p:sp>
      <p:sp>
        <p:nvSpPr>
          <p:cNvPr id="22" name="Shape 20"/>
          <p:cNvSpPr/>
          <p:nvPr/>
        </p:nvSpPr>
        <p:spPr>
          <a:xfrm>
            <a:off x="2286000" y="2788920"/>
            <a:ext cx="960120" cy="0"/>
          </a:xfrm>
          <a:prstGeom prst="line">
            <a:avLst/>
          </a:prstGeom>
          <a:noFill/>
          <a:ln w="25400">
            <a:solidFill>
              <a:srgbClr val="2196F3"/>
            </a:solidFill>
            <a:prstDash val="solid"/>
          </a:ln>
        </p:spPr>
      </p:sp>
      <p:sp>
        <p:nvSpPr>
          <p:cNvPr id="23" name="Shape 21"/>
          <p:cNvSpPr/>
          <p:nvPr/>
        </p:nvSpPr>
        <p:spPr>
          <a:xfrm>
            <a:off x="6858000" y="1828800"/>
            <a:ext cx="2011680" cy="1645920"/>
          </a:xfrm>
          <a:prstGeom prst="rect">
            <a:avLst/>
          </a:prstGeom>
          <a:solidFill>
            <a:srgbClr val="E8F5E9"/>
          </a:solidFill>
          <a:ln w="12700">
            <a:solidFill>
              <a:srgbClr val="2E7D32"/>
            </a:solidFill>
            <a:prstDash val="solid"/>
          </a:ln>
        </p:spPr>
      </p:sp>
      <p:sp>
        <p:nvSpPr>
          <p:cNvPr id="24" name="Text 22"/>
          <p:cNvSpPr/>
          <p:nvPr/>
        </p:nvSpPr>
        <p:spPr>
          <a:xfrm>
            <a:off x="6858000" y="1828800"/>
            <a:ext cx="2011680" cy="548640"/>
          </a:xfrm>
          <a:prstGeom prst="rect">
            <a:avLst/>
          </a:prstGeom>
          <a:noFill/>
          <a:ln/>
        </p:spPr>
        <p:txBody>
          <a:bodyPr wrap="square" rtlCol="0" anchor="ctr"/>
          <a:lstStyle/>
          <a:p>
            <a:pPr algn="ctr" indent="0" marL="0">
              <a:buNone/>
            </a:pPr>
            <a:r>
              <a:rPr lang="en-US" sz="1100" b="1" dirty="0">
                <a:solidFill>
                  <a:srgbClr val="2E7D32"/>
                </a:solidFill>
              </a:rPr>
              <a:t>MOTOR</a:t>
            </a:r>
            <a:endParaRPr lang="en-US" sz="1100" dirty="0"/>
          </a:p>
          <a:p>
            <a:pPr algn="ctr" indent="0" marL="0">
              <a:buNone/>
            </a:pPr>
            <a:r>
              <a:rPr lang="en-US" sz="1100" b="1" dirty="0">
                <a:solidFill>
                  <a:srgbClr val="2E7D32"/>
                </a:solidFill>
              </a:rPr>
              <a:t>(LED/Relé)</a:t>
            </a:r>
            <a:endParaRPr lang="en-US" sz="1100" dirty="0"/>
          </a:p>
        </p:txBody>
      </p:sp>
      <p:sp>
        <p:nvSpPr>
          <p:cNvPr id="25" name="Text 23"/>
          <p:cNvSpPr/>
          <p:nvPr/>
        </p:nvSpPr>
        <p:spPr>
          <a:xfrm>
            <a:off x="6903720" y="2423160"/>
            <a:ext cx="1920240" cy="914400"/>
          </a:xfrm>
          <a:prstGeom prst="rect">
            <a:avLst/>
          </a:prstGeom>
          <a:noFill/>
          <a:ln/>
        </p:spPr>
        <p:txBody>
          <a:bodyPr wrap="square" rtlCol="0" anchor="ctr"/>
          <a:lstStyle/>
          <a:p>
            <a:pPr indent="0" marL="0">
              <a:buNone/>
            </a:pPr>
            <a:r>
              <a:rPr lang="en-US" sz="1000" dirty="0">
                <a:solidFill>
                  <a:srgbClr val="546E7A"/>
                </a:solidFill>
                <a:latin typeface="Consolas" pitchFamily="34" charset="0"/>
                <a:ea typeface="Consolas" pitchFamily="34" charset="-122"/>
                <a:cs typeface="Consolas" pitchFamily="34" charset="-120"/>
              </a:rPr>
              <a:t>IN → Pino 8</a:t>
            </a:r>
            <a:endParaRPr lang="en-US" sz="1000" dirty="0"/>
          </a:p>
          <a:p>
            <a:pPr indent="0" marL="0">
              <a:buNone/>
            </a:pPr>
            <a:r>
              <a:rPr lang="en-US" sz="1000" dirty="0">
                <a:solidFill>
                  <a:srgbClr val="546E7A"/>
                </a:solidFill>
                <a:latin typeface="Consolas" pitchFamily="34" charset="0"/>
                <a:ea typeface="Consolas" pitchFamily="34" charset="-122"/>
                <a:cs typeface="Consolas" pitchFamily="34" charset="-120"/>
              </a:rPr>
              <a:t>VCC → 5V</a:t>
            </a:r>
            <a:endParaRPr lang="en-US" sz="1000" dirty="0"/>
          </a:p>
          <a:p>
            <a:pPr indent="0" marL="0">
              <a:buNone/>
            </a:pPr>
            <a:r>
              <a:rPr lang="en-US" sz="1000" dirty="0">
                <a:solidFill>
                  <a:srgbClr val="546E7A"/>
                </a:solidFill>
                <a:latin typeface="Consolas" pitchFamily="34" charset="0"/>
                <a:ea typeface="Consolas" pitchFamily="34" charset="-122"/>
                <a:cs typeface="Consolas" pitchFamily="34" charset="-120"/>
              </a:rPr>
              <a:t>GND → GND</a:t>
            </a:r>
            <a:endParaRPr lang="en-US" sz="1000" dirty="0"/>
          </a:p>
        </p:txBody>
      </p:sp>
      <p:sp>
        <p:nvSpPr>
          <p:cNvPr id="26" name="Shape 24"/>
          <p:cNvSpPr/>
          <p:nvPr/>
        </p:nvSpPr>
        <p:spPr>
          <a:xfrm>
            <a:off x="5943600" y="2450592"/>
            <a:ext cx="914400" cy="0"/>
          </a:xfrm>
          <a:prstGeom prst="line">
            <a:avLst/>
          </a:prstGeom>
          <a:noFill/>
          <a:ln w="25400">
            <a:solidFill>
              <a:srgbClr val="4CAF50"/>
            </a:solidFill>
            <a:prstDash val="solid"/>
          </a:ln>
        </p:spPr>
      </p:sp>
      <p:sp>
        <p:nvSpPr>
          <p:cNvPr id="27" name="Text 25"/>
          <p:cNvSpPr/>
          <p:nvPr/>
        </p:nvSpPr>
        <p:spPr>
          <a:xfrm>
            <a:off x="365760" y="4617720"/>
            <a:ext cx="8412480" cy="228600"/>
          </a:xfrm>
          <a:prstGeom prst="rect">
            <a:avLst/>
          </a:prstGeom>
          <a:noFill/>
          <a:ln/>
        </p:spPr>
        <p:txBody>
          <a:bodyPr wrap="square" rtlCol="0" anchor="ctr"/>
          <a:lstStyle/>
          <a:p>
            <a:pPr algn="ctr" indent="0" marL="0">
              <a:buNone/>
            </a:pPr>
            <a:r>
              <a:rPr lang="en-US" sz="1000" dirty="0">
                <a:solidFill>
                  <a:srgbClr val="546E7A"/>
                </a:solidFill>
              </a:rPr>
              <a:t>Vermelho = 5V  |  Preto = GND  |  Azul = Sinal</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SA1 — Código Completo (Resolvido)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3657600"/>
          </a:xfrm>
          <a:prstGeom prst="rect">
            <a:avLst/>
          </a:prstGeom>
          <a:solidFill>
            <a:srgbClr val="1E1E1E"/>
          </a:solidFill>
          <a:ln w="12700">
            <a:solidFill>
              <a:srgbClr val="333333"/>
            </a:solidFill>
            <a:prstDash val="solid"/>
          </a:ln>
        </p:spPr>
      </p:sp>
      <p:sp>
        <p:nvSpPr>
          <p:cNvPr id="8" name="Text 6"/>
          <p:cNvSpPr/>
          <p:nvPr/>
        </p:nvSpPr>
        <p:spPr>
          <a:xfrm>
            <a:off x="502920" y="1234440"/>
            <a:ext cx="8229600" cy="3474720"/>
          </a:xfrm>
          <a:prstGeom prst="rect">
            <a:avLst/>
          </a:prstGeom>
          <a:noFill/>
          <a:ln/>
        </p:spPr>
        <p:txBody>
          <a:bodyPr wrap="square" rtlCol="0" anchor="t"/>
          <a:lstStyle/>
          <a:p>
            <a:pPr indent="0" marL="0">
              <a:buNone/>
            </a:pPr>
            <a:r>
              <a:rPr lang="en-US" sz="1200" dirty="0">
                <a:solidFill>
                  <a:srgbClr val="6A9955"/>
                </a:solidFill>
                <a:latin typeface="Consolas" pitchFamily="34" charset="0"/>
                <a:ea typeface="Consolas" pitchFamily="34" charset="-122"/>
                <a:cs typeface="Consolas" pitchFamily="34" charset="-120"/>
              </a:rPr>
              <a:t>// SA1 - Controle de Esteira Industrial
</a:t>
            </a:r>
            <a:pPr indent="0" marL="0">
              <a:buNone/>
            </a:pPr>
            <a:r>
              <a:rPr lang="en-US" sz="1200" dirty="0">
                <a:solidFill>
                  <a:srgbClr val="4EC9B0"/>
                </a:solidFill>
                <a:latin typeface="Consolas" pitchFamily="34" charset="0"/>
                <a:ea typeface="Consolas" pitchFamily="34" charset="-122"/>
                <a:cs typeface="Consolas" pitchFamily="34" charset="-120"/>
              </a:rPr>
              <a:t>const int </a:t>
            </a:r>
            <a:pPr indent="0" marL="0">
              <a:buNone/>
            </a:pPr>
            <a:r>
              <a:rPr lang="en-US" sz="1200" dirty="0">
                <a:solidFill>
                  <a:srgbClr val="D4D4D4"/>
                </a:solidFill>
                <a:latin typeface="Consolas" pitchFamily="34" charset="0"/>
                <a:ea typeface="Consolas" pitchFamily="34" charset="-122"/>
                <a:cs typeface="Consolas" pitchFamily="34" charset="-120"/>
              </a:rPr>
              <a:t>pinoSensor = 7;  </a:t>
            </a:r>
            <a:pPr indent="0" marL="0">
              <a:buNone/>
            </a:pPr>
            <a:r>
              <a:rPr lang="en-US" sz="1200" dirty="0">
                <a:solidFill>
                  <a:srgbClr val="6A9955"/>
                </a:solidFill>
                <a:latin typeface="Consolas" pitchFamily="34" charset="0"/>
                <a:ea typeface="Consolas" pitchFamily="34" charset="-122"/>
                <a:cs typeface="Consolas" pitchFamily="34" charset="-120"/>
              </a:rPr>
              <a:t>// Pino do sensor IR
</a:t>
            </a:r>
            <a:pPr indent="0" marL="0">
              <a:buNone/>
            </a:pPr>
            <a:r>
              <a:rPr lang="en-US" sz="1200" dirty="0">
                <a:solidFill>
                  <a:srgbClr val="4EC9B0"/>
                </a:solidFill>
                <a:latin typeface="Consolas" pitchFamily="34" charset="0"/>
                <a:ea typeface="Consolas" pitchFamily="34" charset="-122"/>
                <a:cs typeface="Consolas" pitchFamily="34" charset="-120"/>
              </a:rPr>
              <a:t>const int </a:t>
            </a:r>
            <a:pPr indent="0" marL="0">
              <a:buNone/>
            </a:pPr>
            <a:r>
              <a:rPr lang="en-US" sz="1200" dirty="0">
                <a:solidFill>
                  <a:srgbClr val="D4D4D4"/>
                </a:solidFill>
                <a:latin typeface="Consolas" pitchFamily="34" charset="0"/>
                <a:ea typeface="Consolas" pitchFamily="34" charset="-122"/>
                <a:cs typeface="Consolas" pitchFamily="34" charset="-120"/>
              </a:rPr>
              <a:t>pinoMotor  = 8;  </a:t>
            </a:r>
            <a:pPr indent="0" marL="0">
              <a:buNone/>
            </a:pPr>
            <a:r>
              <a:rPr lang="en-US" sz="1200" dirty="0">
                <a:solidFill>
                  <a:srgbClr val="6A9955"/>
                </a:solidFill>
                <a:latin typeface="Consolas" pitchFamily="34" charset="0"/>
                <a:ea typeface="Consolas" pitchFamily="34" charset="-122"/>
                <a:cs typeface="Consolas" pitchFamily="34" charset="-120"/>
              </a:rPr>
              <a:t>// Pino do relé/LED
</a:t>
            </a:r>
            <a:pPr indent="0" marL="0">
              <a:buNone/>
            </a:pPr>
            <a:r>
              <a:rPr lang="en-US" sz="1200" b="1" dirty="0">
                <a:solidFill>
                  <a:srgbClr val="DCDCAA"/>
                </a:solidFill>
                <a:latin typeface="Consolas" pitchFamily="34" charset="0"/>
                <a:ea typeface="Consolas" pitchFamily="34" charset="-122"/>
                <a:cs typeface="Consolas" pitchFamily="34" charset="-120"/>
              </a:rPr>
              <a:t>void </a:t>
            </a:r>
            <a:pPr indent="0" marL="0">
              <a:buNone/>
            </a:pPr>
            <a:r>
              <a:rPr lang="en-US" sz="1200" dirty="0">
                <a:solidFill>
                  <a:srgbClr val="4EC9B0"/>
                </a:solidFill>
                <a:latin typeface="Consolas" pitchFamily="34" charset="0"/>
                <a:ea typeface="Consolas" pitchFamily="34" charset="-122"/>
                <a:cs typeface="Consolas" pitchFamily="34" charset="-120"/>
              </a:rPr>
              <a:t>setup() {
</a:t>
            </a:r>
            <a:pPr indent="0" marL="0">
              <a:buNone/>
            </a:pPr>
            <a:r>
              <a:rPr lang="en-US" sz="1200" dirty="0">
                <a:solidFill>
                  <a:srgbClr val="D4D4D4"/>
                </a:solidFill>
                <a:latin typeface="Consolas" pitchFamily="34" charset="0"/>
                <a:ea typeface="Consolas" pitchFamily="34" charset="-122"/>
                <a:cs typeface="Consolas" pitchFamily="34" charset="-120"/>
              </a:rPr>
              <a:t>  pinMode(pinoSensor, INPUT);
</a:t>
            </a:r>
            <a:pPr indent="0" marL="0">
              <a:buNone/>
            </a:pPr>
            <a:r>
              <a:rPr lang="en-US" sz="1200" dirty="0">
                <a:solidFill>
                  <a:srgbClr val="D4D4D4"/>
                </a:solidFill>
                <a:latin typeface="Consolas" pitchFamily="34" charset="0"/>
                <a:ea typeface="Consolas" pitchFamily="34" charset="-122"/>
                <a:cs typeface="Consolas" pitchFamily="34" charset="-120"/>
              </a:rPr>
              <a:t>  pinMode(pinoMotor, OUTPUT);
</a:t>
            </a:r>
            <a:pPr indent="0" marL="0">
              <a:buNone/>
            </a:pPr>
            <a:r>
              <a:rPr lang="en-US" sz="1200" dirty="0">
                <a:solidFill>
                  <a:srgbClr val="D4D4D4"/>
                </a:solidFill>
                <a:latin typeface="Consolas" pitchFamily="34" charset="0"/>
                <a:ea typeface="Consolas" pitchFamily="34" charset="-122"/>
                <a:cs typeface="Consolas" pitchFamily="34" charset="-120"/>
              </a:rPr>
              <a:t>  digitalWrite(pinoMotor, LOW); </a:t>
            </a:r>
            <a:pPr indent="0" marL="0">
              <a:buNone/>
            </a:pPr>
            <a:r>
              <a:rPr lang="en-US" sz="1200" dirty="0">
                <a:solidFill>
                  <a:srgbClr val="6A9955"/>
                </a:solidFill>
                <a:latin typeface="Consolas" pitchFamily="34" charset="0"/>
                <a:ea typeface="Consolas" pitchFamily="34" charset="-122"/>
                <a:cs typeface="Consolas" pitchFamily="34" charset="-120"/>
              </a:rPr>
              <a:t>// Motor desligado
}
</a:t>
            </a:r>
            <a:pPr indent="0" marL="0">
              <a:buNone/>
            </a:pPr>
            <a:r>
              <a:rPr lang="en-US" sz="1200" b="1" dirty="0">
                <a:solidFill>
                  <a:srgbClr val="DCDCAA"/>
                </a:solidFill>
                <a:latin typeface="Consolas" pitchFamily="34" charset="0"/>
                <a:ea typeface="Consolas" pitchFamily="34" charset="-122"/>
                <a:cs typeface="Consolas" pitchFamily="34" charset="-120"/>
              </a:rPr>
              <a:t>void </a:t>
            </a:r>
            <a:pPr indent="0" marL="0">
              <a:buNone/>
            </a:pPr>
            <a:r>
              <a:rPr lang="en-US" sz="1200" dirty="0">
                <a:solidFill>
                  <a:srgbClr val="4EC9B0"/>
                </a:solidFill>
                <a:latin typeface="Consolas" pitchFamily="34" charset="0"/>
                <a:ea typeface="Consolas" pitchFamily="34" charset="-122"/>
                <a:cs typeface="Consolas" pitchFamily="34" charset="-120"/>
              </a:rPr>
              <a:t>loop() {
</a:t>
            </a:r>
            <a:pPr indent="0" marL="0">
              <a:buNone/>
            </a:pPr>
            <a:r>
              <a:rPr lang="en-US" sz="1200" dirty="0">
                <a:solidFill>
                  <a:srgbClr val="4EC9B0"/>
                </a:solidFill>
                <a:latin typeface="Consolas" pitchFamily="34" charset="0"/>
                <a:ea typeface="Consolas" pitchFamily="34" charset="-122"/>
                <a:cs typeface="Consolas" pitchFamily="34" charset="-120"/>
              </a:rPr>
              <a:t>  int </a:t>
            </a:r>
            <a:pPr indent="0" marL="0">
              <a:buNone/>
            </a:pPr>
            <a:r>
              <a:rPr lang="en-US" sz="1200" dirty="0">
                <a:solidFill>
                  <a:srgbClr val="D4D4D4"/>
                </a:solidFill>
                <a:latin typeface="Consolas" pitchFamily="34" charset="0"/>
                <a:ea typeface="Consolas" pitchFamily="34" charset="-122"/>
                <a:cs typeface="Consolas" pitchFamily="34" charset="-120"/>
              </a:rPr>
              <a:t>leitura = digitalRead(pinoSensor);
</a:t>
            </a:r>
            <a:pPr indent="0" marL="0">
              <a:buNone/>
            </a:pPr>
            <a:r>
              <a:rPr lang="en-US" sz="1200" b="1" dirty="0">
                <a:solidFill>
                  <a:srgbClr val="C586C0"/>
                </a:solidFill>
                <a:latin typeface="Consolas" pitchFamily="34" charset="0"/>
                <a:ea typeface="Consolas" pitchFamily="34" charset="-122"/>
                <a:cs typeface="Consolas" pitchFamily="34" charset="-120"/>
              </a:rPr>
              <a:t>  if </a:t>
            </a:r>
            <a:pPr indent="0" marL="0">
              <a:buNone/>
            </a:pPr>
            <a:r>
              <a:rPr lang="en-US" sz="1200" dirty="0">
                <a:solidFill>
                  <a:srgbClr val="D4D4D4"/>
                </a:solidFill>
                <a:latin typeface="Consolas" pitchFamily="34" charset="0"/>
                <a:ea typeface="Consolas" pitchFamily="34" charset="-122"/>
                <a:cs typeface="Consolas" pitchFamily="34" charset="-120"/>
              </a:rPr>
              <a:t>(leitura == LOW) { </a:t>
            </a:r>
            <a:pPr indent="0" marL="0">
              <a:buNone/>
            </a:pPr>
            <a:r>
              <a:rPr lang="en-US" sz="1200" dirty="0">
                <a:solidFill>
                  <a:srgbClr val="6A9955"/>
                </a:solidFill>
                <a:latin typeface="Consolas" pitchFamily="34" charset="0"/>
                <a:ea typeface="Consolas" pitchFamily="34" charset="-122"/>
                <a:cs typeface="Consolas" pitchFamily="34" charset="-120"/>
              </a:rPr>
              <a:t>// Peça detectada!
</a:t>
            </a:r>
            <a:pPr indent="0" marL="0">
              <a:buNone/>
            </a:pPr>
            <a:r>
              <a:rPr lang="en-US" sz="1200" dirty="0">
                <a:solidFill>
                  <a:srgbClr val="D4D4D4"/>
                </a:solidFill>
                <a:latin typeface="Consolas" pitchFamily="34" charset="0"/>
                <a:ea typeface="Consolas" pitchFamily="34" charset="-122"/>
                <a:cs typeface="Consolas" pitchFamily="34" charset="-120"/>
              </a:rPr>
              <a:t>    digitalWrite(pinoMotor, HIGH); </a:t>
            </a:r>
            <a:pPr indent="0" marL="0">
              <a:buNone/>
            </a:pPr>
            <a:r>
              <a:rPr lang="en-US" sz="1200" dirty="0">
                <a:solidFill>
                  <a:srgbClr val="6A9955"/>
                </a:solidFill>
                <a:latin typeface="Consolas" pitchFamily="34" charset="0"/>
                <a:ea typeface="Consolas" pitchFamily="34" charset="-122"/>
                <a:cs typeface="Consolas" pitchFamily="34" charset="-120"/>
              </a:rPr>
              <a:t>// Liga motor
</a:t>
            </a:r>
            <a:pPr indent="0" marL="0">
              <a:buNone/>
            </a:pPr>
            <a:r>
              <a:rPr lang="en-US" sz="1200" dirty="0">
                <a:solidFill>
                  <a:srgbClr val="D4D4D4"/>
                </a:solidFill>
                <a:latin typeface="Consolas" pitchFamily="34" charset="0"/>
                <a:ea typeface="Consolas" pitchFamily="34" charset="-122"/>
                <a:cs typeface="Consolas" pitchFamily="34" charset="-120"/>
              </a:rPr>
              <a:t>    delay(3000);                   </a:t>
            </a:r>
            <a:pPr indent="0" marL="0">
              <a:buNone/>
            </a:pPr>
            <a:r>
              <a:rPr lang="en-US" sz="1200" dirty="0">
                <a:solidFill>
                  <a:srgbClr val="6A9955"/>
                </a:solidFill>
                <a:latin typeface="Consolas" pitchFamily="34" charset="0"/>
                <a:ea typeface="Consolas" pitchFamily="34" charset="-122"/>
                <a:cs typeface="Consolas" pitchFamily="34" charset="-120"/>
              </a:rPr>
              <a:t>// Aguarda 3s
</a:t>
            </a:r>
            <a:pPr indent="0" marL="0">
              <a:buNone/>
            </a:pPr>
            <a:r>
              <a:rPr lang="en-US" sz="1200" dirty="0">
                <a:solidFill>
                  <a:srgbClr val="D4D4D4"/>
                </a:solidFill>
                <a:latin typeface="Consolas" pitchFamily="34" charset="0"/>
                <a:ea typeface="Consolas" pitchFamily="34" charset="-122"/>
                <a:cs typeface="Consolas" pitchFamily="34" charset="-120"/>
              </a:rPr>
              <a:t>    digitalWrite(pinoMotor, LOW);  </a:t>
            </a:r>
            <a:pPr indent="0" marL="0">
              <a:buNone/>
            </a:pPr>
            <a:r>
              <a:rPr lang="en-US" sz="1200" dirty="0">
                <a:solidFill>
                  <a:srgbClr val="6A9955"/>
                </a:solidFill>
                <a:latin typeface="Consolas" pitchFamily="34" charset="0"/>
                <a:ea typeface="Consolas" pitchFamily="34" charset="-122"/>
                <a:cs typeface="Consolas" pitchFamily="34" charset="-120"/>
              </a:rPr>
              <a:t>// Desliga motor</a:t>
            </a:r>
            <a:endParaRPr lang="en-US" sz="1200" dirty="0"/>
          </a:p>
          <a:p>
            <a:pPr indent="0" marL="0">
              <a:buNone/>
            </a:pPr>
            <a:r>
              <a:rPr lang="en-US" sz="1200" dirty="0">
                <a:solidFill>
                  <a:srgbClr val="6A9955"/>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6A9955"/>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SA1 — Como Funciona? Passo a Passo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88720"/>
            <a:ext cx="502920" cy="594360"/>
          </a:xfrm>
          <a:prstGeom prst="rect">
            <a:avLst/>
          </a:prstGeom>
          <a:solidFill>
            <a:srgbClr val="0D47A1"/>
          </a:solidFill>
          <a:ln w="12700">
            <a:solidFill>
              <a:srgbClr val="0D47A1"/>
            </a:solidFill>
            <a:prstDash val="solid"/>
          </a:ln>
        </p:spPr>
      </p:sp>
      <p:sp>
        <p:nvSpPr>
          <p:cNvPr id="8" name="Text 6"/>
          <p:cNvSpPr/>
          <p:nvPr/>
        </p:nvSpPr>
        <p:spPr>
          <a:xfrm>
            <a:off x="365760" y="1188720"/>
            <a:ext cx="502920" cy="59436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9" name="Shape 7"/>
          <p:cNvSpPr/>
          <p:nvPr/>
        </p:nvSpPr>
        <p:spPr>
          <a:xfrm>
            <a:off x="960120" y="1188720"/>
            <a:ext cx="7818120" cy="594360"/>
          </a:xfrm>
          <a:prstGeom prst="rect">
            <a:avLst/>
          </a:prstGeom>
          <a:solidFill>
            <a:srgbClr val="E3F2FD"/>
          </a:solidFill>
          <a:ln w="12700">
            <a:solidFill>
              <a:srgbClr val="0D47A1"/>
            </a:solidFill>
            <a:prstDash val="solid"/>
          </a:ln>
        </p:spPr>
      </p:sp>
      <p:sp>
        <p:nvSpPr>
          <p:cNvPr id="10" name="Text 8"/>
          <p:cNvSpPr/>
          <p:nvPr/>
        </p:nvSpPr>
        <p:spPr>
          <a:xfrm>
            <a:off x="1051560" y="1188720"/>
            <a:ext cx="1645920" cy="594360"/>
          </a:xfrm>
          <a:prstGeom prst="rect">
            <a:avLst/>
          </a:prstGeom>
          <a:noFill/>
          <a:ln/>
        </p:spPr>
        <p:txBody>
          <a:bodyPr wrap="square" rtlCol="0" anchor="ctr"/>
          <a:lstStyle/>
          <a:p>
            <a:pPr indent="0" marL="0">
              <a:buNone/>
            </a:pPr>
            <a:r>
              <a:rPr lang="en-US" sz="1200" b="1" dirty="0">
                <a:solidFill>
                  <a:srgbClr val="0D47A1"/>
                </a:solidFill>
              </a:rPr>
              <a:t>Inicialização: </a:t>
            </a:r>
            <a:endParaRPr lang="en-US" sz="1200" dirty="0"/>
          </a:p>
        </p:txBody>
      </p:sp>
      <p:sp>
        <p:nvSpPr>
          <p:cNvPr id="11" name="Text 9"/>
          <p:cNvSpPr/>
          <p:nvPr/>
        </p:nvSpPr>
        <p:spPr>
          <a:xfrm>
            <a:off x="2606040" y="1188720"/>
            <a:ext cx="6080760" cy="594360"/>
          </a:xfrm>
          <a:prstGeom prst="rect">
            <a:avLst/>
          </a:prstGeom>
          <a:noFill/>
          <a:ln/>
        </p:spPr>
        <p:txBody>
          <a:bodyPr wrap="square" rtlCol="0" anchor="ctr"/>
          <a:lstStyle/>
          <a:p>
            <a:pPr indent="0" marL="0">
              <a:buNone/>
            </a:pPr>
            <a:r>
              <a:rPr lang="en-US" sz="1200" dirty="0">
                <a:solidFill>
                  <a:srgbClr val="546E7A"/>
                </a:solidFill>
              </a:rPr>
              <a:t>O setup() configura o pino 7 como ENTRADA (sensor) e pino 8 como SAÍDA (motor). O motor começa desligado (LOW).</a:t>
            </a:r>
            <a:endParaRPr lang="en-US" sz="1200" dirty="0"/>
          </a:p>
        </p:txBody>
      </p:sp>
      <p:sp>
        <p:nvSpPr>
          <p:cNvPr id="12" name="Shape 10"/>
          <p:cNvSpPr/>
          <p:nvPr/>
        </p:nvSpPr>
        <p:spPr>
          <a:xfrm>
            <a:off x="365760" y="1938528"/>
            <a:ext cx="502920" cy="594360"/>
          </a:xfrm>
          <a:prstGeom prst="rect">
            <a:avLst/>
          </a:prstGeom>
          <a:solidFill>
            <a:srgbClr val="1976D2"/>
          </a:solidFill>
          <a:ln w="12700">
            <a:solidFill>
              <a:srgbClr val="1976D2"/>
            </a:solidFill>
            <a:prstDash val="solid"/>
          </a:ln>
        </p:spPr>
      </p:sp>
      <p:sp>
        <p:nvSpPr>
          <p:cNvPr id="13" name="Text 11"/>
          <p:cNvSpPr/>
          <p:nvPr/>
        </p:nvSpPr>
        <p:spPr>
          <a:xfrm>
            <a:off x="365760" y="1938528"/>
            <a:ext cx="502920" cy="59436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4" name="Shape 12"/>
          <p:cNvSpPr/>
          <p:nvPr/>
        </p:nvSpPr>
        <p:spPr>
          <a:xfrm>
            <a:off x="960120" y="1938528"/>
            <a:ext cx="7818120" cy="594360"/>
          </a:xfrm>
          <a:prstGeom prst="rect">
            <a:avLst/>
          </a:prstGeom>
          <a:solidFill>
            <a:srgbClr val="E3F2FD"/>
          </a:solidFill>
          <a:ln w="12700">
            <a:solidFill>
              <a:srgbClr val="1976D2"/>
            </a:solidFill>
            <a:prstDash val="solid"/>
          </a:ln>
        </p:spPr>
      </p:sp>
      <p:sp>
        <p:nvSpPr>
          <p:cNvPr id="15" name="Text 13"/>
          <p:cNvSpPr/>
          <p:nvPr/>
        </p:nvSpPr>
        <p:spPr>
          <a:xfrm>
            <a:off x="1051560" y="1938528"/>
            <a:ext cx="1645920" cy="594360"/>
          </a:xfrm>
          <a:prstGeom prst="rect">
            <a:avLst/>
          </a:prstGeom>
          <a:noFill/>
          <a:ln/>
        </p:spPr>
        <p:txBody>
          <a:bodyPr wrap="square" rtlCol="0" anchor="ctr"/>
          <a:lstStyle/>
          <a:p>
            <a:pPr indent="0" marL="0">
              <a:buNone/>
            </a:pPr>
            <a:r>
              <a:rPr lang="en-US" sz="1200" b="1" dirty="0">
                <a:solidFill>
                  <a:srgbClr val="1976D2"/>
                </a:solidFill>
              </a:rPr>
              <a:t>Leitura do sensor: </a:t>
            </a:r>
            <a:endParaRPr lang="en-US" sz="1200" dirty="0"/>
          </a:p>
        </p:txBody>
      </p:sp>
      <p:sp>
        <p:nvSpPr>
          <p:cNvPr id="16" name="Text 14"/>
          <p:cNvSpPr/>
          <p:nvPr/>
        </p:nvSpPr>
        <p:spPr>
          <a:xfrm>
            <a:off x="2606040" y="1938528"/>
            <a:ext cx="6080760" cy="594360"/>
          </a:xfrm>
          <a:prstGeom prst="rect">
            <a:avLst/>
          </a:prstGeom>
          <a:noFill/>
          <a:ln/>
        </p:spPr>
        <p:txBody>
          <a:bodyPr wrap="square" rtlCol="0" anchor="ctr"/>
          <a:lstStyle/>
          <a:p>
            <a:pPr indent="0" marL="0">
              <a:buNone/>
            </a:pPr>
            <a:r>
              <a:rPr lang="en-US" sz="1200" dirty="0">
                <a:solidFill>
                  <a:srgbClr val="546E7A"/>
                </a:solidFill>
              </a:rPr>
              <a:t>No loop(), o digitalRead(7) lê o estado do sensor IR. Quando não há peça → HIGH. Quando há peça → LOW.</a:t>
            </a:r>
            <a:endParaRPr lang="en-US" sz="1200" dirty="0"/>
          </a:p>
        </p:txBody>
      </p:sp>
      <p:sp>
        <p:nvSpPr>
          <p:cNvPr id="17" name="Shape 15"/>
          <p:cNvSpPr/>
          <p:nvPr/>
        </p:nvSpPr>
        <p:spPr>
          <a:xfrm>
            <a:off x="365760" y="2688336"/>
            <a:ext cx="502920" cy="594360"/>
          </a:xfrm>
          <a:prstGeom prst="rect">
            <a:avLst/>
          </a:prstGeom>
          <a:solidFill>
            <a:srgbClr val="2196F3"/>
          </a:solidFill>
          <a:ln w="12700">
            <a:solidFill>
              <a:srgbClr val="2196F3"/>
            </a:solidFill>
            <a:prstDash val="solid"/>
          </a:ln>
        </p:spPr>
      </p:sp>
      <p:sp>
        <p:nvSpPr>
          <p:cNvPr id="18" name="Text 16"/>
          <p:cNvSpPr/>
          <p:nvPr/>
        </p:nvSpPr>
        <p:spPr>
          <a:xfrm>
            <a:off x="365760" y="2688336"/>
            <a:ext cx="502920" cy="59436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19" name="Shape 17"/>
          <p:cNvSpPr/>
          <p:nvPr/>
        </p:nvSpPr>
        <p:spPr>
          <a:xfrm>
            <a:off x="960120" y="2688336"/>
            <a:ext cx="7818120" cy="594360"/>
          </a:xfrm>
          <a:prstGeom prst="rect">
            <a:avLst/>
          </a:prstGeom>
          <a:solidFill>
            <a:srgbClr val="E3F2FD"/>
          </a:solidFill>
          <a:ln w="12700">
            <a:solidFill>
              <a:srgbClr val="2196F3"/>
            </a:solidFill>
            <a:prstDash val="solid"/>
          </a:ln>
        </p:spPr>
      </p:sp>
      <p:sp>
        <p:nvSpPr>
          <p:cNvPr id="20" name="Text 18"/>
          <p:cNvSpPr/>
          <p:nvPr/>
        </p:nvSpPr>
        <p:spPr>
          <a:xfrm>
            <a:off x="1051560" y="2688336"/>
            <a:ext cx="1645920" cy="594360"/>
          </a:xfrm>
          <a:prstGeom prst="rect">
            <a:avLst/>
          </a:prstGeom>
          <a:noFill/>
          <a:ln/>
        </p:spPr>
        <p:txBody>
          <a:bodyPr wrap="square" rtlCol="0" anchor="ctr"/>
          <a:lstStyle/>
          <a:p>
            <a:pPr indent="0" marL="0">
              <a:buNone/>
            </a:pPr>
            <a:r>
              <a:rPr lang="en-US" sz="1200" b="1" dirty="0">
                <a:solidFill>
                  <a:srgbClr val="2196F3"/>
                </a:solidFill>
              </a:rPr>
              <a:t>Decisão com if: </a:t>
            </a:r>
            <a:endParaRPr lang="en-US" sz="1200" dirty="0"/>
          </a:p>
        </p:txBody>
      </p:sp>
      <p:sp>
        <p:nvSpPr>
          <p:cNvPr id="21" name="Text 19"/>
          <p:cNvSpPr/>
          <p:nvPr/>
        </p:nvSpPr>
        <p:spPr>
          <a:xfrm>
            <a:off x="2606040" y="2688336"/>
            <a:ext cx="6080760" cy="594360"/>
          </a:xfrm>
          <a:prstGeom prst="rect">
            <a:avLst/>
          </a:prstGeom>
          <a:noFill/>
          <a:ln/>
        </p:spPr>
        <p:txBody>
          <a:bodyPr wrap="square" rtlCol="0" anchor="ctr"/>
          <a:lstStyle/>
          <a:p>
            <a:pPr indent="0" marL="0">
              <a:buNone/>
            </a:pPr>
            <a:r>
              <a:rPr lang="en-US" sz="1200" dirty="0">
                <a:solidFill>
                  <a:srgbClr val="546E7A"/>
                </a:solidFill>
              </a:rPr>
              <a:t>Se leitura == LOW (peça detectada), o bloco if é executado, ativando o motor.</a:t>
            </a:r>
            <a:endParaRPr lang="en-US" sz="1200" dirty="0"/>
          </a:p>
        </p:txBody>
      </p:sp>
      <p:sp>
        <p:nvSpPr>
          <p:cNvPr id="22" name="Shape 20"/>
          <p:cNvSpPr/>
          <p:nvPr/>
        </p:nvSpPr>
        <p:spPr>
          <a:xfrm>
            <a:off x="365760" y="3438144"/>
            <a:ext cx="502920" cy="594360"/>
          </a:xfrm>
          <a:prstGeom prst="rect">
            <a:avLst/>
          </a:prstGeom>
          <a:solidFill>
            <a:srgbClr val="0288D1"/>
          </a:solidFill>
          <a:ln w="12700">
            <a:solidFill>
              <a:srgbClr val="0288D1"/>
            </a:solidFill>
            <a:prstDash val="solid"/>
          </a:ln>
        </p:spPr>
      </p:sp>
      <p:sp>
        <p:nvSpPr>
          <p:cNvPr id="23" name="Text 21"/>
          <p:cNvSpPr/>
          <p:nvPr/>
        </p:nvSpPr>
        <p:spPr>
          <a:xfrm>
            <a:off x="365760" y="3438144"/>
            <a:ext cx="502920" cy="594360"/>
          </a:xfrm>
          <a:prstGeom prst="rect">
            <a:avLst/>
          </a:prstGeom>
          <a:noFill/>
          <a:ln/>
        </p:spPr>
        <p:txBody>
          <a:bodyPr wrap="square" rtlCol="0" anchor="ctr"/>
          <a:lstStyle/>
          <a:p>
            <a:pPr algn="ctr" indent="0" marL="0">
              <a:buNone/>
            </a:pPr>
            <a:r>
              <a:rPr lang="en-US" sz="1800" b="1" dirty="0">
                <a:solidFill>
                  <a:srgbClr val="FFFFFF"/>
                </a:solidFill>
              </a:rPr>
              <a:t>4</a:t>
            </a:r>
            <a:endParaRPr lang="en-US" sz="1800" dirty="0"/>
          </a:p>
        </p:txBody>
      </p:sp>
      <p:sp>
        <p:nvSpPr>
          <p:cNvPr id="24" name="Shape 22"/>
          <p:cNvSpPr/>
          <p:nvPr/>
        </p:nvSpPr>
        <p:spPr>
          <a:xfrm>
            <a:off x="960120" y="3438144"/>
            <a:ext cx="7818120" cy="594360"/>
          </a:xfrm>
          <a:prstGeom prst="rect">
            <a:avLst/>
          </a:prstGeom>
          <a:solidFill>
            <a:srgbClr val="E3F2FD"/>
          </a:solidFill>
          <a:ln w="12700">
            <a:solidFill>
              <a:srgbClr val="0288D1"/>
            </a:solidFill>
            <a:prstDash val="solid"/>
          </a:ln>
        </p:spPr>
      </p:sp>
      <p:sp>
        <p:nvSpPr>
          <p:cNvPr id="25" name="Text 23"/>
          <p:cNvSpPr/>
          <p:nvPr/>
        </p:nvSpPr>
        <p:spPr>
          <a:xfrm>
            <a:off x="1051560" y="3438144"/>
            <a:ext cx="1645920" cy="594360"/>
          </a:xfrm>
          <a:prstGeom prst="rect">
            <a:avLst/>
          </a:prstGeom>
          <a:noFill/>
          <a:ln/>
        </p:spPr>
        <p:txBody>
          <a:bodyPr wrap="square" rtlCol="0" anchor="ctr"/>
          <a:lstStyle/>
          <a:p>
            <a:pPr indent="0" marL="0">
              <a:buNone/>
            </a:pPr>
            <a:r>
              <a:rPr lang="en-US" sz="1200" b="1" dirty="0">
                <a:solidFill>
                  <a:srgbClr val="0288D1"/>
                </a:solidFill>
              </a:rPr>
              <a:t>Acionamento do motor: </a:t>
            </a:r>
            <a:endParaRPr lang="en-US" sz="1200" dirty="0"/>
          </a:p>
        </p:txBody>
      </p:sp>
      <p:sp>
        <p:nvSpPr>
          <p:cNvPr id="26" name="Text 24"/>
          <p:cNvSpPr/>
          <p:nvPr/>
        </p:nvSpPr>
        <p:spPr>
          <a:xfrm>
            <a:off x="2606040" y="3438144"/>
            <a:ext cx="6080760" cy="594360"/>
          </a:xfrm>
          <a:prstGeom prst="rect">
            <a:avLst/>
          </a:prstGeom>
          <a:noFill/>
          <a:ln/>
        </p:spPr>
        <p:txBody>
          <a:bodyPr wrap="square" rtlCol="0" anchor="ctr"/>
          <a:lstStyle/>
          <a:p>
            <a:pPr indent="0" marL="0">
              <a:buNone/>
            </a:pPr>
            <a:r>
              <a:rPr lang="en-US" sz="1200" dirty="0">
                <a:solidFill>
                  <a:srgbClr val="546E7A"/>
                </a:solidFill>
              </a:rPr>
              <a:t>digitalWrite(8, HIGH) aciona o relé, ligando o motor da esteira por 3 segundos.</a:t>
            </a:r>
            <a:endParaRPr lang="en-US" sz="1200" dirty="0"/>
          </a:p>
        </p:txBody>
      </p:sp>
      <p:sp>
        <p:nvSpPr>
          <p:cNvPr id="27" name="Shape 25"/>
          <p:cNvSpPr/>
          <p:nvPr/>
        </p:nvSpPr>
        <p:spPr>
          <a:xfrm>
            <a:off x="365760" y="4187952"/>
            <a:ext cx="502920" cy="594360"/>
          </a:xfrm>
          <a:prstGeom prst="rect">
            <a:avLst/>
          </a:prstGeom>
          <a:solidFill>
            <a:srgbClr val="00979C"/>
          </a:solidFill>
          <a:ln w="12700">
            <a:solidFill>
              <a:srgbClr val="00979C"/>
            </a:solidFill>
            <a:prstDash val="solid"/>
          </a:ln>
        </p:spPr>
      </p:sp>
      <p:sp>
        <p:nvSpPr>
          <p:cNvPr id="28" name="Text 26"/>
          <p:cNvSpPr/>
          <p:nvPr/>
        </p:nvSpPr>
        <p:spPr>
          <a:xfrm>
            <a:off x="365760" y="4187952"/>
            <a:ext cx="502920" cy="594360"/>
          </a:xfrm>
          <a:prstGeom prst="rect">
            <a:avLst/>
          </a:prstGeom>
          <a:noFill/>
          <a:ln/>
        </p:spPr>
        <p:txBody>
          <a:bodyPr wrap="square" rtlCol="0" anchor="ctr"/>
          <a:lstStyle/>
          <a:p>
            <a:pPr algn="ctr" indent="0" marL="0">
              <a:buNone/>
            </a:pPr>
            <a:r>
              <a:rPr lang="en-US" sz="1800" b="1" dirty="0">
                <a:solidFill>
                  <a:srgbClr val="FFFFFF"/>
                </a:solidFill>
              </a:rPr>
              <a:t>5</a:t>
            </a:r>
            <a:endParaRPr lang="en-US" sz="1800" dirty="0"/>
          </a:p>
        </p:txBody>
      </p:sp>
      <p:sp>
        <p:nvSpPr>
          <p:cNvPr id="29" name="Shape 27"/>
          <p:cNvSpPr/>
          <p:nvPr/>
        </p:nvSpPr>
        <p:spPr>
          <a:xfrm>
            <a:off x="960120" y="4187952"/>
            <a:ext cx="7818120" cy="594360"/>
          </a:xfrm>
          <a:prstGeom prst="rect">
            <a:avLst/>
          </a:prstGeom>
          <a:solidFill>
            <a:srgbClr val="E3F2FD"/>
          </a:solidFill>
          <a:ln w="12700">
            <a:solidFill>
              <a:srgbClr val="00979C"/>
            </a:solidFill>
            <a:prstDash val="solid"/>
          </a:ln>
        </p:spPr>
      </p:sp>
      <p:sp>
        <p:nvSpPr>
          <p:cNvPr id="30" name="Text 28"/>
          <p:cNvSpPr/>
          <p:nvPr/>
        </p:nvSpPr>
        <p:spPr>
          <a:xfrm>
            <a:off x="1051560" y="4187952"/>
            <a:ext cx="1645920" cy="594360"/>
          </a:xfrm>
          <a:prstGeom prst="rect">
            <a:avLst/>
          </a:prstGeom>
          <a:noFill/>
          <a:ln/>
        </p:spPr>
        <p:txBody>
          <a:bodyPr wrap="square" rtlCol="0" anchor="ctr"/>
          <a:lstStyle/>
          <a:p>
            <a:pPr indent="0" marL="0">
              <a:buNone/>
            </a:pPr>
            <a:r>
              <a:rPr lang="en-US" sz="1200" b="1" dirty="0">
                <a:solidFill>
                  <a:srgbClr val="00979C"/>
                </a:solidFill>
              </a:rPr>
              <a:t>Desligamento automático: </a:t>
            </a:r>
            <a:endParaRPr lang="en-US" sz="1200" dirty="0"/>
          </a:p>
        </p:txBody>
      </p:sp>
      <p:sp>
        <p:nvSpPr>
          <p:cNvPr id="31" name="Text 29"/>
          <p:cNvSpPr/>
          <p:nvPr/>
        </p:nvSpPr>
        <p:spPr>
          <a:xfrm>
            <a:off x="2606040" y="4187952"/>
            <a:ext cx="6080760" cy="594360"/>
          </a:xfrm>
          <a:prstGeom prst="rect">
            <a:avLst/>
          </a:prstGeom>
          <a:noFill/>
          <a:ln/>
        </p:spPr>
        <p:txBody>
          <a:bodyPr wrap="square" rtlCol="0" anchor="ctr"/>
          <a:lstStyle/>
          <a:p>
            <a:pPr indent="0" marL="0">
              <a:buNone/>
            </a:pPr>
            <a:r>
              <a:rPr lang="en-US" sz="1200" dirty="0">
                <a:solidFill>
                  <a:srgbClr val="546E7A"/>
                </a:solidFill>
              </a:rPr>
              <a:t>Após delay(3000), o motor desliga e o loop recomeça, pronto para a próxima peça.</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47A1"/>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57F17"/>
          </a:solidFill>
          <a:ln w="12700">
            <a:solidFill>
              <a:srgbClr val="F57F17"/>
            </a:solidFill>
            <a:prstDash val="solid"/>
          </a:ln>
        </p:spPr>
      </p:sp>
      <p:sp>
        <p:nvSpPr>
          <p:cNvPr id="3" name="Shape 1"/>
          <p:cNvSpPr/>
          <p:nvPr/>
        </p:nvSpPr>
        <p:spPr>
          <a:xfrm>
            <a:off x="0" y="3657600"/>
            <a:ext cx="9144000" cy="1485900"/>
          </a:xfrm>
          <a:prstGeom prst="rect">
            <a:avLst/>
          </a:prstGeom>
          <a:solidFill>
            <a:srgbClr val="0A3A7A"/>
          </a:solidFill>
          <a:ln w="12700">
            <a:solidFill>
              <a:srgbClr val="0A3A7A"/>
            </a:solidFill>
            <a:prstDash val="solid"/>
          </a:ln>
        </p:spPr>
      </p:sp>
      <p:sp>
        <p:nvSpPr>
          <p:cNvPr id="4" name="Text 2"/>
          <p:cNvSpPr/>
          <p:nvPr/>
        </p:nvSpPr>
        <p:spPr>
          <a:xfrm>
            <a:off x="822960" y="457200"/>
            <a:ext cx="8229600" cy="502920"/>
          </a:xfrm>
          <a:prstGeom prst="rect">
            <a:avLst/>
          </a:prstGeom>
          <a:noFill/>
          <a:ln/>
        </p:spPr>
        <p:txBody>
          <a:bodyPr wrap="square" rtlCol="0" anchor="ctr"/>
          <a:lstStyle/>
          <a:p>
            <a:pPr indent="0" marL="0">
              <a:buNone/>
            </a:pPr>
            <a:r>
              <a:rPr lang="en-US" sz="1600" i="1" dirty="0">
                <a:solidFill>
                  <a:srgbClr val="FFCC02"/>
                </a:solidFill>
              </a:rPr>
              <a:t>Situação de Aprendizagem 2</a:t>
            </a:r>
            <a:endParaRPr lang="en-US" sz="1600" dirty="0"/>
          </a:p>
        </p:txBody>
      </p:sp>
      <p:sp>
        <p:nvSpPr>
          <p:cNvPr id="5" name="Text 3"/>
          <p:cNvSpPr/>
          <p:nvPr/>
        </p:nvSpPr>
        <p:spPr>
          <a:xfrm>
            <a:off x="822960" y="1005840"/>
            <a:ext cx="8229600" cy="1371600"/>
          </a:xfrm>
          <a:prstGeom prst="rect">
            <a:avLst/>
          </a:prstGeom>
          <a:noFill/>
          <a:ln/>
        </p:spPr>
        <p:txBody>
          <a:bodyPr wrap="square" rtlCol="0" anchor="ctr"/>
          <a:lstStyle/>
          <a:p>
            <a:pPr indent="0" marL="0">
              <a:buNone/>
            </a:pPr>
            <a:r>
              <a:rPr lang="en-US" sz="3800" b="1" dirty="0">
                <a:solidFill>
                  <a:srgbClr val="FFFFFF"/>
                </a:solidFill>
              </a:rPr>
              <a:t>Alarme de</a:t>
            </a:r>
            <a:endParaRPr lang="en-US" sz="3800" dirty="0"/>
          </a:p>
          <a:p>
            <a:pPr indent="0" marL="0">
              <a:buNone/>
            </a:pPr>
            <a:r>
              <a:rPr lang="en-US" sz="3800" b="1" dirty="0">
                <a:solidFill>
                  <a:srgbClr val="FFFFFF"/>
                </a:solidFill>
              </a:rPr>
              <a:t>Temperatura Industrial</a:t>
            </a:r>
            <a:endParaRPr lang="en-US" sz="3800" dirty="0"/>
          </a:p>
        </p:txBody>
      </p:sp>
      <p:sp>
        <p:nvSpPr>
          <p:cNvPr id="6" name="Text 4"/>
          <p:cNvSpPr/>
          <p:nvPr/>
        </p:nvSpPr>
        <p:spPr>
          <a:xfrm>
            <a:off x="822960" y="2468880"/>
            <a:ext cx="7772400" cy="548640"/>
          </a:xfrm>
          <a:prstGeom prst="rect">
            <a:avLst/>
          </a:prstGeom>
          <a:noFill/>
          <a:ln/>
        </p:spPr>
        <p:txBody>
          <a:bodyPr wrap="square" rtlCol="0" anchor="ctr"/>
          <a:lstStyle/>
          <a:p>
            <a:pPr indent="0" marL="0">
              <a:buNone/>
            </a:pPr>
            <a:r>
              <a:rPr lang="en-US" sz="1600" dirty="0">
                <a:solidFill>
                  <a:srgbClr val="90CAF9"/>
                </a:solidFill>
              </a:rPr>
              <a:t>Monitoramento de temperatura com ativação de alarme sonoro</a:t>
            </a:r>
            <a:endParaRPr lang="en-US" sz="1600" dirty="0"/>
          </a:p>
        </p:txBody>
      </p:sp>
      <p:sp>
        <p:nvSpPr>
          <p:cNvPr id="7" name="Shape 5"/>
          <p:cNvSpPr/>
          <p:nvPr/>
        </p:nvSpPr>
        <p:spPr>
          <a:xfrm>
            <a:off x="822960" y="3108960"/>
            <a:ext cx="2560320" cy="411480"/>
          </a:xfrm>
          <a:prstGeom prst="rect">
            <a:avLst/>
          </a:prstGeom>
          <a:solidFill>
            <a:srgbClr val="F57F17"/>
          </a:solidFill>
          <a:ln w="12700">
            <a:solidFill>
              <a:srgbClr val="F57F17"/>
            </a:solidFill>
            <a:prstDash val="solid"/>
          </a:ln>
        </p:spPr>
      </p:sp>
      <p:sp>
        <p:nvSpPr>
          <p:cNvPr id="8" name="Text 6"/>
          <p:cNvSpPr/>
          <p:nvPr/>
        </p:nvSpPr>
        <p:spPr>
          <a:xfrm>
            <a:off x="822960" y="3108960"/>
            <a:ext cx="2560320" cy="411480"/>
          </a:xfrm>
          <a:prstGeom prst="rect">
            <a:avLst/>
          </a:prstGeom>
          <a:noFill/>
          <a:ln/>
        </p:spPr>
        <p:txBody>
          <a:bodyPr wrap="square" rtlCol="0" anchor="ctr"/>
          <a:lstStyle/>
          <a:p>
            <a:pPr algn="ctr" indent="0" marL="0">
              <a:buNone/>
            </a:pPr>
            <a:r>
              <a:rPr lang="en-US" sz="1100" b="1" dirty="0">
                <a:solidFill>
                  <a:srgbClr val="FFFFFF"/>
                </a:solidFill>
              </a:rPr>
              <a:t>🎓 DESAFIO DOS ALUNOS</a:t>
            </a:r>
            <a:endParaRPr lang="en-US" sz="1100" dirty="0"/>
          </a:p>
        </p:txBody>
      </p:sp>
      <p:sp>
        <p:nvSpPr>
          <p:cNvPr id="9" name="Text 7"/>
          <p:cNvSpPr/>
          <p:nvPr/>
        </p:nvSpPr>
        <p:spPr>
          <a:xfrm>
            <a:off x="822960" y="3840480"/>
            <a:ext cx="8229600" cy="365760"/>
          </a:xfrm>
          <a:prstGeom prst="rect">
            <a:avLst/>
          </a:prstGeom>
          <a:noFill/>
          <a:ln/>
        </p:spPr>
        <p:txBody>
          <a:bodyPr wrap="square" rtlCol="0" anchor="ctr"/>
          <a:lstStyle/>
          <a:p>
            <a:pPr indent="0" marL="0">
              <a:buNone/>
            </a:pPr>
            <a:r>
              <a:rPr lang="en-US" sz="1200" dirty="0">
                <a:solidFill>
                  <a:srgbClr val="90CAF9"/>
                </a:solidFill>
              </a:rPr>
              <a:t>Internet das Coisas  |  Prof. Mizael Carlos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SA2 — Contexto: Alarme de Temperatura</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1005840"/>
          </a:xfrm>
          <a:prstGeom prst="rect">
            <a:avLst/>
          </a:prstGeom>
          <a:solidFill>
            <a:srgbClr val="FFF3E0"/>
          </a:solidFill>
          <a:ln w="12700">
            <a:solidFill>
              <a:srgbClr val="FF9800"/>
            </a:solidFill>
            <a:prstDash val="solid"/>
          </a:ln>
        </p:spPr>
      </p:sp>
      <p:sp>
        <p:nvSpPr>
          <p:cNvPr id="8" name="Text 6"/>
          <p:cNvSpPr/>
          <p:nvPr/>
        </p:nvSpPr>
        <p:spPr>
          <a:xfrm>
            <a:off x="502920" y="1188720"/>
            <a:ext cx="2743200" cy="320040"/>
          </a:xfrm>
          <a:prstGeom prst="rect">
            <a:avLst/>
          </a:prstGeom>
          <a:noFill/>
          <a:ln/>
        </p:spPr>
        <p:txBody>
          <a:bodyPr wrap="square" rtlCol="0" anchor="ctr"/>
          <a:lstStyle/>
          <a:p>
            <a:pPr indent="0" marL="0">
              <a:buNone/>
            </a:pPr>
            <a:r>
              <a:rPr lang="en-US" sz="1300" b="1" dirty="0">
                <a:solidFill>
                  <a:srgbClr val="E65100"/>
                </a:solidFill>
              </a:rPr>
              <a:t>📌 Situação-Problema</a:t>
            </a:r>
            <a:endParaRPr lang="en-US" sz="1300" dirty="0"/>
          </a:p>
        </p:txBody>
      </p:sp>
      <p:sp>
        <p:nvSpPr>
          <p:cNvPr id="9" name="Text 7"/>
          <p:cNvSpPr/>
          <p:nvPr/>
        </p:nvSpPr>
        <p:spPr>
          <a:xfrm>
            <a:off x="502920" y="1481328"/>
            <a:ext cx="8138160" cy="548640"/>
          </a:xfrm>
          <a:prstGeom prst="rect">
            <a:avLst/>
          </a:prstGeom>
          <a:noFill/>
          <a:ln/>
        </p:spPr>
        <p:txBody>
          <a:bodyPr wrap="square" rtlCol="0" anchor="ctr"/>
          <a:lstStyle/>
          <a:p>
            <a:pPr indent="0" marL="0">
              <a:buNone/>
            </a:pPr>
            <a:r>
              <a:rPr lang="en-US" sz="1200" dirty="0">
                <a:solidFill>
                  <a:srgbClr val="5D4037"/>
                </a:solidFill>
              </a:rPr>
              <a:t>Uma máquina industrial não pode operar acima de 40°C. Quando a temperatura ultrapassar esse limite, um alarme (buzzer) deve soar e um LED vermelho deve acender indicando perigo.</a:t>
            </a:r>
            <a:endParaRPr lang="en-US" sz="1200" dirty="0"/>
          </a:p>
        </p:txBody>
      </p:sp>
      <p:sp>
        <p:nvSpPr>
          <p:cNvPr id="10" name="Shape 8"/>
          <p:cNvSpPr/>
          <p:nvPr/>
        </p:nvSpPr>
        <p:spPr>
          <a:xfrm>
            <a:off x="365760" y="2331720"/>
            <a:ext cx="8412480" cy="777240"/>
          </a:xfrm>
          <a:prstGeom prst="rect">
            <a:avLst/>
          </a:prstGeom>
          <a:solidFill>
            <a:srgbClr val="E3F2FD"/>
          </a:solidFill>
          <a:ln w="12700">
            <a:solidFill>
              <a:srgbClr val="2196F3"/>
            </a:solidFill>
            <a:prstDash val="solid"/>
          </a:ln>
        </p:spPr>
      </p:sp>
      <p:sp>
        <p:nvSpPr>
          <p:cNvPr id="11" name="Text 9"/>
          <p:cNvSpPr/>
          <p:nvPr/>
        </p:nvSpPr>
        <p:spPr>
          <a:xfrm>
            <a:off x="502920" y="2331720"/>
            <a:ext cx="2560320" cy="777240"/>
          </a:xfrm>
          <a:prstGeom prst="rect">
            <a:avLst/>
          </a:prstGeom>
          <a:noFill/>
          <a:ln/>
        </p:spPr>
        <p:txBody>
          <a:bodyPr wrap="square" rtlCol="0" anchor="ctr"/>
          <a:lstStyle/>
          <a:p>
            <a:pPr indent="0" marL="0">
              <a:buNone/>
            </a:pPr>
            <a:r>
              <a:rPr lang="en-US" sz="1200" b="1" dirty="0">
                <a:solidFill>
                  <a:srgbClr val="0D47A1"/>
                </a:solidFill>
              </a:rPr>
              <a:t>🔧 Componentes necessários:</a:t>
            </a:r>
            <a:endParaRPr lang="en-US" sz="1200" dirty="0"/>
          </a:p>
        </p:txBody>
      </p:sp>
      <p:sp>
        <p:nvSpPr>
          <p:cNvPr id="12" name="Text 10"/>
          <p:cNvSpPr/>
          <p:nvPr/>
        </p:nvSpPr>
        <p:spPr>
          <a:xfrm>
            <a:off x="3154680" y="2331720"/>
            <a:ext cx="5440680" cy="777240"/>
          </a:xfrm>
          <a:prstGeom prst="rect">
            <a:avLst/>
          </a:prstGeom>
          <a:noFill/>
          <a:ln/>
        </p:spPr>
        <p:txBody>
          <a:bodyPr wrap="square" rtlCol="0" anchor="ctr"/>
          <a:lstStyle/>
          <a:p>
            <a:pPr indent="0" marL="0">
              <a:buNone/>
            </a:pPr>
            <a:r>
              <a:rPr lang="en-US" sz="1200" dirty="0">
                <a:solidFill>
                  <a:srgbClr val="546E7A"/>
                </a:solidFill>
              </a:rPr>
              <a:t>Arduino Uno, Sensor NTC (ou LM35), Buzzer passivo, LED vermelho, resistores 220Ω e 10kΩ</a:t>
            </a:r>
            <a:endParaRPr lang="en-US" sz="1200" dirty="0"/>
          </a:p>
        </p:txBody>
      </p:sp>
      <p:sp>
        <p:nvSpPr>
          <p:cNvPr id="13" name="Shape 11"/>
          <p:cNvSpPr/>
          <p:nvPr/>
        </p:nvSpPr>
        <p:spPr>
          <a:xfrm>
            <a:off x="365760" y="3246120"/>
            <a:ext cx="8412480" cy="777240"/>
          </a:xfrm>
          <a:prstGeom prst="rect">
            <a:avLst/>
          </a:prstGeom>
          <a:solidFill>
            <a:srgbClr val="F5F5F5"/>
          </a:solidFill>
          <a:ln w="12700">
            <a:solidFill>
              <a:srgbClr val="2196F3"/>
            </a:solidFill>
            <a:prstDash val="solid"/>
          </a:ln>
        </p:spPr>
      </p:sp>
      <p:sp>
        <p:nvSpPr>
          <p:cNvPr id="14" name="Text 12"/>
          <p:cNvSpPr/>
          <p:nvPr/>
        </p:nvSpPr>
        <p:spPr>
          <a:xfrm>
            <a:off x="502920" y="3246120"/>
            <a:ext cx="2560320" cy="777240"/>
          </a:xfrm>
          <a:prstGeom prst="rect">
            <a:avLst/>
          </a:prstGeom>
          <a:noFill/>
          <a:ln/>
        </p:spPr>
        <p:txBody>
          <a:bodyPr wrap="square" rtlCol="0" anchor="ctr"/>
          <a:lstStyle/>
          <a:p>
            <a:pPr indent="0" marL="0">
              <a:buNone/>
            </a:pPr>
            <a:r>
              <a:rPr lang="en-US" sz="1200" b="1" dirty="0">
                <a:solidFill>
                  <a:srgbClr val="0D47A1"/>
                </a:solidFill>
              </a:rPr>
              <a:t>📐 Pinos a utilizar:</a:t>
            </a:r>
            <a:endParaRPr lang="en-US" sz="1200" dirty="0"/>
          </a:p>
        </p:txBody>
      </p:sp>
      <p:sp>
        <p:nvSpPr>
          <p:cNvPr id="15" name="Text 13"/>
          <p:cNvSpPr/>
          <p:nvPr/>
        </p:nvSpPr>
        <p:spPr>
          <a:xfrm>
            <a:off x="3154680" y="3246120"/>
            <a:ext cx="5440680" cy="777240"/>
          </a:xfrm>
          <a:prstGeom prst="rect">
            <a:avLst/>
          </a:prstGeom>
          <a:noFill/>
          <a:ln/>
        </p:spPr>
        <p:txBody>
          <a:bodyPr wrap="square" rtlCol="0" anchor="ctr"/>
          <a:lstStyle/>
          <a:p>
            <a:pPr indent="0" marL="0">
              <a:buNone/>
            </a:pPr>
            <a:r>
              <a:rPr lang="en-US" sz="1200" dirty="0">
                <a:solidFill>
                  <a:srgbClr val="546E7A"/>
                </a:solidFill>
              </a:rPr>
              <a:t>Pino A0 → Sensor de temperatura  |  Pino 9 → Buzzer  |  Pino 10 → LED vermelho</a:t>
            </a:r>
            <a:endParaRPr lang="en-US" sz="1200" dirty="0"/>
          </a:p>
        </p:txBody>
      </p:sp>
      <p:sp>
        <p:nvSpPr>
          <p:cNvPr id="16" name="Shape 14"/>
          <p:cNvSpPr/>
          <p:nvPr/>
        </p:nvSpPr>
        <p:spPr>
          <a:xfrm>
            <a:off x="365760" y="4160520"/>
            <a:ext cx="8412480" cy="777240"/>
          </a:xfrm>
          <a:prstGeom prst="rect">
            <a:avLst/>
          </a:prstGeom>
          <a:solidFill>
            <a:srgbClr val="E3F2FD"/>
          </a:solidFill>
          <a:ln w="12700">
            <a:solidFill>
              <a:srgbClr val="2196F3"/>
            </a:solidFill>
            <a:prstDash val="solid"/>
          </a:ln>
        </p:spPr>
      </p:sp>
      <p:sp>
        <p:nvSpPr>
          <p:cNvPr id="17" name="Text 15"/>
          <p:cNvSpPr/>
          <p:nvPr/>
        </p:nvSpPr>
        <p:spPr>
          <a:xfrm>
            <a:off x="502920" y="4160520"/>
            <a:ext cx="2560320" cy="777240"/>
          </a:xfrm>
          <a:prstGeom prst="rect">
            <a:avLst/>
          </a:prstGeom>
          <a:noFill/>
          <a:ln/>
        </p:spPr>
        <p:txBody>
          <a:bodyPr wrap="square" rtlCol="0" anchor="ctr"/>
          <a:lstStyle/>
          <a:p>
            <a:pPr indent="0" marL="0">
              <a:buNone/>
            </a:pPr>
            <a:r>
              <a:rPr lang="en-US" sz="1200" b="1" dirty="0">
                <a:solidFill>
                  <a:srgbClr val="0D47A1"/>
                </a:solidFill>
              </a:rPr>
              <a:t>🎯 Objetivo do desafio:</a:t>
            </a:r>
            <a:endParaRPr lang="en-US" sz="1200" dirty="0"/>
          </a:p>
        </p:txBody>
      </p:sp>
      <p:sp>
        <p:nvSpPr>
          <p:cNvPr id="18" name="Text 16"/>
          <p:cNvSpPr/>
          <p:nvPr/>
        </p:nvSpPr>
        <p:spPr>
          <a:xfrm>
            <a:off x="3154680" y="4160520"/>
            <a:ext cx="5440680" cy="777240"/>
          </a:xfrm>
          <a:prstGeom prst="rect">
            <a:avLst/>
          </a:prstGeom>
          <a:noFill/>
          <a:ln/>
        </p:spPr>
        <p:txBody>
          <a:bodyPr wrap="square" rtlCol="0" anchor="ctr"/>
          <a:lstStyle/>
          <a:p>
            <a:pPr indent="0" marL="0">
              <a:buNone/>
            </a:pPr>
            <a:r>
              <a:rPr lang="en-US" sz="1200" dirty="0">
                <a:solidFill>
                  <a:srgbClr val="546E7A"/>
                </a:solidFill>
              </a:rPr>
              <a:t>Ler a temperatura no pino analógico e acionar buzzer + LED quando temperatura &gt; 40°C</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SA2 — Roteiro para Resolver o Desafio</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Text 5"/>
          <p:cNvSpPr/>
          <p:nvPr/>
        </p:nvSpPr>
        <p:spPr>
          <a:xfrm>
            <a:off x="365760" y="1143000"/>
            <a:ext cx="8412480" cy="457200"/>
          </a:xfrm>
          <a:prstGeom prst="rect">
            <a:avLst/>
          </a:prstGeom>
          <a:noFill/>
          <a:ln/>
        </p:spPr>
        <p:txBody>
          <a:bodyPr wrap="square" rtlCol="0" anchor="ctr"/>
          <a:lstStyle/>
          <a:p>
            <a:pPr indent="0" marL="0">
              <a:buNone/>
            </a:pPr>
            <a:r>
              <a:rPr lang="en-US" sz="1300" i="1" dirty="0">
                <a:solidFill>
                  <a:srgbClr val="1565C0"/>
                </a:solidFill>
              </a:rPr>
              <a:t>Use as dicas abaixo para montar seu código. Lembre-se: não existe resposta errada — experimente!</a:t>
            </a:r>
            <a:endParaRPr lang="en-US" sz="1300" dirty="0"/>
          </a:p>
        </p:txBody>
      </p:sp>
      <p:sp>
        <p:nvSpPr>
          <p:cNvPr id="8" name="Shape 6"/>
          <p:cNvSpPr/>
          <p:nvPr/>
        </p:nvSpPr>
        <p:spPr>
          <a:xfrm>
            <a:off x="365760" y="1737360"/>
            <a:ext cx="502920" cy="530352"/>
          </a:xfrm>
          <a:prstGeom prst="rect">
            <a:avLst/>
          </a:prstGeom>
          <a:solidFill>
            <a:srgbClr val="F57F17"/>
          </a:solidFill>
          <a:ln w="12700">
            <a:solidFill>
              <a:srgbClr val="F57F17"/>
            </a:solidFill>
            <a:prstDash val="solid"/>
          </a:ln>
        </p:spPr>
      </p:sp>
      <p:sp>
        <p:nvSpPr>
          <p:cNvPr id="9" name="Text 7"/>
          <p:cNvSpPr/>
          <p:nvPr/>
        </p:nvSpPr>
        <p:spPr>
          <a:xfrm>
            <a:off x="365760" y="1737360"/>
            <a:ext cx="502920" cy="530352"/>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10" name="Shape 8"/>
          <p:cNvSpPr/>
          <p:nvPr/>
        </p:nvSpPr>
        <p:spPr>
          <a:xfrm>
            <a:off x="960120" y="1737360"/>
            <a:ext cx="7818120" cy="530352"/>
          </a:xfrm>
          <a:prstGeom prst="rect">
            <a:avLst/>
          </a:prstGeom>
          <a:solidFill>
            <a:srgbClr val="FFF8E1"/>
          </a:solidFill>
          <a:ln w="12700">
            <a:solidFill>
              <a:srgbClr val="FFB300"/>
            </a:solidFill>
            <a:prstDash val="solid"/>
          </a:ln>
        </p:spPr>
      </p:sp>
      <p:sp>
        <p:nvSpPr>
          <p:cNvPr id="11" name="Text 9"/>
          <p:cNvSpPr/>
          <p:nvPr/>
        </p:nvSpPr>
        <p:spPr>
          <a:xfrm>
            <a:off x="1051560" y="1737360"/>
            <a:ext cx="2011680" cy="530352"/>
          </a:xfrm>
          <a:prstGeom prst="rect">
            <a:avLst/>
          </a:prstGeom>
          <a:noFill/>
          <a:ln/>
        </p:spPr>
        <p:txBody>
          <a:bodyPr wrap="square" rtlCol="0" anchor="ctr"/>
          <a:lstStyle/>
          <a:p>
            <a:pPr indent="0" marL="0">
              <a:buNone/>
            </a:pPr>
            <a:r>
              <a:rPr lang="en-US" sz="1200" b="1" dirty="0">
                <a:solidFill>
                  <a:srgbClr val="E65100"/>
                </a:solidFill>
              </a:rPr>
              <a:t>Declare as constantes: </a:t>
            </a:r>
            <a:endParaRPr lang="en-US" sz="1200" dirty="0"/>
          </a:p>
        </p:txBody>
      </p:sp>
      <p:sp>
        <p:nvSpPr>
          <p:cNvPr id="12" name="Text 10"/>
          <p:cNvSpPr/>
          <p:nvPr/>
        </p:nvSpPr>
        <p:spPr>
          <a:xfrm>
            <a:off x="3017520" y="1737360"/>
            <a:ext cx="5669280" cy="530352"/>
          </a:xfrm>
          <a:prstGeom prst="rect">
            <a:avLst/>
          </a:prstGeom>
          <a:noFill/>
          <a:ln/>
        </p:spPr>
        <p:txBody>
          <a:bodyPr wrap="square" rtlCol="0" anchor="ctr"/>
          <a:lstStyle/>
          <a:p>
            <a:pPr indent="0" marL="0">
              <a:buNone/>
            </a:pPr>
            <a:r>
              <a:rPr lang="en-US" sz="1200" dirty="0">
                <a:solidFill>
                  <a:srgbClr val="546E7A"/>
                </a:solidFill>
              </a:rPr>
              <a:t>Defina pinoSensor (A0), pinoBuzzer (9) e pinoLED (10) com const int.</a:t>
            </a:r>
            <a:endParaRPr lang="en-US" sz="1200" dirty="0"/>
          </a:p>
        </p:txBody>
      </p:sp>
      <p:sp>
        <p:nvSpPr>
          <p:cNvPr id="13" name="Shape 11"/>
          <p:cNvSpPr/>
          <p:nvPr/>
        </p:nvSpPr>
        <p:spPr>
          <a:xfrm>
            <a:off x="365760" y="2377440"/>
            <a:ext cx="502920" cy="530352"/>
          </a:xfrm>
          <a:prstGeom prst="rect">
            <a:avLst/>
          </a:prstGeom>
          <a:solidFill>
            <a:srgbClr val="F57F17"/>
          </a:solidFill>
          <a:ln w="12700">
            <a:solidFill>
              <a:srgbClr val="F57F17"/>
            </a:solidFill>
            <a:prstDash val="solid"/>
          </a:ln>
        </p:spPr>
      </p:sp>
      <p:sp>
        <p:nvSpPr>
          <p:cNvPr id="14" name="Text 12"/>
          <p:cNvSpPr/>
          <p:nvPr/>
        </p:nvSpPr>
        <p:spPr>
          <a:xfrm>
            <a:off x="365760" y="2377440"/>
            <a:ext cx="502920" cy="530352"/>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5" name="Shape 13"/>
          <p:cNvSpPr/>
          <p:nvPr/>
        </p:nvSpPr>
        <p:spPr>
          <a:xfrm>
            <a:off x="960120" y="2377440"/>
            <a:ext cx="7818120" cy="530352"/>
          </a:xfrm>
          <a:prstGeom prst="rect">
            <a:avLst/>
          </a:prstGeom>
          <a:solidFill>
            <a:srgbClr val="FFF8E1"/>
          </a:solidFill>
          <a:ln w="12700">
            <a:solidFill>
              <a:srgbClr val="FFB300"/>
            </a:solidFill>
            <a:prstDash val="solid"/>
          </a:ln>
        </p:spPr>
      </p:sp>
      <p:sp>
        <p:nvSpPr>
          <p:cNvPr id="16" name="Text 14"/>
          <p:cNvSpPr/>
          <p:nvPr/>
        </p:nvSpPr>
        <p:spPr>
          <a:xfrm>
            <a:off x="1051560" y="2377440"/>
            <a:ext cx="2011680" cy="530352"/>
          </a:xfrm>
          <a:prstGeom prst="rect">
            <a:avLst/>
          </a:prstGeom>
          <a:noFill/>
          <a:ln/>
        </p:spPr>
        <p:txBody>
          <a:bodyPr wrap="square" rtlCol="0" anchor="ctr"/>
          <a:lstStyle/>
          <a:p>
            <a:pPr indent="0" marL="0">
              <a:buNone/>
            </a:pPr>
            <a:r>
              <a:rPr lang="en-US" sz="1200" b="1" dirty="0">
                <a:solidFill>
                  <a:srgbClr val="E65100"/>
                </a:solidFill>
              </a:rPr>
              <a:t>Configure o setup(): </a:t>
            </a:r>
            <a:endParaRPr lang="en-US" sz="1200" dirty="0"/>
          </a:p>
        </p:txBody>
      </p:sp>
      <p:sp>
        <p:nvSpPr>
          <p:cNvPr id="17" name="Text 15"/>
          <p:cNvSpPr/>
          <p:nvPr/>
        </p:nvSpPr>
        <p:spPr>
          <a:xfrm>
            <a:off x="3017520" y="2377440"/>
            <a:ext cx="5669280" cy="530352"/>
          </a:xfrm>
          <a:prstGeom prst="rect">
            <a:avLst/>
          </a:prstGeom>
          <a:noFill/>
          <a:ln/>
        </p:spPr>
        <p:txBody>
          <a:bodyPr wrap="square" rtlCol="0" anchor="ctr"/>
          <a:lstStyle/>
          <a:p>
            <a:pPr indent="0" marL="0">
              <a:buNone/>
            </a:pPr>
            <a:r>
              <a:rPr lang="en-US" sz="1200" dirty="0">
                <a:solidFill>
                  <a:srgbClr val="546E7A"/>
                </a:solidFill>
              </a:rPr>
              <a:t>Defina buzzer e LED como OUTPUT. O sensor analógico não precisa de pinMode.</a:t>
            </a:r>
            <a:endParaRPr lang="en-US" sz="1200" dirty="0"/>
          </a:p>
        </p:txBody>
      </p:sp>
      <p:sp>
        <p:nvSpPr>
          <p:cNvPr id="18" name="Shape 16"/>
          <p:cNvSpPr/>
          <p:nvPr/>
        </p:nvSpPr>
        <p:spPr>
          <a:xfrm>
            <a:off x="365760" y="3017520"/>
            <a:ext cx="502920" cy="530352"/>
          </a:xfrm>
          <a:prstGeom prst="rect">
            <a:avLst/>
          </a:prstGeom>
          <a:solidFill>
            <a:srgbClr val="F57F17"/>
          </a:solidFill>
          <a:ln w="12700">
            <a:solidFill>
              <a:srgbClr val="F57F17"/>
            </a:solidFill>
            <a:prstDash val="solid"/>
          </a:ln>
        </p:spPr>
      </p:sp>
      <p:sp>
        <p:nvSpPr>
          <p:cNvPr id="19" name="Text 17"/>
          <p:cNvSpPr/>
          <p:nvPr/>
        </p:nvSpPr>
        <p:spPr>
          <a:xfrm>
            <a:off x="365760" y="3017520"/>
            <a:ext cx="502920" cy="530352"/>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0" name="Shape 18"/>
          <p:cNvSpPr/>
          <p:nvPr/>
        </p:nvSpPr>
        <p:spPr>
          <a:xfrm>
            <a:off x="960120" y="3017520"/>
            <a:ext cx="7818120" cy="530352"/>
          </a:xfrm>
          <a:prstGeom prst="rect">
            <a:avLst/>
          </a:prstGeom>
          <a:solidFill>
            <a:srgbClr val="FFF8E1"/>
          </a:solidFill>
          <a:ln w="12700">
            <a:solidFill>
              <a:srgbClr val="FFB300"/>
            </a:solidFill>
            <a:prstDash val="solid"/>
          </a:ln>
        </p:spPr>
      </p:sp>
      <p:sp>
        <p:nvSpPr>
          <p:cNvPr id="21" name="Text 19"/>
          <p:cNvSpPr/>
          <p:nvPr/>
        </p:nvSpPr>
        <p:spPr>
          <a:xfrm>
            <a:off x="1051560" y="3017520"/>
            <a:ext cx="2011680" cy="530352"/>
          </a:xfrm>
          <a:prstGeom prst="rect">
            <a:avLst/>
          </a:prstGeom>
          <a:noFill/>
          <a:ln/>
        </p:spPr>
        <p:txBody>
          <a:bodyPr wrap="square" rtlCol="0" anchor="ctr"/>
          <a:lstStyle/>
          <a:p>
            <a:pPr indent="0" marL="0">
              <a:buNone/>
            </a:pPr>
            <a:r>
              <a:rPr lang="en-US" sz="1200" b="1" dirty="0">
                <a:solidFill>
                  <a:srgbClr val="E65100"/>
                </a:solidFill>
              </a:rPr>
              <a:t>Leia o sensor no loop(): </a:t>
            </a:r>
            <a:endParaRPr lang="en-US" sz="1200" dirty="0"/>
          </a:p>
        </p:txBody>
      </p:sp>
      <p:sp>
        <p:nvSpPr>
          <p:cNvPr id="22" name="Text 20"/>
          <p:cNvSpPr/>
          <p:nvPr/>
        </p:nvSpPr>
        <p:spPr>
          <a:xfrm>
            <a:off x="3017520" y="3017520"/>
            <a:ext cx="5669280" cy="530352"/>
          </a:xfrm>
          <a:prstGeom prst="rect">
            <a:avLst/>
          </a:prstGeom>
          <a:noFill/>
          <a:ln/>
        </p:spPr>
        <p:txBody>
          <a:bodyPr wrap="square" rtlCol="0" anchor="ctr"/>
          <a:lstStyle/>
          <a:p>
            <a:pPr indent="0" marL="0">
              <a:buNone/>
            </a:pPr>
            <a:r>
              <a:rPr lang="en-US" sz="1200" dirty="0">
                <a:solidFill>
                  <a:srgbClr val="546E7A"/>
                </a:solidFill>
              </a:rPr>
              <a:t>Use analogRead(A0) — retorna 0 a 1023. Para LM35: temperatura = (leitura * 5.0 / 1023.0) * 100;</a:t>
            </a:r>
            <a:endParaRPr lang="en-US" sz="1200" dirty="0"/>
          </a:p>
        </p:txBody>
      </p:sp>
      <p:sp>
        <p:nvSpPr>
          <p:cNvPr id="23" name="Shape 21"/>
          <p:cNvSpPr/>
          <p:nvPr/>
        </p:nvSpPr>
        <p:spPr>
          <a:xfrm>
            <a:off x="365760" y="3657600"/>
            <a:ext cx="502920" cy="530352"/>
          </a:xfrm>
          <a:prstGeom prst="rect">
            <a:avLst/>
          </a:prstGeom>
          <a:solidFill>
            <a:srgbClr val="F57F17"/>
          </a:solidFill>
          <a:ln w="12700">
            <a:solidFill>
              <a:srgbClr val="F57F17"/>
            </a:solidFill>
            <a:prstDash val="solid"/>
          </a:ln>
        </p:spPr>
      </p:sp>
      <p:sp>
        <p:nvSpPr>
          <p:cNvPr id="24" name="Text 22"/>
          <p:cNvSpPr/>
          <p:nvPr/>
        </p:nvSpPr>
        <p:spPr>
          <a:xfrm>
            <a:off x="365760" y="3657600"/>
            <a:ext cx="502920" cy="530352"/>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5" name="Shape 23"/>
          <p:cNvSpPr/>
          <p:nvPr/>
        </p:nvSpPr>
        <p:spPr>
          <a:xfrm>
            <a:off x="960120" y="3657600"/>
            <a:ext cx="7818120" cy="530352"/>
          </a:xfrm>
          <a:prstGeom prst="rect">
            <a:avLst/>
          </a:prstGeom>
          <a:solidFill>
            <a:srgbClr val="FFF8E1"/>
          </a:solidFill>
          <a:ln w="12700">
            <a:solidFill>
              <a:srgbClr val="FFB300"/>
            </a:solidFill>
            <a:prstDash val="solid"/>
          </a:ln>
        </p:spPr>
      </p:sp>
      <p:sp>
        <p:nvSpPr>
          <p:cNvPr id="26" name="Text 24"/>
          <p:cNvSpPr/>
          <p:nvPr/>
        </p:nvSpPr>
        <p:spPr>
          <a:xfrm>
            <a:off x="1051560" y="3657600"/>
            <a:ext cx="2011680" cy="530352"/>
          </a:xfrm>
          <a:prstGeom prst="rect">
            <a:avLst/>
          </a:prstGeom>
          <a:noFill/>
          <a:ln/>
        </p:spPr>
        <p:txBody>
          <a:bodyPr wrap="square" rtlCol="0" anchor="ctr"/>
          <a:lstStyle/>
          <a:p>
            <a:pPr indent="0" marL="0">
              <a:buNone/>
            </a:pPr>
            <a:r>
              <a:rPr lang="en-US" sz="1200" b="1" dirty="0">
                <a:solidFill>
                  <a:srgbClr val="E65100"/>
                </a:solidFill>
              </a:rPr>
              <a:t>Crie a condição de alarme: </a:t>
            </a:r>
            <a:endParaRPr lang="en-US" sz="1200" dirty="0"/>
          </a:p>
        </p:txBody>
      </p:sp>
      <p:sp>
        <p:nvSpPr>
          <p:cNvPr id="27" name="Text 25"/>
          <p:cNvSpPr/>
          <p:nvPr/>
        </p:nvSpPr>
        <p:spPr>
          <a:xfrm>
            <a:off x="3017520" y="3657600"/>
            <a:ext cx="5669280" cy="530352"/>
          </a:xfrm>
          <a:prstGeom prst="rect">
            <a:avLst/>
          </a:prstGeom>
          <a:noFill/>
          <a:ln/>
        </p:spPr>
        <p:txBody>
          <a:bodyPr wrap="square" rtlCol="0" anchor="ctr"/>
          <a:lstStyle/>
          <a:p>
            <a:pPr indent="0" marL="0">
              <a:buNone/>
            </a:pPr>
            <a:r>
              <a:rPr lang="en-US" sz="1200" dirty="0">
                <a:solidFill>
                  <a:srgbClr val="546E7A"/>
                </a:solidFill>
              </a:rPr>
              <a:t>Use if (temperatura &gt; 40) para acionar buzzer e LED. No else, desligue os dois.</a:t>
            </a:r>
            <a:endParaRPr lang="en-US" sz="1200" dirty="0"/>
          </a:p>
        </p:txBody>
      </p:sp>
      <p:sp>
        <p:nvSpPr>
          <p:cNvPr id="28" name="Shape 26"/>
          <p:cNvSpPr/>
          <p:nvPr/>
        </p:nvSpPr>
        <p:spPr>
          <a:xfrm>
            <a:off x="365760" y="4297680"/>
            <a:ext cx="502920" cy="530352"/>
          </a:xfrm>
          <a:prstGeom prst="rect">
            <a:avLst/>
          </a:prstGeom>
          <a:solidFill>
            <a:srgbClr val="F57F17"/>
          </a:solidFill>
          <a:ln w="12700">
            <a:solidFill>
              <a:srgbClr val="F57F17"/>
            </a:solidFill>
            <a:prstDash val="solid"/>
          </a:ln>
        </p:spPr>
      </p:sp>
      <p:sp>
        <p:nvSpPr>
          <p:cNvPr id="29" name="Text 27"/>
          <p:cNvSpPr/>
          <p:nvPr/>
        </p:nvSpPr>
        <p:spPr>
          <a:xfrm>
            <a:off x="365760" y="4297680"/>
            <a:ext cx="502920" cy="530352"/>
          </a:xfrm>
          <a:prstGeom prst="rect">
            <a:avLst/>
          </a:prstGeom>
          <a:noFill/>
          <a:ln/>
        </p:spPr>
        <p:txBody>
          <a:bodyPr wrap="square" rtlCol="0" anchor="ctr"/>
          <a:lstStyle/>
          <a:p>
            <a:pPr algn="ctr" indent="0" marL="0">
              <a:buNone/>
            </a:pPr>
            <a:r>
              <a:rPr lang="en-US" sz="1600" b="1" dirty="0">
                <a:solidFill>
                  <a:srgbClr val="FFFFFF"/>
                </a:solidFill>
              </a:rPr>
              <a:t>5</a:t>
            </a:r>
            <a:endParaRPr lang="en-US" sz="1600" dirty="0"/>
          </a:p>
        </p:txBody>
      </p:sp>
      <p:sp>
        <p:nvSpPr>
          <p:cNvPr id="30" name="Shape 28"/>
          <p:cNvSpPr/>
          <p:nvPr/>
        </p:nvSpPr>
        <p:spPr>
          <a:xfrm>
            <a:off x="960120" y="4297680"/>
            <a:ext cx="7818120" cy="530352"/>
          </a:xfrm>
          <a:prstGeom prst="rect">
            <a:avLst/>
          </a:prstGeom>
          <a:solidFill>
            <a:srgbClr val="FFF8E1"/>
          </a:solidFill>
          <a:ln w="12700">
            <a:solidFill>
              <a:srgbClr val="FFB300"/>
            </a:solidFill>
            <a:prstDash val="solid"/>
          </a:ln>
        </p:spPr>
      </p:sp>
      <p:sp>
        <p:nvSpPr>
          <p:cNvPr id="31" name="Text 29"/>
          <p:cNvSpPr/>
          <p:nvPr/>
        </p:nvSpPr>
        <p:spPr>
          <a:xfrm>
            <a:off x="1051560" y="4297680"/>
            <a:ext cx="2011680" cy="530352"/>
          </a:xfrm>
          <a:prstGeom prst="rect">
            <a:avLst/>
          </a:prstGeom>
          <a:noFill/>
          <a:ln/>
        </p:spPr>
        <p:txBody>
          <a:bodyPr wrap="square" rtlCol="0" anchor="ctr"/>
          <a:lstStyle/>
          <a:p>
            <a:pPr indent="0" marL="0">
              <a:buNone/>
            </a:pPr>
            <a:r>
              <a:rPr lang="en-US" sz="1200" b="1" dirty="0">
                <a:solidFill>
                  <a:srgbClr val="E65100"/>
                </a:solidFill>
              </a:rPr>
              <a:t>Monitore pelo Serial: </a:t>
            </a:r>
            <a:endParaRPr lang="en-US" sz="1200" dirty="0"/>
          </a:p>
        </p:txBody>
      </p:sp>
      <p:sp>
        <p:nvSpPr>
          <p:cNvPr id="32" name="Text 30"/>
          <p:cNvSpPr/>
          <p:nvPr/>
        </p:nvSpPr>
        <p:spPr>
          <a:xfrm>
            <a:off x="3017520" y="4297680"/>
            <a:ext cx="5669280" cy="530352"/>
          </a:xfrm>
          <a:prstGeom prst="rect">
            <a:avLst/>
          </a:prstGeom>
          <a:noFill/>
          <a:ln/>
        </p:spPr>
        <p:txBody>
          <a:bodyPr wrap="square" rtlCol="0" anchor="ctr"/>
          <a:lstStyle/>
          <a:p>
            <a:pPr indent="0" marL="0">
              <a:buNone/>
            </a:pPr>
            <a:r>
              <a:rPr lang="en-US" sz="1200" dirty="0">
                <a:solidFill>
                  <a:srgbClr val="546E7A"/>
                </a:solidFill>
              </a:rPr>
              <a:t>Adicione Serial.begin(9600) e Serial.println(temperatura) para ver os valores em tempo real.</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47A1"/>
          </a:solidFill>
          <a:ln w="12700">
            <a:solidFill>
              <a:srgbClr val="0D47A1"/>
            </a:solidFill>
            <a:prstDash val="solid"/>
          </a:ln>
        </p:spPr>
      </p:sp>
      <p:sp>
        <p:nvSpPr>
          <p:cNvPr id="3" name="Text 1"/>
          <p:cNvSpPr/>
          <p:nvPr/>
        </p:nvSpPr>
        <p:spPr>
          <a:xfrm>
            <a:off x="274320" y="91440"/>
            <a:ext cx="8595360" cy="822960"/>
          </a:xfrm>
          <a:prstGeom prst="rect">
            <a:avLst/>
          </a:prstGeom>
          <a:noFill/>
          <a:ln/>
        </p:spPr>
        <p:txBody>
          <a:bodyPr wrap="square" rtlCol="0" anchor="ctr"/>
          <a:lstStyle/>
          <a:p>
            <a:pPr indent="0" marL="0">
              <a:buNone/>
            </a:pPr>
            <a:r>
              <a:rPr lang="en-US" sz="2600" b="1" dirty="0">
                <a:solidFill>
                  <a:srgbClr val="FFFFFF"/>
                </a:solidFill>
              </a:rPr>
              <a:t>SA2 — Esqueleto do Código (Complete as Lacunas!)</a:t>
            </a:r>
            <a:endParaRPr lang="en-US" sz="2600" dirty="0"/>
          </a:p>
        </p:txBody>
      </p:sp>
      <p:sp>
        <p:nvSpPr>
          <p:cNvPr id="4" name="Shape 2"/>
          <p:cNvSpPr/>
          <p:nvPr/>
        </p:nvSpPr>
        <p:spPr>
          <a:xfrm>
            <a:off x="0" y="1005840"/>
            <a:ext cx="9144000" cy="64008"/>
          </a:xfrm>
          <a:prstGeom prst="rect">
            <a:avLst/>
          </a:prstGeom>
          <a:solidFill>
            <a:srgbClr val="2196F3"/>
          </a:solidFill>
          <a:ln w="12700">
            <a:solidFill>
              <a:srgbClr val="2196F3"/>
            </a:solidFill>
            <a:prstDash val="solid"/>
          </a:ln>
        </p:spPr>
      </p:sp>
      <p:sp>
        <p:nvSpPr>
          <p:cNvPr id="5" name="Shape 3"/>
          <p:cNvSpPr/>
          <p:nvPr/>
        </p:nvSpPr>
        <p:spPr>
          <a:xfrm>
            <a:off x="0" y="4892040"/>
            <a:ext cx="9144000" cy="251460"/>
          </a:xfrm>
          <a:prstGeom prst="rect">
            <a:avLst/>
          </a:prstGeom>
          <a:solidFill>
            <a:srgbClr val="0D47A1"/>
          </a:solidFill>
          <a:ln w="12700">
            <a:solidFill>
              <a:srgbClr val="0D47A1"/>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indent="0" marL="0">
              <a:buNone/>
            </a:pPr>
            <a:r>
              <a:rPr lang="en-US" sz="900" dirty="0">
                <a:solidFill>
                  <a:srgbClr val="FFFFFF"/>
                </a:solidFill>
              </a:rPr>
              <a:t>Internet das Coisas  |  Prof. Mizael Carlos</a:t>
            </a:r>
            <a:endParaRPr lang="en-US" sz="900" dirty="0"/>
          </a:p>
        </p:txBody>
      </p:sp>
      <p:sp>
        <p:nvSpPr>
          <p:cNvPr id="7" name="Shape 5"/>
          <p:cNvSpPr/>
          <p:nvPr/>
        </p:nvSpPr>
        <p:spPr>
          <a:xfrm>
            <a:off x="365760" y="1143000"/>
            <a:ext cx="8412480" cy="3657600"/>
          </a:xfrm>
          <a:prstGeom prst="rect">
            <a:avLst/>
          </a:prstGeom>
          <a:solidFill>
            <a:srgbClr val="1E1E1E"/>
          </a:solidFill>
          <a:ln w="25400">
            <a:solidFill>
              <a:srgbClr val="F57F17"/>
            </a:solidFill>
            <a:prstDash val="solid"/>
          </a:ln>
        </p:spPr>
      </p:sp>
      <p:sp>
        <p:nvSpPr>
          <p:cNvPr id="8" name="Text 6"/>
          <p:cNvSpPr/>
          <p:nvPr/>
        </p:nvSpPr>
        <p:spPr>
          <a:xfrm>
            <a:off x="502920" y="1234440"/>
            <a:ext cx="8229600" cy="3474720"/>
          </a:xfrm>
          <a:prstGeom prst="rect">
            <a:avLst/>
          </a:prstGeom>
          <a:noFill/>
          <a:ln/>
        </p:spPr>
        <p:txBody>
          <a:bodyPr wrap="square" rtlCol="0" anchor="t"/>
          <a:lstStyle/>
          <a:p>
            <a:pPr indent="0" marL="0">
              <a:buNone/>
            </a:pPr>
            <a:r>
              <a:rPr lang="en-US" sz="1200" dirty="0">
                <a:solidFill>
                  <a:srgbClr val="6A9955"/>
                </a:solidFill>
                <a:latin typeface="Consolas" pitchFamily="34" charset="0"/>
                <a:ea typeface="Consolas" pitchFamily="34" charset="-122"/>
                <a:cs typeface="Consolas" pitchFamily="34" charset="-120"/>
              </a:rPr>
              <a:t>// SA2 - Alarme de Temperatura Industrial
</a:t>
            </a:r>
            <a:pPr indent="0" marL="0">
              <a:buNone/>
            </a:pPr>
            <a:r>
              <a:rPr lang="en-US" sz="1200" dirty="0">
                <a:solidFill>
                  <a:srgbClr val="4EC9B0"/>
                </a:solidFill>
                <a:latin typeface="Consolas" pitchFamily="34" charset="0"/>
                <a:ea typeface="Consolas" pitchFamily="34" charset="-122"/>
                <a:cs typeface="Consolas" pitchFamily="34" charset="-120"/>
              </a:rPr>
              <a:t>const int </a:t>
            </a:r>
            <a:pPr indent="0" marL="0">
              <a:buNone/>
            </a:pPr>
            <a:r>
              <a:rPr lang="en-US" sz="1200" b="1" dirty="0">
                <a:solidFill>
                  <a:srgbClr val="FFB300"/>
                </a:solidFill>
                <a:latin typeface="Consolas" pitchFamily="34" charset="0"/>
                <a:ea typeface="Consolas" pitchFamily="34" charset="-122"/>
                <a:cs typeface="Consolas" pitchFamily="34" charset="-120"/>
              </a:rPr>
              <a:t>pinoSensor = ___; pinoBuzzer = ___; pinoLED = ___;
</a:t>
            </a:r>
            <a:pPr indent="0" marL="0">
              <a:buNone/>
            </a:pPr>
            <a:r>
              <a:rPr lang="en-US" sz="1200" b="1" dirty="0">
                <a:solidFill>
                  <a:srgbClr val="DCDCAA"/>
                </a:solidFill>
                <a:latin typeface="Consolas" pitchFamily="34" charset="0"/>
                <a:ea typeface="Consolas" pitchFamily="34" charset="-122"/>
                <a:cs typeface="Consolas" pitchFamily="34" charset="-120"/>
              </a:rPr>
              <a:t>void </a:t>
            </a:r>
            <a:pPr indent="0" marL="0">
              <a:buNone/>
            </a:pPr>
            <a:r>
              <a:rPr lang="en-US" sz="1200" dirty="0">
                <a:solidFill>
                  <a:srgbClr val="4EC9B0"/>
                </a:solidFill>
                <a:latin typeface="Consolas" pitchFamily="34" charset="0"/>
                <a:ea typeface="Consolas" pitchFamily="34" charset="-122"/>
                <a:cs typeface="Consolas" pitchFamily="34" charset="-120"/>
              </a:rPr>
              <a:t>setup() {
</a:t>
            </a:r>
            <a:pPr indent="0" marL="0">
              <a:buNone/>
            </a:pPr>
            <a:r>
              <a:rPr lang="en-US" sz="1200" dirty="0">
                <a:solidFill>
                  <a:srgbClr val="D4D4D4"/>
                </a:solidFill>
                <a:latin typeface="Consolas" pitchFamily="34" charset="0"/>
                <a:ea typeface="Consolas" pitchFamily="34" charset="-122"/>
                <a:cs typeface="Consolas" pitchFamily="34" charset="-120"/>
              </a:rPr>
              <a:t>  Serial.begin(9600);
</a:t>
            </a:r>
            <a:pPr indent="0" marL="0">
              <a:buNone/>
            </a:pPr>
            <a:r>
              <a:rPr lang="en-US" sz="1200" b="1" dirty="0">
                <a:solidFill>
                  <a:srgbClr val="FFB300"/>
                </a:solidFill>
                <a:latin typeface="Consolas" pitchFamily="34" charset="0"/>
                <a:ea typeface="Consolas" pitchFamily="34" charset="-122"/>
                <a:cs typeface="Consolas" pitchFamily="34" charset="-120"/>
              </a:rPr>
              <a:t>  pinMode(___________, OUTPUT);
</a:t>
            </a:r>
            <a:pPr indent="0" marL="0">
              <a:buNone/>
            </a:pPr>
            <a:r>
              <a:rPr lang="en-US" sz="1200" b="1" dirty="0">
                <a:solidFill>
                  <a:srgbClr val="FFB300"/>
                </a:solidFill>
                <a:latin typeface="Consolas" pitchFamily="34" charset="0"/>
                <a:ea typeface="Consolas" pitchFamily="34" charset="-122"/>
                <a:cs typeface="Consolas" pitchFamily="34" charset="-120"/>
              </a:rPr>
              <a:t>  pinMode(___________, OUTPUT);
}
</a:t>
            </a:r>
            <a:pPr indent="0" marL="0">
              <a:buNone/>
            </a:pPr>
            <a:r>
              <a:rPr lang="en-US" sz="1200" b="1" dirty="0">
                <a:solidFill>
                  <a:srgbClr val="DCDCAA"/>
                </a:solidFill>
                <a:latin typeface="Consolas" pitchFamily="34" charset="0"/>
                <a:ea typeface="Consolas" pitchFamily="34" charset="-122"/>
                <a:cs typeface="Consolas" pitchFamily="34" charset="-120"/>
              </a:rPr>
              <a:t>void </a:t>
            </a:r>
            <a:pPr indent="0" marL="0">
              <a:buNone/>
            </a:pPr>
            <a:r>
              <a:rPr lang="en-US" sz="1200" dirty="0">
                <a:solidFill>
                  <a:srgbClr val="4EC9B0"/>
                </a:solidFill>
                <a:latin typeface="Consolas" pitchFamily="34" charset="0"/>
                <a:ea typeface="Consolas" pitchFamily="34" charset="-122"/>
                <a:cs typeface="Consolas" pitchFamily="34" charset="-120"/>
              </a:rPr>
              <a:t>loop() {
</a:t>
            </a:r>
            <a:pPr indent="0" marL="0">
              <a:buNone/>
            </a:pPr>
            <a:r>
              <a:rPr lang="en-US" sz="1200" b="1" dirty="0">
                <a:solidFill>
                  <a:srgbClr val="FFB300"/>
                </a:solidFill>
                <a:latin typeface="Consolas" pitchFamily="34" charset="0"/>
                <a:ea typeface="Consolas" pitchFamily="34" charset="-122"/>
                <a:cs typeface="Consolas" pitchFamily="34" charset="-120"/>
              </a:rPr>
              <a:t>  int leitura = analogRead(_____);
</a:t>
            </a:r>
            <a:pPr indent="0" marL="0">
              <a:buNone/>
            </a:pPr>
            <a:r>
              <a:rPr lang="en-US" sz="1200" dirty="0">
                <a:solidFill>
                  <a:srgbClr val="D4D4D4"/>
                </a:solidFill>
                <a:latin typeface="Consolas" pitchFamily="34" charset="0"/>
                <a:ea typeface="Consolas" pitchFamily="34" charset="-122"/>
                <a:cs typeface="Consolas" pitchFamily="34" charset="-120"/>
              </a:rPr>
              <a:t>  float temperatura = (leitura * 5.0 / 1023.0) * 100;
</a:t>
            </a:r>
            <a:pPr indent="0" marL="0">
              <a:buNone/>
            </a:pPr>
            <a:r>
              <a:rPr lang="en-US" sz="1200" dirty="0">
                <a:solidFill>
                  <a:srgbClr val="D4D4D4"/>
                </a:solidFill>
                <a:latin typeface="Consolas" pitchFamily="34" charset="0"/>
                <a:ea typeface="Consolas" pitchFamily="34" charset="-122"/>
                <a:cs typeface="Consolas" pitchFamily="34" charset="-120"/>
              </a:rPr>
              <a:t>  Serial.println(temperatura);
</a:t>
            </a:r>
            <a:pPr indent="0" marL="0">
              <a:buNone/>
            </a:pPr>
            <a:r>
              <a:rPr lang="en-US" sz="1200" b="1" dirty="0">
                <a:solidFill>
                  <a:srgbClr val="C586C0"/>
                </a:solidFill>
                <a:latin typeface="Consolas" pitchFamily="34" charset="0"/>
                <a:ea typeface="Consolas" pitchFamily="34" charset="-122"/>
                <a:cs typeface="Consolas" pitchFamily="34" charset="-120"/>
              </a:rPr>
              <a:t>  if </a:t>
            </a:r>
            <a:pPr indent="0" marL="0">
              <a:buNone/>
            </a:pPr>
            <a:r>
              <a:rPr lang="en-US" sz="1200" b="1" dirty="0">
                <a:solidFill>
                  <a:srgbClr val="FFB300"/>
                </a:solidFill>
                <a:latin typeface="Consolas" pitchFamily="34" charset="0"/>
                <a:ea typeface="Consolas" pitchFamily="34" charset="-122"/>
                <a:cs typeface="Consolas" pitchFamily="34" charset="-120"/>
              </a:rPr>
              <a:t>(temperatura ___ 40) {
</a:t>
            </a:r>
            <a:pPr indent="0" marL="0">
              <a:buNone/>
            </a:pPr>
            <a:r>
              <a:rPr lang="en-US" sz="1200" b="1" dirty="0">
                <a:solidFill>
                  <a:srgbClr val="FFB300"/>
                </a:solidFill>
                <a:latin typeface="Consolas" pitchFamily="34" charset="0"/>
                <a:ea typeface="Consolas" pitchFamily="34" charset="-122"/>
                <a:cs typeface="Consolas" pitchFamily="34" charset="-120"/>
              </a:rPr>
              <a:t>    digitalWrite(pinoBuzzer, _____);
</a:t>
            </a:r>
            <a:pPr indent="0" marL="0">
              <a:buNone/>
            </a:pPr>
            <a:r>
              <a:rPr lang="en-US" sz="1200" b="1" dirty="0">
                <a:solidFill>
                  <a:srgbClr val="FFB300"/>
                </a:solidFill>
                <a:latin typeface="Consolas" pitchFamily="34" charset="0"/>
                <a:ea typeface="Consolas" pitchFamily="34" charset="-122"/>
                <a:cs typeface="Consolas" pitchFamily="34" charset="-120"/>
              </a:rPr>
              <a:t>    digitalWrite(pinoLED, _____);
  } else {
</a:t>
            </a:r>
            <a:pPr indent="0" marL="0">
              <a:buNone/>
            </a:pPr>
            <a:r>
              <a:rPr lang="en-US" sz="1200" dirty="0">
                <a:solidFill>
                  <a:srgbClr val="D4D4D4"/>
                </a:solidFill>
                <a:latin typeface="Consolas" pitchFamily="34" charset="0"/>
                <a:ea typeface="Consolas" pitchFamily="34" charset="-122"/>
                <a:cs typeface="Consolas" pitchFamily="34" charset="-120"/>
              </a:rPr>
              <a:t>    digitalWrite(pinoBuzzer, LOW); digitalWrite(pinoLED, LOW);</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 - Linguagem de Programação de Baixo Nível</dc:title>
  <dc:subject>PptxGenJS Presentation</dc:subject>
  <dc:creator>Mizael Carlos</dc:creator>
  <cp:lastModifiedBy>Mizael Carlos</cp:lastModifiedBy>
  <cp:revision>1</cp:revision>
  <dcterms:created xsi:type="dcterms:W3CDTF">2026-02-18T21:30:54Z</dcterms:created>
  <dcterms:modified xsi:type="dcterms:W3CDTF">2026-02-18T21:30:54Z</dcterms:modified>
</cp:coreProperties>
</file>