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71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8072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0A3880"/>
          </a:solidFill>
          <a:ln w="12700">
            <a:solidFill>
              <a:srgbClr val="0A38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0" y="-457200"/>
            <a:ext cx="3200400" cy="320040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2011680" cy="2011680"/>
          </a:xfrm>
          <a:prstGeom prst="ellipse">
            <a:avLst/>
          </a:prstGeom>
          <a:solidFill>
            <a:srgbClr val="00979C">
              <a:alpha val="30000"/>
            </a:srgbClr>
          </a:solidFill>
          <a:ln w="12700">
            <a:solidFill>
              <a:srgbClr val="00979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CAF9"/>
                </a:solidFill>
              </a:rPr>
              <a:t>Internet das Coisas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Conectividade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 Hardware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Prof. Mizael Carlos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🌐 Conectividade em IoT — Visão Geral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364480" cy="43891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824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O que é Conectividade?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316480"/>
            <a:ext cx="512064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Conectividade em IoT refere-se ao conjunto de tecnologias e protocolos que permitem que dispositivos físicos troquem dados entre si e com sistemas na nuvem.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Cada tecnologia possui características próprias de: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• Alcance de transmissão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• Consumo de energia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• Taxa de transferência de dados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• Custo de implementação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• Interferência e segurança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0" y="1584960"/>
            <a:ext cx="5608320" cy="43891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17920" y="1682496"/>
            <a:ext cx="524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</a:rPr>
              <a:t>Por que escolher bem a tecnologia?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2316480"/>
            <a:ext cx="52425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⚡ Eficiência energética: Sensores a bateria precisam de protocolos de baixo consumo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3230880"/>
            <a:ext cx="52425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📏 Alcance necessário: Uso interno vs. externo vs. global muda tudo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4145280"/>
            <a:ext cx="52425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💰 Custo total: Infraestrutura, licenças e hardware variam muito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5059680"/>
            <a:ext cx="52425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🔒 Segurança: Cada tecnologia tem vulnerabilidades distintas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Comparativo das Tecnologias de Conectividade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3840" y="1584960"/>
            <a:ext cx="1889760" cy="6096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04800" y="1609344"/>
            <a:ext cx="18044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Tecnologia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55520" y="1584960"/>
            <a:ext cx="1402080" cy="6096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316480" y="1609344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Alcance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79520" y="1584960"/>
            <a:ext cx="1402080" cy="6096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840480" y="1609344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Velocidade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1584960"/>
            <a:ext cx="1280160" cy="6096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364480" y="1609344"/>
            <a:ext cx="11948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Consumo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05600" y="1584960"/>
            <a:ext cx="1158240" cy="6096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766560" y="1609344"/>
            <a:ext cx="10728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85760" y="1584960"/>
            <a:ext cx="2987040" cy="6096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046720" y="1609344"/>
            <a:ext cx="29016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Uso em IoT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3840" y="2218944"/>
            <a:ext cx="188976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04800" y="2243328"/>
            <a:ext cx="18044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Satélite 🛰️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55520" y="2218944"/>
            <a:ext cx="14020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316480" y="2243328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Global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79520" y="2218944"/>
            <a:ext cx="14020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840480" y="2243328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~1 Mbps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2218944"/>
            <a:ext cx="128016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364480" y="2243328"/>
            <a:ext cx="11948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Muito Alto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05600" y="2218944"/>
            <a:ext cx="115824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766560" y="2243328"/>
            <a:ext cx="10728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Alto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85760" y="2218944"/>
            <a:ext cx="298704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046720" y="2243328"/>
            <a:ext cx="29016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Rastreamento remoto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3840" y="2852928"/>
            <a:ext cx="188976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04800" y="2877312"/>
            <a:ext cx="18044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Bluetooth 🔵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55520" y="2852928"/>
            <a:ext cx="140208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316480" y="2877312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~100m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79520" y="2852928"/>
            <a:ext cx="140208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840480" y="2877312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~3 Mbps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03520" y="2852928"/>
            <a:ext cx="128016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364480" y="2877312"/>
            <a:ext cx="11948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Baixo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05600" y="2852928"/>
            <a:ext cx="115824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766560" y="2877312"/>
            <a:ext cx="10728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Baixo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85760" y="2852928"/>
            <a:ext cx="298704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046720" y="2877312"/>
            <a:ext cx="29016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Wearables, sensores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3840" y="3486912"/>
            <a:ext cx="188976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304800" y="3511296"/>
            <a:ext cx="18044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Wi-Fi 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55520" y="3486912"/>
            <a:ext cx="14020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2316480" y="3511296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~100m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79520" y="3486912"/>
            <a:ext cx="14020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3840480" y="3511296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~1 Gbps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03520" y="3486912"/>
            <a:ext cx="128016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5364480" y="3511296"/>
            <a:ext cx="11948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Médio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05600" y="3486912"/>
            <a:ext cx="115824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766560" y="3511296"/>
            <a:ext cx="10728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Baixo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985760" y="3486912"/>
            <a:ext cx="298704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8046720" y="3511296"/>
            <a:ext cx="29016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Casa inteligente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3840" y="4120896"/>
            <a:ext cx="188976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304800" y="4145280"/>
            <a:ext cx="18044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Rádio 📻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55520" y="4120896"/>
            <a:ext cx="140208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2316480" y="4145280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Km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79520" y="4120896"/>
            <a:ext cx="140208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3840480" y="4145280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Baixa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03520" y="4120896"/>
            <a:ext cx="128016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5364480" y="4145280"/>
            <a:ext cx="11948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Muito Baixo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05600" y="4120896"/>
            <a:ext cx="115824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6766560" y="4145280"/>
            <a:ext cx="10728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Médio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985760" y="4120896"/>
            <a:ext cx="298704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8046720" y="4145280"/>
            <a:ext cx="29016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Agricultura, metrologia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43840" y="4754880"/>
            <a:ext cx="188976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304800" y="4779264"/>
            <a:ext cx="18044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RFID 🏷️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255520" y="4754880"/>
            <a:ext cx="14020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2316480" y="4779264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cm-10m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779520" y="4754880"/>
            <a:ext cx="14020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3840480" y="4779264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Baixa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303520" y="4754880"/>
            <a:ext cx="128016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5364480" y="4779264"/>
            <a:ext cx="11948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Mínimo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705600" y="4754880"/>
            <a:ext cx="115824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6766560" y="4779264"/>
            <a:ext cx="10728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Baixo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985760" y="4754880"/>
            <a:ext cx="298704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8046720" y="4779264"/>
            <a:ext cx="29016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Controle de estoque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43840" y="5388864"/>
            <a:ext cx="188976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Text 78"/>
          <p:cNvSpPr/>
          <p:nvPr/>
        </p:nvSpPr>
        <p:spPr>
          <a:xfrm>
            <a:off x="304800" y="5413248"/>
            <a:ext cx="18044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Internet 🌐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255520" y="5388864"/>
            <a:ext cx="140208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2316480" y="5413248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Global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779520" y="5388864"/>
            <a:ext cx="140208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 82"/>
          <p:cNvSpPr/>
          <p:nvPr/>
        </p:nvSpPr>
        <p:spPr>
          <a:xfrm>
            <a:off x="3840480" y="5413248"/>
            <a:ext cx="131673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Muito Alta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303520" y="5388864"/>
            <a:ext cx="128016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Text 84"/>
          <p:cNvSpPr/>
          <p:nvPr/>
        </p:nvSpPr>
        <p:spPr>
          <a:xfrm>
            <a:off x="5364480" y="5413248"/>
            <a:ext cx="119481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Variável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705600" y="5388864"/>
            <a:ext cx="115824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6766560" y="5413248"/>
            <a:ext cx="10728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Variável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985760" y="5388864"/>
            <a:ext cx="298704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Text 88"/>
          <p:cNvSpPr/>
          <p:nvPr/>
        </p:nvSpPr>
        <p:spPr>
          <a:xfrm>
            <a:off x="8046720" y="5413248"/>
            <a:ext cx="2901696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</a:rPr>
              <a:t>Cloud, dados massivos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9600" cy="6864096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632960"/>
            <a:ext cx="12192000" cy="2231136"/>
          </a:xfrm>
          <a:prstGeom prst="rect">
            <a:avLst/>
          </a:prstGeom>
          <a:solidFill>
            <a:srgbClr val="0A3880"/>
          </a:solidFill>
          <a:ln w="12700">
            <a:solidFill>
              <a:srgbClr val="0A38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19200" y="1219200"/>
            <a:ext cx="975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🛰️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19200" y="268224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Satélite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19200" y="37795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CAF9"/>
                </a:solidFill>
              </a:rPr>
              <a:t>Conectividade global para IoT remoto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🛰️ O que é Comunicação via Satélite?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82496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FA2"/>
                </a:solidFill>
              </a:rPr>
              <a:t>Definição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87680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1FA2"/>
                </a:solidFill>
              </a:rPr>
              <a:t>A comunicação via satélite utiliza satélites artificiais em órbita ao redor da Terra como retransmissores de sinais de rádio entre estações terrestres.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B1FA2"/>
                </a:solidFill>
              </a:rPr>
              <a:t>No contexto de IoT, permite conectar dispositivos em qualquer lugar do planeta, mesmo onde não existe infraestrutura terrestre de telecomunicações.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20726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82496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✅ Vantagens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0" y="2194560"/>
            <a:ext cx="5364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• Cobertura global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• Independente de infraestrutura terrestre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• Ideal para áreas remotas e oceanos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74080" y="3840480"/>
            <a:ext cx="5730240" cy="2133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096000" y="3925824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⚠️ Desvantagens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96000" y="4450080"/>
            <a:ext cx="536448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• Alto custo de implantação e operação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• Latência elevada (GEO ~600ms)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• Consome muita energia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• Sujeito a interferências atmosféricas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🌍 Tipos de Órbitas de Satélites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3535680" cy="43891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</a:rPr>
              <a:t>GEO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231648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1FA2"/>
                </a:solidFill>
              </a:rPr>
              <a:t>Órbita Geoestacionária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92608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📏 Altitude: 35.786 km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341376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⏱️ Latência: ~600 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390144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⚡ Energia: Alta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4389120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🔧 Uso: TV, GPS, meteorologia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8160" y="1584960"/>
            <a:ext cx="3535680" cy="43891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450080" y="1645920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</a:rPr>
              <a:t>MEO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50080" y="231648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Órbita Média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50080" y="292608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</a:rPr>
              <a:t>📏 Altitude: 2.000–20.000 km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50080" y="341376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</a:rPr>
              <a:t>⏱️ Latência: ~130 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50080" y="390144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</a:rPr>
              <a:t>⚡ Energia: Média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50080" y="4389120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</a:rPr>
              <a:t>🔧 Uso: GPS, navegação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68640" y="1584960"/>
            <a:ext cx="3535680" cy="4389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290560" y="1645920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LEO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90560" y="231648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Órbita Baixa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90560" y="292608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📏 Altitude: 200–2.000 km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90560" y="341376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⏱️ Latência: ~30 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90560" y="3901440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⚡ Energia: Baixa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90560" y="4389120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🔧 Uso: Starlink, IoT móvel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🛰️ Satélite com Arduino — Módulos e Aplicações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58112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📦 Módulos Populares para Arduino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RockBLOCK Mk2 (Iridium SBD)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 xml:space="preserve">   Rede global de 66 satélites LEO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Quectel BC66 (NB-IoT/Satélite)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 xml:space="preserve">   Suporte a redes híbridas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Swarm M138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 xml:space="preserve">   Pequeno, baixo custo, LEO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SPOT Gen4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 xml:space="preserve">   Rastreamento e mensagens 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58112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🔧 Aplicações Reais em IoT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• Rastreamento de frota em zonas rurais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 xml:space="preserve">  (GPS + transmissão Iridium)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• Monitoramento ambiental em florestas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 xml:space="preserve">  (temperatura, umidade, CO2)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• Agricultura de precisão em áreas remotas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 xml:space="preserve">  (solo, irrigação automatizada)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• Buias oceânicas de monitoramento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 xml:space="preserve">  (ondas, correntes, poluição)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• Rastreamento de animais selvagens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9600" cy="6864096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632960"/>
            <a:ext cx="12192000" cy="2231136"/>
          </a:xfrm>
          <a:prstGeom prst="rect">
            <a:avLst/>
          </a:prstGeom>
          <a:solidFill>
            <a:srgbClr val="0A3880"/>
          </a:solidFill>
          <a:ln w="12700">
            <a:solidFill>
              <a:srgbClr val="0A38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19200" y="1219200"/>
            <a:ext cx="975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🔵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19200" y="268224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Bluetooth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19200" y="37795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CAF9"/>
                </a:solidFill>
              </a:rPr>
              <a:t>Comunicação sem fio de curto alcance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🔵 O que é Bluetooth?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10363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10972800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47A1"/>
                </a:solidFill>
              </a:rPr>
              <a:t>Bluetooth é um padrão de comunicação sem fio de curto alcance criado em 1994 pela Ericsson. Opera na faixa de 2,4 GHz ISM e foi projetado para substituir cabos entre dispositivos próximos. Hoje é um dos protocolos mais usados em IoT, especialmente em wearables e automação residencial.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7680" y="2865120"/>
            <a:ext cx="2682240" cy="3108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09600" y="292608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Classic BT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53568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</a:rPr>
              <a:t>Transferência de arquivos e áudio. Alta taxa de dados. Usado em fones e teclados.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2800" y="2865120"/>
            <a:ext cx="2682240" cy="3108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BLE (4.0+)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53568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Bluetooth Low Energy. Consumo ultrabaixo. Ideal para sensores IoT com bateria.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865120"/>
            <a:ext cx="2682240" cy="310896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39840" y="292608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1FA2"/>
                </a:solidFill>
              </a:rPr>
              <a:t>BT 5.0+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9840" y="353568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Maior alcance (4x), mais velocidade (2x) e suporte a mesh. Para IoT em escala.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83040" y="2865120"/>
            <a:ext cx="2682240" cy="3108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204960" y="292608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7A7"/>
                </a:solidFill>
              </a:rPr>
              <a:t>BT Mesh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04960" y="353568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7A7"/>
                </a:solidFill>
              </a:rPr>
              <a:t>Rede de múltiplos nós. Iluminação inteligente, sensores em prédios, automação industrial.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🔵 Bluetooth com Arduino — Módulos HC-05, HC-06 e HM-10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58112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📦 Módulos Bluetooth para Arduino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HC-05: Bluetooth Classic 2.0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Mestre e escravo (configurável)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Baudrate padrão: 9600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Comandos AT para configuração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HC-06: Bluetooth Classic (só escravo)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Mais simples e barato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Fácil de usar com Serial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HM-10: Bluetooth Low Energy (BLE)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Ideal para App mobile (iOS/Android)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Menor consumo de energia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Padrão 4.0 — compatível com smartphones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9C"/>
                </a:solidFill>
              </a:rPr>
              <a:t>💻 Código Arduino — HC-05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&lt;SoftwareSerial.h&gt;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SoftwareSerial BT(10, 11); // RX, TX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Serial.begin(9600);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BT.begin(9600);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Serial.println("BT Pronto!");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(BT.available())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char c = BT.read();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(c == '1') digitalWrite(13, HIGH);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(c == '0') digitalWrite(13, LOW);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Especificações Técnicas do Bluetooth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486400" cy="999744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524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🔢 Versões: 1.0 → 5.4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7264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Evolução contínua desde 1999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39840" y="1584960"/>
            <a:ext cx="5486400" cy="999744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61760" y="1621536"/>
            <a:ext cx="524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📡 Frequência: 2,4 GHz ISM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61760" y="207264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79 canais, salto de frequência (FHSS)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7680" y="2682240"/>
            <a:ext cx="5486400" cy="999744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09600" y="2718816"/>
            <a:ext cx="524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📏 Alcance: Classe 1: 100m / Classe 2: 10m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" y="316992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BLE 5.0 chega a 400m em campo aberto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39840" y="2682240"/>
            <a:ext cx="5486400" cy="999744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61760" y="2718816"/>
            <a:ext cx="524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⚡ Consumo BLE: 0,01W a 0,50W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1760" y="316992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Meses ou anos com uma bateria de botão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7680" y="3779520"/>
            <a:ext cx="5486400" cy="999744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09600" y="3816096"/>
            <a:ext cx="524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🚀 Velocidade: Classic: 3 Mbps / BLE: 2 Mbps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426720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BT 5.0 LE 2M PHY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39840" y="3779520"/>
            <a:ext cx="5486400" cy="999744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61760" y="3816096"/>
            <a:ext cx="524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🔒 Segurança: AES-128 (BLE 4.2+)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61760" y="426720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Emparelhamento com PIN, criptografia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7680" y="4876800"/>
            <a:ext cx="5486400" cy="999744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09600" y="4913376"/>
            <a:ext cx="524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🌐 Topologia: Ponto-a-ponto, Piconet, Mesh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600" y="536448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Scatternet: múltiplas piconets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39840" y="4876800"/>
            <a:ext cx="5486400" cy="999744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61760" y="4913376"/>
            <a:ext cx="524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📱 Uso em IoT: Wearables, beacons, sensores 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61760" y="536448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iBeacon, Eddystone, GATT profiles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9600" cy="6864096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632960"/>
            <a:ext cx="12192000" cy="2231136"/>
          </a:xfrm>
          <a:prstGeom prst="rect">
            <a:avLst/>
          </a:prstGeom>
          <a:solidFill>
            <a:srgbClr val="0A3880"/>
          </a:solidFill>
          <a:ln w="12700">
            <a:solidFill>
              <a:srgbClr val="0A38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19200" y="1219200"/>
            <a:ext cx="975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📶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19200" y="268224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Wi-Fi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19200" y="37795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CAF9"/>
                </a:solidFill>
              </a:rPr>
              <a:t>Rede sem fio de alta velocidade para IoT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📶 O que é Wi-Fi?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10363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10972800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</a:rPr>
              <a:t>Wi-Fi é um conjunto de protocolos de comunicação sem fio baseado nos padrões IEEE 802.11. Permite conectar dispositivos a redes locais (LAN) e à internet sem necessidade de cabos. É amplamente utilizado em IoT doméstico e industrial por sua alta velocidade e infraestrutura já instalada.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7680" y="2779776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📋 Evolução dos Padrões Wi-Fi: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7680" y="3352800"/>
            <a:ext cx="140208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802.11b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72640" y="3352800"/>
            <a:ext cx="140208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133600" y="340156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2,4 GHz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3352800"/>
            <a:ext cx="128016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718560" y="3401568"/>
            <a:ext cx="119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11 Mbps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98720" y="3352800"/>
            <a:ext cx="103632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59680" y="3401568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1999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7680" y="3889248"/>
            <a:ext cx="14020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48640" y="393801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802.11g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72640" y="3889248"/>
            <a:ext cx="14020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133600" y="3938016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2,4 GHz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889248"/>
            <a:ext cx="128016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718560" y="3938016"/>
            <a:ext cx="119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54 Mbps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98720" y="3889248"/>
            <a:ext cx="103632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59680" y="3938016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2003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7680" y="4425696"/>
            <a:ext cx="140208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48640" y="447446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802.11n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72640" y="4425696"/>
            <a:ext cx="140208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133600" y="447446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2,4/5 GHz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4425696"/>
            <a:ext cx="128016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718560" y="4474464"/>
            <a:ext cx="119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600 Mbps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98720" y="4425696"/>
            <a:ext cx="103632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059680" y="4474464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2009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7680" y="4962144"/>
            <a:ext cx="14020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48640" y="501091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802.11ac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72640" y="4962144"/>
            <a:ext cx="14020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133600" y="5010912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5 GHz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0" y="4962144"/>
            <a:ext cx="128016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3718560" y="5010912"/>
            <a:ext cx="119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3,5 Gbps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98720" y="4962144"/>
            <a:ext cx="103632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5059680" y="5010912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2013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7680" y="5498592"/>
            <a:ext cx="140208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548640" y="554736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802.11ax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72640" y="5498592"/>
            <a:ext cx="140208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2133600" y="554736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2,4/5/6 GHz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0" y="5498592"/>
            <a:ext cx="128016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3718560" y="5547360"/>
            <a:ext cx="119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9,6 Gbps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98720" y="5498592"/>
            <a:ext cx="1036320" cy="46329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5059680" y="554736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2021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39840" y="2743200"/>
            <a:ext cx="5364480" cy="323088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461760" y="2804160"/>
            <a:ext cx="49987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📌 Características para IoT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61760" y="3352800"/>
            <a:ext cx="499872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✅ Alta velocidade de dados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✅ Infraestrutura doméstica já existente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✅ Suporte a TCP/IP nativo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✅ Fácil integração com serviços cloud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⚠️ Consumo de energia moderado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⚠️ Alcance limitado a ~100m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⚠️ Congestionamento na faixa 2,4 GHz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📶 Wi-Fi com Arduino — ESP8266 e ESP32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📦 Módulos Wi-Fi Arduino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ESP8266 (NodeMCU)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Wi-Fi 802.11 b/g/n 2,4 GHz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CPU 80 MHz, 1 MB Flash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11 pinos GPIO digitais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Custo muito baixo (~R$25)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ESP32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Wi-Fi 802.11 b/g/n + Bluetooth 4.2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CPU dual-core 240 MHz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4 MB Flash, 520 KB SRAM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36 pinos GPIO, ADC, DAC, I2C, SPI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Deep sleep: 10 µA (economia extrema)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9C"/>
                </a:solidFill>
              </a:rPr>
              <a:t>💻 ESP8266 — Envio de dados para servidor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&lt;ESP8266WiFi.h&gt;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&lt;ESP8266HTTPClient.h&gt;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ssid = "MinhaRede";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password = "senha123";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WiFi.begin(ssid, password);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while (WiFi.status() != WL_CONNECTED)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delay(500);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HTTPClient http;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http.begin("http://servidor/api");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int val = analogRead(A0);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http.POST("sensor=" + String(val));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http.end();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delay(10000); // 10 segundos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📶 Protocolos IoT sobre Wi-Fi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6720" y="1584960"/>
            <a:ext cx="3596640" cy="2072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MQTT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1894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Message Queuing Telemetry Transport. Protocolo leve publicar/assinar. Porta 1883. Ideal para sensores com pouca largura de banda.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7200" y="1584960"/>
            <a:ext cx="3596640" cy="2072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389120" y="164592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HTTP/REST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221894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Comunicação baseada em requisições GET/POST. Fácil integração com APIs web. Usado com ESP8266/ESP32.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7680" y="1584960"/>
            <a:ext cx="3596640" cy="207264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0" y="164592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FA2"/>
                </a:solidFill>
              </a:rPr>
              <a:t>WebSocket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21894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Comunicação bidirecional em tempo real. Ideal para dashboards e controle em tempo real.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6720" y="3840480"/>
            <a:ext cx="3596640" cy="207264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90144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CoAP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47446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Constrained Application Protocol. Versão leve do HTTP para dispositivos com recursos limitados.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67200" y="3840480"/>
            <a:ext cx="3596640" cy="2072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389120" y="390144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</a:rPr>
              <a:t>AMQP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0" y="447446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</a:rPr>
              <a:t>Advanced Message Queuing Protocol. Mensageria empresarial robusta. Usado com RabbitMQ e Azure.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7680" y="3840480"/>
            <a:ext cx="3596640" cy="2072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0" y="390144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mDNS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447446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Multicast DNS. Permite descoberta automática de dispositivos na rede local sem servidor DNS.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9600" cy="6864096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632960"/>
            <a:ext cx="12192000" cy="2231136"/>
          </a:xfrm>
          <a:prstGeom prst="rect">
            <a:avLst/>
          </a:prstGeom>
          <a:solidFill>
            <a:srgbClr val="0A3880"/>
          </a:solidFill>
          <a:ln w="12700">
            <a:solidFill>
              <a:srgbClr val="0A38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19200" y="1219200"/>
            <a:ext cx="975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📻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19200" y="268224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Rádio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19200" y="37795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CAF9"/>
                </a:solidFill>
              </a:rPr>
              <a:t>Comunicação de longo alcance e baixo consumo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📻 Comunicação por Radiofrequência (RF)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975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09344"/>
            <a:ext cx="1097280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Radiofrequência (RF) é uma tecnologia de comunicação sem fio que transmite dados através de ondas eletromagnéticas. Em IoT, protocolos de RF de baixa potência como LoRa, Zigbee e Z-Wave são amplamente usados por seu excelente equilíbrio entre alcance, consumo de energia e custo.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7680" y="2779776"/>
            <a:ext cx="2682240" cy="3169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09600" y="2840736"/>
            <a:ext cx="2438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LoRa / LoRaWAN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47472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</a:rPr>
              <a:t>Alcance: 2–15 km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</a:rPr>
              <a:t>Freq: 915 MHz (BR)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</a:rPr>
              <a:t>Consumo: Ultra baixo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</a:rPr>
              <a:t>Uso: Agricultura, cidades inteligentes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2800" y="2779776"/>
            <a:ext cx="2682240" cy="3169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474720" y="2840736"/>
            <a:ext cx="2438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Zigbee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Alcance: ~100 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Freq: 2,4 GHz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Consumo: Muito baixo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Uso: Automação residencial, sensores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779776"/>
            <a:ext cx="2682240" cy="3169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39840" y="2840736"/>
            <a:ext cx="2438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</a:rPr>
              <a:t>Z-Wave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9840" y="347472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Alcance: ~30–100m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Freq: 908 MHz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Consumo: Baixo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Uso: Casas inteligentes, segurança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83040" y="2779776"/>
            <a:ext cx="2682240" cy="3169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204960" y="2840736"/>
            <a:ext cx="2438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433/915 MHz RF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04960" y="347472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Alcance: 500m–1km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Freq: 433 ou 915 MHz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Consumo: Baixo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Uso: Controles simples, sensores baratos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📻 LoRa com Arduino — Módulo SX1278 / Ra-02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🛠️ Módulo LoRa Ra-02 (SX1278)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Especificações: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Frequência: 433 MHz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Potência TX: até 20 dBm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Sensibilidade: -148 dBm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Interface: SPI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Alcance: até 10 km (campo aberto)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Spread Factor: SF7–SF12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Conexão Arduino Uno: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NSS → D10 (SS)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MOSI → D11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MISO → D12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SCK → D13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RESET → D9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• DIO0 → D2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9C"/>
                </a:solidFill>
              </a:rPr>
              <a:t>💻 Transmissor LoRa Arduino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&lt;SPI.h&gt;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&lt;LoRa.h&gt;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 = 0;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LoRa.begin(433E6); // 433 MHz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float temp = analogRead(A0) * 0.48;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LoRa.beginPacket();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LoRa.print("Temp:");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LoRa.print(temp);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LoRa.print(" ID:");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LoRa.print(count++);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LoRa.endPacket();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delay(5000); // envia a cada 5s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📻 Zigbee e Z-Wave — Rádio para Automação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🐝 Zigbee (IEEE 802.15.4)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Padrão aberto, interoperável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Topologia mesh (rede em malha)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Até 65.000 nós por rede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Taxa: 250 kbps @ 2,4 GHz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Perfis: ZHA (iluminação), ZHA+, 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Suporte: Philips Hue, Samsung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Módulos Arduino: XBee Series 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🔧 Casos de uso: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Controle de iluminação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Sensores de presença/temperatura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Medidores de energia inteligentes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Monitoramento hospitalar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FA2"/>
                </a:solidFill>
              </a:rPr>
              <a:t>🌊 Z-Wave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Padrão proprietário (Silicon Labs)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Opera em 908 MHz (menos interferência)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Alcance: 30m indoor / 100m outdoor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Taxa: 9,6–100 kbps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Criptografia AES-128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Topologia mesh com até 232 nós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🔒 Foco em Segurança: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S2 Security Framework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QR code para pareamento seguro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Certificação obrigatória de dispositivos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🔧 Casos de uso: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Fechaduras inteligentes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Alarmes e câmeras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Termostatos inteligentes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9600" cy="6864096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632960"/>
            <a:ext cx="12192000" cy="2231136"/>
          </a:xfrm>
          <a:prstGeom prst="rect">
            <a:avLst/>
          </a:prstGeom>
          <a:solidFill>
            <a:srgbClr val="0A3880"/>
          </a:solidFill>
          <a:ln w="12700">
            <a:solidFill>
              <a:srgbClr val="0A38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19200" y="1219200"/>
            <a:ext cx="975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🏷️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19200" y="268224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RFID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19200" y="37795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CAF9"/>
                </a:solidFill>
              </a:rPr>
              <a:t>Identificação por Radiofrequência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🏷️ O que é RFID?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109728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1097280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97A7"/>
                </a:solidFill>
              </a:rPr>
              <a:t>RFID (Radio-Frequency Identification) é uma tecnologia de identificação automática que usa ondas de rádio para ler e capturar informações armazenadas em uma tag (etiqueta eletrônica), sem necessidade de contato físico ou linha de visão direta entre a tag e o leitor.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7680" y="2865120"/>
            <a:ext cx="3596640" cy="3108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09600" y="29260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🏷️ Tag RFID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535680"/>
            <a:ext cx="33528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7A7"/>
                </a:solidFill>
              </a:rPr>
              <a:t>Transponder com chip e antena. Pode ser passiva (sem bateria) ou ativa (com bateria). Armazena um ID único (UID) e opcionalmente dados adicionais.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8160" y="2865120"/>
            <a:ext cx="3596640" cy="31089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450080" y="29260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📡 Leitor RFID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0080" y="3535680"/>
            <a:ext cx="33528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Emite ondas de rádio e recebe resposta da tag. Decodifica os dados e os envia ao sistema. Pode ser fixo ou portátil.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68640" y="2865120"/>
            <a:ext cx="3596640" cy="3108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90560" y="29260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💻 Software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0560" y="3535680"/>
            <a:ext cx="33528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Sistema de gestão que processa os dados do leitor. Integra com banco de dados, ERP, plataforma IoT.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🏷️ Tipos de RFID — Frequências e Aplicações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7680" y="1584960"/>
            <a:ext cx="11216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Classificação por Frequência de Operação: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7680" y="2194560"/>
            <a:ext cx="1121664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29260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LF — Baixa Frequência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96640" y="2255520"/>
            <a:ext cx="1950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125–134 kHz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08320" y="2255520"/>
            <a:ext cx="1828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&lt; 10 cm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255520"/>
            <a:ext cx="40233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Controle de acesso, identificação animal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7680" y="3194304"/>
            <a:ext cx="11216640" cy="91440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09600" y="3255264"/>
            <a:ext cx="29260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</a:rPr>
              <a:t>HF — Alta Frequência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96640" y="3255264"/>
            <a:ext cx="1950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13,56 MHz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08320" y="3255264"/>
            <a:ext cx="1828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10 cm – 1 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3255264"/>
            <a:ext cx="40233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Cartões NFC, pagamento, biblioteca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680" y="4194048"/>
            <a:ext cx="1121664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9600" y="4255008"/>
            <a:ext cx="29260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UHF — Ultra Alta Freq.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96640" y="4255008"/>
            <a:ext cx="1950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860–960 MHz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08320" y="4255008"/>
            <a:ext cx="1828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1 – 12 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4255008"/>
            <a:ext cx="40233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Logística, controle de estoque, passaportes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680" y="5193792"/>
            <a:ext cx="1121664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09600" y="5254752"/>
            <a:ext cx="29260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</a:rPr>
              <a:t>Microondas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6640" y="5254752"/>
            <a:ext cx="1950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2,4 GHz / 5,8 GHz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08320" y="5254752"/>
            <a:ext cx="1828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&lt; 1 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5254752"/>
            <a:ext cx="40233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Pedágio eletrônico, controle de veículos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🏷️ RFID com Arduino — Módulo MFRC522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📦 Módulo MFRC522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Especificações: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Frequência: 13,56 MHz (HF)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Interface: SPI (até 10 Mbps)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Tensão: 3,3V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Distância: até 5 cm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Suporte: Mifare Classic 1K/4K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Inclui tag cartão + chaveiro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Conexão com Arduino Uno: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SDA → D10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SCK → D13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MOSI → D11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MISO → D12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RST → D9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GND → GND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• 3.3V → 3.3V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9C"/>
                </a:solidFill>
              </a:rPr>
              <a:t>💻 Leitor RFID — Controle de Acesso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&lt;SPI.h&gt;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&lt;MFRC522.h&gt;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SS_PIN 10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RST_PIN 9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MFRC522 rfid(SS_PIN, RST_PIN);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autorizado = "A1B2C3D4";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SPI.begin();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rfid.PCD_Init();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pinMode(13, OUTPUT); // LED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(!rfid.PICC_IsNewCardPresent()) return;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(!rfid.PICC_ReadCardSerial()) return;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uid = "";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for (byte i=0; i&lt;rfid.uid.size; i++)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uid += String(rfid.uid.uidByte[i],HEX);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if(uid == autorizado)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digitalWrite(13, HIGH); // acesso ok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🏷️ NFC — Near Field Communication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FA2"/>
                </a:solidFill>
              </a:rPr>
              <a:t>📱 O que é NFC?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NFC é uma extensão do padrão RFID HF (13,56 MHz) de alcance ultra-curto (&lt; 4 cm). Permite comunicação bidirecional entre dispositivos em modo: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Leitor/Gravador: lê tags NFC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Emulação de cartão: age como cartão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Peer-to-peer: dois dispositivos trocam dados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Aplicações: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Pagamento contactless (Apple Pay, PicPay)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Passaportes e documentos eletrônicos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Etiquetas inteligentes (smart tags)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Compartilhamento de dados (tap-to-share)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Check-in em eventos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🏭 RFID vs NFC — Diferenças Chave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6000" y="2255520"/>
            <a:ext cx="1767840" cy="487680"/>
          </a:xfrm>
          <a:prstGeom prst="rect">
            <a:avLst/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56960" y="2304288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Característica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2255520"/>
            <a:ext cx="1402080" cy="487680"/>
          </a:xfrm>
          <a:prstGeom prst="rect">
            <a:avLst/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107680" y="2304288"/>
            <a:ext cx="13167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RFID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31680" y="2255520"/>
            <a:ext cx="1767840" cy="487680"/>
          </a:xfrm>
          <a:prstGeom prst="rect">
            <a:avLst/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692640" y="2304288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NFC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96000" y="2816352"/>
            <a:ext cx="17678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156960" y="2865120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Alcance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0" y="2816352"/>
            <a:ext cx="14020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107680" y="2865120"/>
            <a:ext cx="13167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cm a metros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31680" y="2816352"/>
            <a:ext cx="17678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692640" y="2865120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&lt; 4 cm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96000" y="3377184"/>
            <a:ext cx="176784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156960" y="3425952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Comunicação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3377184"/>
            <a:ext cx="140208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8107680" y="3425952"/>
            <a:ext cx="13167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1 direção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631680" y="3377184"/>
            <a:ext cx="176784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692640" y="3425952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2 direções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6000" y="3938016"/>
            <a:ext cx="17678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156960" y="3986784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Frequências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3938016"/>
            <a:ext cx="14020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107680" y="3986784"/>
            <a:ext cx="13167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LF, HF, UHF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31680" y="3938016"/>
            <a:ext cx="17678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692640" y="3986784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Apenas HF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96000" y="4498848"/>
            <a:ext cx="176784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156960" y="4547616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Dispositivos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46720" y="4498848"/>
            <a:ext cx="140208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8107680" y="4547616"/>
            <a:ext cx="13167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Tags simples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31680" y="4498848"/>
            <a:ext cx="176784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9692640" y="4547616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Tags + celulares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96000" y="5059680"/>
            <a:ext cx="17678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156960" y="5108448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Leitura multi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46720" y="5059680"/>
            <a:ext cx="14020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107680" y="5108448"/>
            <a:ext cx="13167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Sim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31680" y="5059680"/>
            <a:ext cx="17678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9692640" y="5108448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Apenas 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96000" y="5620512"/>
            <a:ext cx="176784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156960" y="5669280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Uso típico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46720" y="5620512"/>
            <a:ext cx="140208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8107680" y="5669280"/>
            <a:ext cx="13167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Logística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631680" y="5620512"/>
            <a:ext cx="1767840" cy="4876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9692640" y="5669280"/>
            <a:ext cx="168249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Pagamento/acesso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9600" cy="6864096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632960"/>
            <a:ext cx="12192000" cy="2231136"/>
          </a:xfrm>
          <a:prstGeom prst="rect">
            <a:avLst/>
          </a:prstGeom>
          <a:solidFill>
            <a:srgbClr val="0A3880"/>
          </a:solidFill>
          <a:ln w="12700">
            <a:solidFill>
              <a:srgbClr val="0A38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19200" y="1219200"/>
            <a:ext cx="975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🌐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19200" y="268224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Internet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19200" y="37795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CAF9"/>
                </a:solidFill>
              </a:rPr>
              <a:t>A espinha dorsal do IoT moderno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🌐 Internet e IoT — A Base da Conectividade Global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10363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10972800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47A1"/>
                </a:solidFill>
              </a:rPr>
              <a:t>A Internet é o protocolo que une todas as tecnologias de IoT. Dispositivos conectados por Bluetooth, Wi-Fi, RFID ou LoRa eventualmente se comunicam com servidores, nuvens e outros sistemas através da Internet, usando os protocolos TCP/IP como base universal de comunicação.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7680" y="2779776"/>
            <a:ext cx="1121664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09600" y="2828544"/>
            <a:ext cx="3901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🌐 Camada de Aplicação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828544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HTTP, HTTPS, MQTT, CoAP, WebSocket, DNS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7680" y="3462528"/>
            <a:ext cx="1121664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09600" y="3511296"/>
            <a:ext cx="3901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🔄 Camada de Transporte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511296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TCP (confiável) / UDP (rápido, sem garantia)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7680" y="4145280"/>
            <a:ext cx="11216640" cy="60960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09600" y="4194048"/>
            <a:ext cx="3901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</a:rPr>
              <a:t>📦 Camada de Rede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194048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IPv4, IPv6 — endereçamento e roteamento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680" y="4828032"/>
            <a:ext cx="11216640" cy="6096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9600" y="4876800"/>
            <a:ext cx="3901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📡 Camada de Enlace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876800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97A7"/>
                </a:solidFill>
              </a:rPr>
              <a:t>Ethernet, Wi-Fi, 4G/5G, LoRa, Bluetooth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7680" y="5510784"/>
            <a:ext cx="11216640" cy="6096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09600" y="5559552"/>
            <a:ext cx="3901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⚡ Camada Física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5559552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Cabos, fibra óptica, ondas de rádio, sinais elétricos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🌐 Ethernet com Arduino — Shield W5100/W5500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📦 Arduino Ethernet Shield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Modelos disponíveis: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W5100: Ethernet Shield v1 (4 sockets)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W5500: Ethernet Shield v2 (8 sockets)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ENC28J60: Versão mais barata, SPI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Características: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Velocidade: 10/100 Mbps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Suporta TCP, UDP, ICMP, IPv4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Possui slot para cartão microSD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Biblioteca: Ethernet.h (nativa)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Uso ideal: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Monitoramento industrial com cabo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Servidores web locais no Arduino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Comunicação com banco de dados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Integração com sistemas SCADA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9C"/>
                </a:solidFill>
              </a:rPr>
              <a:t>💻 Servidor Web no Arduino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&lt;SPI.h&gt;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&lt;Ethernet.h&gt;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mac[] = {0xDE,0xAD,0xBE,0xEF,0xFE,0xED};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IPAddress ip(192, 168, 1, 177);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EthernetServer server(80);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Ethernet.begin(mac, ip);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server.begin();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EthernetClient client = server.available();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(client)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int sensor = analogRead(A0);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client.println("HTTP/1.1 200 OK");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client.println("Content-Type: text/html");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client.println();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client.print("&lt;h1&gt;Sensor: 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client.print(sensor);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client.println("&lt;/h1&gt;");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client.stop();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🌐 GSM/4G/5G com Arduino — Conectividade Celular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📱 Módulos de Rede Celular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SIM800L (GSM/GPRS)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2G, voz + dados GPRS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Muito barato (~R$30)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Comandos AT via Serial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Ideal para SMS e HTTP simples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SIM7600 (4G LTE)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4G LTE + 3G + 2G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Suporte a GNSS integrado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TCP/IP, HTTP, FTP nativos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Adequado para streaming de dados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A7672S (NB-IoT / LTE-M)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Otimizado para IoT de baixo consumo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Bateria dura anos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• Ideal para smart metering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9C"/>
                </a:solidFill>
              </a:rPr>
              <a:t>💻 SIM800L — Envio de SMS de Alerta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&lt;SoftwareSerial.h&gt;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SoftwareSerial gsm(7, 8); // RX,TX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gsm.begin(9600);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delay(1000);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sendSMS(String msg){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gsm.println("AT+CMGF=1"); // modo texto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delay(500);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gsm.println("AT+CMGS=\"+5511999999999\"");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delay(500);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gsm.print(msg);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gsm.write(26); // Ctrl+Z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delay(3000);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int temp = analogRead(A0)*0.48;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(temp &gt; 80)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sendSMS("ALERTA: Temp alta: 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+ String(temp) + "C");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delay(60000); // 1 minuto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🌐 Plataformas Cloud para IoT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6720" y="1584960"/>
            <a:ext cx="3596640" cy="2072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☁️ ThingSpeak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5552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Gratuita, integração com MATLAB. Ideal para começar projetos IoT com Arduino.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67200" y="1584960"/>
            <a:ext cx="3596640" cy="2072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389120" y="164592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🔥 Firebase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25552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Google. Banco de dados em tempo real. Ótimo para apps mobile + ESP32.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7680" y="1584960"/>
            <a:ext cx="3596640" cy="2072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0" y="164592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🟩 AWS IoT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25552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Amazon Web Services. Escala industrial. MQTT, shadows de dispositivos.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6720" y="3840480"/>
            <a:ext cx="3596640" cy="2072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9014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🔷 Azure IoT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51104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</a:rPr>
              <a:t>Microsoft. Hub IoT, Digital Twins, integração com Power BI.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67200" y="3840480"/>
            <a:ext cx="3596640" cy="207264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389120" y="39014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FA2"/>
                </a:solidFill>
              </a:rPr>
              <a:t>📊 Blynk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51104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Interface drag-and-drop. App mobile pronto. Ideal para prototipagem rápida.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07680" y="3840480"/>
            <a:ext cx="3596640" cy="207264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0" y="39014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🌊 Adafruit IO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451104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7A7"/>
                </a:solidFill>
              </a:rPr>
              <a:t>Plataforma simples, MQTT. Dashboards bonitos. Gratuita para uso básico.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🌐 MQTT — Protocolo Padrão de IoT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📡 Como o MQTT funciona?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MQTT usa modelo Publicar/Assinar: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1. Broker: servidor central (ex: Mosquitto)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2. Publisher: dispositivo que envia dados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3. Subscriber: quem recebe os dados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4. Topic: canal de comunicação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 xml:space="preserve">   Ex: /casa/sala/temperatura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QoS Levels: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QoS 0: Fire and forget (sem garantia)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QoS 1: Entrega pelo menos uma vez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• QoS 2: Exatamente uma vez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Portas: 1883 (sem TLS) / 8883 (TLS)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9C"/>
                </a:solidFill>
              </a:rPr>
              <a:t>💻 ESP32 — MQTT com PubSubClient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&lt;WiFi.h&gt;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&lt;PubSubClient.h&gt;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WiFiClient espClient;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PubSubClient client(espClient);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WiFi.begin("rede", "senha");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client.setServer("broker.mqtt.org",1883);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client.connect("ESP32_IoT");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float temp = analogRead(34)*0.08;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payload = String(temp);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client.publish(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"/iot/temperatura",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payload.c_str()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client.loop();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delay(5000);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🔒 Segurança nas Comunicações IoT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97536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1097280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⚠️ A segurança é um dos maiores desafios em IoT. Dispositivos com recursos limitados muitas vezes não suportam criptografia pesada, criando vulnerabilidades. É essencial adotar boas práticas desde o projeto.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720" y="2743200"/>
            <a:ext cx="3596640" cy="1731264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2804160"/>
            <a:ext cx="335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</a:rPr>
              <a:t>🔐 Criptografia TLS/SSL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16224"/>
            <a:ext cx="335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Use HTTPS e MQTT com TLS. ESP32 suporta certificados x509 nativamente.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67200" y="2743200"/>
            <a:ext cx="3596640" cy="1731264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389120" y="2804160"/>
            <a:ext cx="335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🔑 Autenticação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316224"/>
            <a:ext cx="335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Nunca use senhas padrão. Use tokens JWT ou certificados de dispositivo.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2743200"/>
            <a:ext cx="3596640" cy="1731264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29600" y="2804160"/>
            <a:ext cx="335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</a:rPr>
              <a:t>🔄 Atualizações OTA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3316224"/>
            <a:ext cx="335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Over-the-Air updates permitem corrigir vulnerabilidades remotamente.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720" y="4632960"/>
            <a:ext cx="3596640" cy="1731264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48640" y="4693920"/>
            <a:ext cx="335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</a:rPr>
              <a:t>🛡️ Firewall / VPN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205984"/>
            <a:ext cx="335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</a:rPr>
              <a:t>Separe a rede IoT da rede principal. Use VLAN e filtros de MAC.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67200" y="4632960"/>
            <a:ext cx="3596640" cy="1731264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389120" y="4693920"/>
            <a:ext cx="335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📝 Logs e Monitoramento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5205984"/>
            <a:ext cx="335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</a:rPr>
              <a:t>Registre eventos, alertas de intrusão e anomalias no tráfego de dados.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4632960"/>
            <a:ext cx="3596640" cy="1731264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229600" y="4693920"/>
            <a:ext cx="335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🏷️ RFID Seguro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5205984"/>
            <a:ext cx="335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</a:rPr>
              <a:t>Use RFID com criptografia AES (MIFARE DESFire). Evite tags sem proteção.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🔧 Projeto Prático: Estação Ambiental IoT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792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Objetivo: Construir uma estação de monitoramento ambiental com ESP32 enviando dados via Wi-Fi para ThingSpeak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7680" y="2560320"/>
            <a:ext cx="5486400" cy="341376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09600" y="262128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🛠️ Componentes Necessários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600" y="3169920"/>
            <a:ext cx="5242560" cy="2682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ESP32 (microcontrolador principal)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DHT22 (temperatura e umidade)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BMP280 (pressão atmosférica)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MQ-135 (qualidade do ar / CO2)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OLED 128x64 (display local)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Módulo RTC DS3231 (horário)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Cartão SD (registro local)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• Fonte 5V/2A ou bateria LiPo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5486400" cy="341376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39840" y="262128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📋 Funcionalidades do Projeto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39840" y="3169920"/>
            <a:ext cx="5242560" cy="2682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1. Lê temperatura, umidade e pressão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2. Exibe dados no display OLED local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3. Envia para ThingSpeak via MQTT/HTTP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4. Registra em cartão SD com timestamp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5. Alerta via e-mail se temp &gt; 40°C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6. Dashboard em tempo real na nuvem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7. App mobile via Blynk para visualização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8. Deep sleep entre medições (economia)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🔧 Projeto: Controle de Acesso RFID + Bluetooth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79248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Sistema de controle de acesso combinando RFID para identificação e Bluetooth para registro em app mobile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720" y="2560320"/>
            <a:ext cx="3596640" cy="1731264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609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1️⃣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2804160" cy="1560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97A7"/>
                </a:solidFill>
              </a:rPr>
              <a:t>Aproximar cartão RFID do leitor MFRC522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7200" y="2560320"/>
            <a:ext cx="3596640" cy="1731264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389120" y="2633472"/>
            <a:ext cx="609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2️⃣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633472"/>
            <a:ext cx="2804160" cy="1560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</a:rPr>
              <a:t>Arduino verifica UID na lista autorizada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7680" y="2560320"/>
            <a:ext cx="3596640" cy="1731264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29600" y="2633472"/>
            <a:ext cx="609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3️⃣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78240" y="2633472"/>
            <a:ext cx="2804160" cy="1560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Se autorizado: abre fechadura eletromagnética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720" y="4450080"/>
            <a:ext cx="3596640" cy="1731264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48640" y="4523232"/>
            <a:ext cx="609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4️⃣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4523232"/>
            <a:ext cx="2804160" cy="1560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</a:rPr>
              <a:t>Log enviado via Bluetooth HC-05 para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67200" y="4450080"/>
            <a:ext cx="3596640" cy="1731264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389120" y="4523232"/>
            <a:ext cx="609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5️⃣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4523232"/>
            <a:ext cx="2804160" cy="1560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App registra horário, UID e status do acesso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7680" y="4450080"/>
            <a:ext cx="3596640" cy="1731264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229600" y="4523232"/>
            <a:ext cx="609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6️⃣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78240" y="4523232"/>
            <a:ext cx="2804160" cy="1560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Alertas de tentativas não autorizadas por SMS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🔧 Projeto: Rastreador GPS com Envio por GSM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242560" cy="43891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459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</a:rPr>
              <a:t>🛠️ Componentes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499872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Arduino Nano ou ESP32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Módulo GPS NEO-6M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 xml:space="preserve">  - 50 canais, -161 dBm sens.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 xml:space="preserve">  - Interface UART 9600 baud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 xml:space="preserve">  - Saída NMEA 0183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Módulo GSM SIM800L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 xml:space="preserve">  - Envio de SMS com coordenadas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 xml:space="preserve">  - HTTP POST para servidor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Bateria Li-Ion 3,7V 2000mAh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Caixa IP65 (resistente a água)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• LED de status e buzzer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4080" y="1584960"/>
            <a:ext cx="5730240" cy="4389120"/>
          </a:xfrm>
          <a:prstGeom prst="rect">
            <a:avLst/>
          </a:prstGeom>
          <a:solidFill>
            <a:srgbClr val="1E1E1E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1645920"/>
            <a:ext cx="536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9C"/>
                </a:solidFill>
              </a:rPr>
              <a:t>💻 Leitura GPS e envio SMS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0" y="2255520"/>
            <a:ext cx="5364480" cy="353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&lt;TinyGPS++.h&gt;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&lt;SoftwareSerial.h&gt;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TinyGPSPlus gps;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SoftwareSerial gpsSerial(4,3);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SoftwareSerial gsmSerial(7,8);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while (gpsSerial.available())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gps.encode(gpsSerial.read());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(gps.location.isUpdated())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float lat = gps.location.lat();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float lng = gps.location.lng();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url = "maps.google.com/?q="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+ String(lat,6)+","+String(lng,6);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sendSMS("Posicao: " + url);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delay(30000);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🎯 Como Escolher a Tecnologia de Conectividade?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486400" cy="213360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70304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📏 Alcance necessário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218944"/>
            <a:ext cx="524256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&lt; 10m: Bluetooth / NFC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10m–100m: Wi-Fi / Zigbee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&gt; 1km: LoRa / GSM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</a:rPr>
              <a:t>Global: Satélite / 4G/5G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39840" y="1584960"/>
            <a:ext cx="5486400" cy="2133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61760" y="1670304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⚡ Consumo de energia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1760" y="2218944"/>
            <a:ext cx="524256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Bateria pequena: BLE / LoRa / NFC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Bateria grande: Wi-Fi / GSM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Sem bateria (tag passiva): RFID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Energia garantida: Satélite / Ethernet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7680" y="3840480"/>
            <a:ext cx="5486400" cy="21336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09600" y="3925824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💰 Custo do projeto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600" y="4474464"/>
            <a:ext cx="524256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Muito baixo: RFID / 433 MHz RF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Baixo: Bluetooth / Wi-Fi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Médio: LoRa / Zigbee / GSM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Alto: Satélite / 5G privado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39840" y="3840480"/>
            <a:ext cx="5486400" cy="213360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61760" y="3925824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</a:rPr>
              <a:t>🚀 Taxa de dados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1760" y="4474464"/>
            <a:ext cx="524256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Muito alta: Wi-Fi / Ethernet / 5G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Média: Bluetooth / GSM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Baixa: LoRa / Zigbee / RFID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1FA2"/>
                </a:solidFill>
              </a:rPr>
              <a:t>Mínima: NFC / 433 MHz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📜 Padrões e Certificações em Conectividade IoT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5486400" cy="950976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33728"/>
            <a:ext cx="1706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</a:rPr>
              <a:t>IEEE 802.11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633728"/>
            <a:ext cx="30480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Wi-Fi — padrão de redes sem fio locais (WLAN)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207264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</a:rPr>
              <a:t>Org: Wi-Fi Alliance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39840" y="1584960"/>
            <a:ext cx="5486400" cy="95097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61760" y="1633728"/>
            <a:ext cx="1706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</a:rPr>
              <a:t>IEEE 802.15.4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1633728"/>
            <a:ext cx="30480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Base para Zigbee, Z-Wave e Thread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61760" y="207264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</a:rPr>
              <a:t>Org: IEEE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7680" y="2621280"/>
            <a:ext cx="5486400" cy="950976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09600" y="2670048"/>
            <a:ext cx="1706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</a:rPr>
              <a:t>IEEE 802.15.1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670048"/>
            <a:ext cx="30480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Bluetooth — padrão da camada física e MAC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600" y="310896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</a:rPr>
              <a:t>Org: Bluetooth SIG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39840" y="2621280"/>
            <a:ext cx="5486400" cy="95097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61760" y="2670048"/>
            <a:ext cx="1706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</a:rPr>
              <a:t>ISO/IEC 18000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2670048"/>
            <a:ext cx="30480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Padrão internacional para RFID — todas as frequências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61760" y="310896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</a:rPr>
              <a:t>Org: ISO/IEC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7680" y="3657600"/>
            <a:ext cx="5486400" cy="950976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09600" y="3706368"/>
            <a:ext cx="1706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</a:rPr>
              <a:t>ITU-R M.2150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3706368"/>
            <a:ext cx="30480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IMT-2020 (5G) — especificações para 5G global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9600" y="414528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</a:rPr>
              <a:t>Org: ITU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39840" y="3657600"/>
            <a:ext cx="5486400" cy="95097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461760" y="3706368"/>
            <a:ext cx="1706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</a:rPr>
              <a:t>LoRaWAN Spec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3706368"/>
            <a:ext cx="30480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Especificação de camada MAC para redes LoRa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61760" y="414528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</a:rPr>
              <a:t>Org: LoRa Alliance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7680" y="4693920"/>
            <a:ext cx="5486400" cy="950976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09600" y="4742688"/>
            <a:ext cx="1706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</a:rPr>
              <a:t>ETSI EN 300 220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77440" y="4742688"/>
            <a:ext cx="30480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Equipamentos de curto alcance (SRD) — RF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9600" y="518160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</a:rPr>
              <a:t>Org: ETSI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39840" y="4693920"/>
            <a:ext cx="5486400" cy="950976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61760" y="4742688"/>
            <a:ext cx="1706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</a:rPr>
              <a:t>ANATEL (Brasil)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742688"/>
            <a:ext cx="30480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Homologação obrigatória para RF no Brasil (Res. 715)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61760" y="518160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</a:rPr>
              <a:t>Org: ANATEL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🚀 Tendências Futuras em Conectividade IoT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6720" y="1584960"/>
            <a:ext cx="3596640" cy="2072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</a:rPr>
              <a:t>5G + Network Slicing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1894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47A1"/>
                </a:solidFill>
              </a:rPr>
              <a:t>Redes dedicadas com latência &lt; 1ms e até 10 Gbps. Permitirá IoT industrial em tempo real, cirurgias remotas e veículos autônomos.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67200" y="1584960"/>
            <a:ext cx="3596640" cy="207264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389120" y="164592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</a:rPr>
              <a:t>Starlink IoT (LEO)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21894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1FA2"/>
                </a:solidFill>
              </a:rPr>
              <a:t>Constelação de satélites de baixa órbita com cobertura global e baixa latência (~20ms). Revoluionará IoT em áreas remotas.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07680" y="1584960"/>
            <a:ext cx="3596640" cy="2072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0" y="164592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Thread / Matter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21894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Protocolo unificado para casa inteligente. Apple, Google, Amazon e Samsung adotaram para garantir interoperabilidade.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6720" y="3840480"/>
            <a:ext cx="3596640" cy="207264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90144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</a:rPr>
              <a:t>Wi-Fi HaLow (802.11ah)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7446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97A7"/>
                </a:solidFill>
              </a:rPr>
              <a:t>Wi-Fi de longo alcance (1 km) e baixo consumo. Projetado especificamente para IoT de larga escala.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67200" y="3840480"/>
            <a:ext cx="3596640" cy="2072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389120" y="390144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UWB (Ultra-Wideband)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447446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5100"/>
                </a:solidFill>
              </a:rPr>
              <a:t>Localização em ambientes internos com precisão de centímetros. Presente no iPhone e rastreadores AirTag.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07680" y="3840480"/>
            <a:ext cx="3596640" cy="20726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0" y="3901440"/>
            <a:ext cx="335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AI na Borda (Edge AI)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474464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Processamento inteligente no próprio dispositivo IoT, sem enviar dados para a nuvem. Privacidade e velocidade.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8534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💡 Exercício Prático — Conectividade em IoT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303264"/>
            <a:ext cx="1219200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6303264"/>
            <a:ext cx="1146048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7680" y="1584960"/>
            <a:ext cx="11216640" cy="792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9600" y="162153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200"/>
                </a:solidFill>
              </a:rPr>
              <a:t>🎯 Proposta de Exercício: Projetar um sistema IoT completo escolhendo as tecnologias adequadas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720" y="2560320"/>
            <a:ext cx="3596640" cy="34137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2621280"/>
            <a:ext cx="335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</a:rPr>
              <a:t>📦 Cenário 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</a:rPr>
              <a:t>Estoque Industrial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35680"/>
            <a:ext cx="33528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Proposta: Controlar a entrada e saída de 10.000 itens/dia num armazém de 5.000m².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Qual tecnologia de identificação usar?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</a:rPr>
              <a:t>Como enviar dados ao ERP?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67200" y="2560320"/>
            <a:ext cx="3596640" cy="3413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389120" y="2621280"/>
            <a:ext cx="335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🌱 Cenário B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AgriCultura Remota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535680"/>
            <a:ext cx="33528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Proposta: Monitorar umidade do solo em 50 hectares de lavoura sem energia elétrica.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Qual protocolo RF usar?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Como alimentar os sensores?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2560320"/>
            <a:ext cx="3596640" cy="341376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29600" y="2621280"/>
            <a:ext cx="335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</a:rPr>
              <a:t>🏠 Cenário 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</a:rPr>
              <a:t>Casa Inteligente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3535680"/>
            <a:ext cx="33528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Proposta: Automatizar iluminação, fechaduras, câmeras e termostato de uma residência.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Qual protocolo usar?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1FA2"/>
                </a:solidFill>
              </a:rPr>
              <a:t>Como garantir segurança?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9600" cy="6864096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5242560"/>
            <a:ext cx="12192000" cy="1621536"/>
          </a:xfrm>
          <a:prstGeom prst="rect">
            <a:avLst/>
          </a:prstGeom>
          <a:solidFill>
            <a:srgbClr val="0A3880"/>
          </a:solidFill>
          <a:ln w="12700">
            <a:solidFill>
              <a:srgbClr val="0A38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5360" y="182880"/>
            <a:ext cx="10363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✅ Resumo da Aula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53440" y="1036320"/>
            <a:ext cx="3474720" cy="1767840"/>
          </a:xfrm>
          <a:prstGeom prst="rect">
            <a:avLst/>
          </a:prstGeom>
          <a:solidFill>
            <a:srgbClr val="1A3A7A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5360" y="1121664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🛰️ Satélite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5360" y="1670304"/>
            <a:ext cx="32308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Cobertura global, alta latência e custo. Uso em IoT remoto e rastreamento.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036320"/>
            <a:ext cx="3474720" cy="1767840"/>
          </a:xfrm>
          <a:prstGeom prst="rect">
            <a:avLst/>
          </a:prstGeom>
          <a:solidFill>
            <a:srgbClr val="1A3A7A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93920" y="1121664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🔵 Bluetooth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3920" y="1670304"/>
            <a:ext cx="32308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Curto alcance, baixo consumo (BLE). Wearables, sensores, controle local.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90560" y="1036320"/>
            <a:ext cx="3474720" cy="1767840"/>
          </a:xfrm>
          <a:prstGeom prst="rect">
            <a:avLst/>
          </a:prstGeom>
          <a:solidFill>
            <a:srgbClr val="1A3A7A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412480" y="1121664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📶 Wi-Fi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1670304"/>
            <a:ext cx="32308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Alta velocidade, infraestrutura existente. Casa inteligente, industrial.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3440" y="2987040"/>
            <a:ext cx="3474720" cy="1767840"/>
          </a:xfrm>
          <a:prstGeom prst="rect">
            <a:avLst/>
          </a:prstGeom>
          <a:solidFill>
            <a:srgbClr val="1A3A7A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75360" y="3072384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📻 Rádio (RF)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5360" y="3621024"/>
            <a:ext cx="32308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LoRa, Zigbee, Z-Wave: longo alcance e ultra baixo consumo. Agricultura.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987040"/>
            <a:ext cx="3474720" cy="1767840"/>
          </a:xfrm>
          <a:prstGeom prst="rect">
            <a:avLst/>
          </a:prstGeom>
          <a:solidFill>
            <a:srgbClr val="1A3A7A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693920" y="3072384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🏷️ RFID/NFC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93920" y="3621024"/>
            <a:ext cx="32308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Identificação automática sem contato. Controle de acesso, estoque, pagamento.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90560" y="2987040"/>
            <a:ext cx="3474720" cy="1767840"/>
          </a:xfrm>
          <a:prstGeom prst="rect">
            <a:avLst/>
          </a:prstGeom>
          <a:solidFill>
            <a:srgbClr val="1A3A7A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412480" y="3072384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Internet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3621024"/>
            <a:ext cx="32308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Base de toda IoT. TCP/IP, MQTT, HTTP. Cloud, dados, dashboards.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5303520"/>
            <a:ext cx="1097280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Internet das Coisas  |  Prof. Mizael Carlos  |  Unidade 5 — Conectividade de Hardware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5096</Words>
  <Application>Microsoft Office PowerPoint</Application>
  <PresentationFormat>Widescreen</PresentationFormat>
  <Paragraphs>883</Paragraphs>
  <Slides>39</Slides>
  <Notes>39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2" baseType="lpstr"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Mizael Carlos</cp:lastModifiedBy>
  <cp:revision>2</cp:revision>
  <dcterms:created xsi:type="dcterms:W3CDTF">2026-03-03T20:03:09Z</dcterms:created>
  <dcterms:modified xsi:type="dcterms:W3CDTF">2026-03-05T10:23:30Z</dcterms:modified>
</cp:coreProperties>
</file>